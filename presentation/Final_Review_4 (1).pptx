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6" r:id="rId1"/>
    <p:sldMasterId id="2147483660" r:id="rId2"/>
  </p:sldMasterIdLst>
  <p:notesMasterIdLst>
    <p:notesMasterId r:id="rId32"/>
  </p:notesMasterIdLst>
  <p:sldIdLst>
    <p:sldId id="261" r:id="rId3"/>
    <p:sldId id="329" r:id="rId4"/>
    <p:sldId id="358" r:id="rId5"/>
    <p:sldId id="368" r:id="rId6"/>
    <p:sldId id="331" r:id="rId7"/>
    <p:sldId id="332" r:id="rId8"/>
    <p:sldId id="334" r:id="rId9"/>
    <p:sldId id="375" r:id="rId10"/>
    <p:sldId id="335" r:id="rId11"/>
    <p:sldId id="360" r:id="rId12"/>
    <p:sldId id="376" r:id="rId13"/>
    <p:sldId id="369" r:id="rId14"/>
    <p:sldId id="336" r:id="rId15"/>
    <p:sldId id="337" r:id="rId16"/>
    <p:sldId id="361" r:id="rId17"/>
    <p:sldId id="377" r:id="rId18"/>
    <p:sldId id="378" r:id="rId19"/>
    <p:sldId id="379" r:id="rId20"/>
    <p:sldId id="367" r:id="rId21"/>
    <p:sldId id="355" r:id="rId22"/>
    <p:sldId id="372" r:id="rId23"/>
    <p:sldId id="371" r:id="rId24"/>
    <p:sldId id="373" r:id="rId25"/>
    <p:sldId id="350" r:id="rId26"/>
    <p:sldId id="374" r:id="rId27"/>
    <p:sldId id="346" r:id="rId28"/>
    <p:sldId id="347" r:id="rId29"/>
    <p:sldId id="348" r:id="rId30"/>
    <p:sldId id="36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377758-6722-E9EC-3D04-E43857FDD24B}" v="295" dt="2026-06-15T08:11:16.004"/>
    <p1510:client id="{A3B02281-9529-C8CB-850B-F5A820B24083}" v="232" dt="2026-06-16T21:31:19.961"/>
    <p1510:client id="{B0864903-1891-5F26-4892-5B0564638767}" v="232" dt="2026-06-15T07:18:41.0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82" d="100"/>
          <a:sy n="82" d="100"/>
        </p:scale>
        <p:origin x="49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684B3B-E091-4218-B734-7F09C964D9E9}" type="datetimeFigureOut">
              <a:rPr lang="en-IN" smtClean="0"/>
              <a:t>17-06-2026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A2D287-CFE8-45F7-B578-1940EAB6BD47}" type="slidenum">
              <a:rPr lang="en-IN" smtClean="0"/>
              <a:t>‹#›</a:t>
            </a:fld>
            <a:endParaRPr lang="en-IN"/>
          </a:p>
        </p:txBody>
      </p:sp>
    </p:spTree>
    <p:extLst>
      <p:ext uri="{BB962C8B-B14F-4D97-AF65-F5344CB8AC3E}">
        <p14:creationId xmlns:p14="http://schemas.microsoft.com/office/powerpoint/2010/main" val="1452116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D8E5E-745C-407D-B425-C78EBF08DF96}"/>
              </a:ext>
            </a:extLst>
          </p:cNvPr>
          <p:cNvSpPr>
            <a:spLocks noGrp="1"/>
          </p:cNvSpPr>
          <p:nvPr>
            <p:ph type="ctrTitle"/>
          </p:nvPr>
        </p:nvSpPr>
        <p:spPr>
          <a:xfrm>
            <a:off x="571501" y="822960"/>
            <a:ext cx="6057899" cy="5015169"/>
          </a:xfrm>
        </p:spPr>
        <p:txBody>
          <a:bodyPr anchor="t">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D07A4D5-56F4-4287-B174-56C55B18FD68}"/>
              </a:ext>
            </a:extLst>
          </p:cNvPr>
          <p:cNvSpPr>
            <a:spLocks noGrp="1"/>
          </p:cNvSpPr>
          <p:nvPr>
            <p:ph type="subTitle" idx="1"/>
          </p:nvPr>
        </p:nvSpPr>
        <p:spPr>
          <a:xfrm>
            <a:off x="8109113" y="3003642"/>
            <a:ext cx="3522199" cy="2900274"/>
          </a:xfrm>
        </p:spPr>
        <p:txBody>
          <a:bodyPr anchor="b">
            <a:normAutofit/>
          </a:bodyPr>
          <a:lstStyle>
            <a:lvl1pPr marL="0" indent="0" algn="l">
              <a:lnSpc>
                <a:spcPct val="130000"/>
              </a:lnSpc>
              <a:buNone/>
              <a:defRPr sz="1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AEB9C19-FEE0-4852-B181-14A0DD77F40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1127DDF-01B7-463C-82BC-BBF429618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2056A-C3EE-4809-B1F3-1CEEEA266F7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9" name="Straight Connector 8">
            <a:extLst>
              <a:ext uri="{FF2B5EF4-FFF2-40B4-BE49-F238E27FC236}">
                <a16:creationId xmlns:a16="http://schemas.microsoft.com/office/drawing/2014/main" id="{A240FCEE-B6E2-46D0-9BB0-F45F79545E9D}"/>
              </a:ext>
            </a:extLst>
          </p:cNvPr>
          <p:cNvCxnSpPr>
            <a:cxnSpLocks/>
          </p:cNvCxnSpPr>
          <p:nvPr/>
        </p:nvCxnSpPr>
        <p:spPr>
          <a:xfrm flipH="1">
            <a:off x="571501"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D2FB83-3783-4477-80B5-DA5BF10BAF57}"/>
              </a:ext>
            </a:extLst>
          </p:cNvPr>
          <p:cNvCxnSpPr>
            <a:cxnSpLocks/>
          </p:cNvCxnSpPr>
          <p:nvPr/>
        </p:nvCxnSpPr>
        <p:spPr>
          <a:xfrm>
            <a:off x="7742482"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83EA203-71D5-49C0-9626-FFA8E46787B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214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B2ED8-7F53-4C03-A740-493E5079849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5611087-99A9-4100-B5F7-520880DE322E}"/>
              </a:ext>
            </a:extLst>
          </p:cNvPr>
          <p:cNvSpPr>
            <a:spLocks noGrp="1"/>
          </p:cNvSpPr>
          <p:nvPr>
            <p:ph idx="1"/>
          </p:nvPr>
        </p:nvSpPr>
        <p:spPr>
          <a:xfrm>
            <a:off x="571499" y="2075688"/>
            <a:ext cx="11059811" cy="3910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7B4B20-1A65-4A26-B11E-6095083A164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B0D52D3-E985-4FEB-89B9-57C754711C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A751A-C72D-47C1-A7A6-E8510A40CE9A}"/>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1962609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81F78-07BF-45A9-92D4-E4E0A1E88D7A}"/>
              </a:ext>
            </a:extLst>
          </p:cNvPr>
          <p:cNvSpPr>
            <a:spLocks noGrp="1"/>
          </p:cNvSpPr>
          <p:nvPr>
            <p:ph type="title"/>
          </p:nvPr>
        </p:nvSpPr>
        <p:spPr>
          <a:xfrm>
            <a:off x="571500" y="914255"/>
            <a:ext cx="6867115" cy="5009471"/>
          </a:xfrm>
        </p:spPr>
        <p:txBody>
          <a:bodyPr anchor="b">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CC2A83-A380-4828-BC68-C065C8BC5AD5}"/>
              </a:ext>
            </a:extLst>
          </p:cNvPr>
          <p:cNvSpPr>
            <a:spLocks noGrp="1"/>
          </p:cNvSpPr>
          <p:nvPr>
            <p:ph type="body" idx="1"/>
          </p:nvPr>
        </p:nvSpPr>
        <p:spPr>
          <a:xfrm>
            <a:off x="9239817" y="914399"/>
            <a:ext cx="2370268" cy="2670273"/>
          </a:xfrm>
        </p:spPr>
        <p:txBody>
          <a:bodyPr anchor="t">
            <a:normAutofit/>
          </a:bodyPr>
          <a:lstStyle>
            <a:lvl1pPr marL="0" indent="0">
              <a:lnSpc>
                <a:spcPct val="130000"/>
              </a:lnSpc>
              <a:buNone/>
              <a:defRPr sz="14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F92B2F-8804-4195-A779-F5C67C25CBB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5099C26-4411-4833-A917-A45E62D56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68C7C7-F862-434D-A87A-DECE9FD2E1E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A40BAA4B-C4C0-40C1-8DC8-B4E2F8A68E12}"/>
              </a:ext>
            </a:extLst>
          </p:cNvPr>
          <p:cNvCxnSpPr>
            <a:cxnSpLocks/>
          </p:cNvCxnSpPr>
          <p:nvPr/>
        </p:nvCxnSpPr>
        <p:spPr>
          <a:xfrm>
            <a:off x="8872625"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0A2259-2540-4B32-A999-2B46A6790E3D}"/>
              </a:ext>
            </a:extLst>
          </p:cNvPr>
          <p:cNvCxnSpPr>
            <a:cxnSpLocks/>
          </p:cNvCxnSpPr>
          <p:nvPr/>
        </p:nvCxnSpPr>
        <p:spPr>
          <a:xfrm flipH="1">
            <a:off x="566094"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CEFB0ED-3F76-4403-AD0B-E738DD9D8CB6}"/>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6208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BD5F-CF53-4DD5-B8C5-27BBA2BB8860}"/>
              </a:ext>
            </a:extLst>
          </p:cNvPr>
          <p:cNvSpPr>
            <a:spLocks noGrp="1"/>
          </p:cNvSpPr>
          <p:nvPr>
            <p:ph type="title"/>
          </p:nvPr>
        </p:nvSpPr>
        <p:spPr>
          <a:xfrm>
            <a:off x="571500" y="709684"/>
            <a:ext cx="11049000" cy="1057160"/>
          </a:xfrm>
        </p:spPr>
        <p:txBody>
          <a:bodyPr anchor="ct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76C2E1-5D5E-409F-BEE8-F48CE86F55C9}"/>
              </a:ext>
            </a:extLst>
          </p:cNvPr>
          <p:cNvSpPr>
            <a:spLocks noGrp="1"/>
          </p:cNvSpPr>
          <p:nvPr>
            <p:ph sz="half" idx="1"/>
          </p:nvPr>
        </p:nvSpPr>
        <p:spPr>
          <a:xfrm>
            <a:off x="579447"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FBBF823-1BFB-4CF0-BAF4-D660C8F1AFC0}"/>
              </a:ext>
            </a:extLst>
          </p:cNvPr>
          <p:cNvSpPr>
            <a:spLocks noGrp="1"/>
          </p:cNvSpPr>
          <p:nvPr>
            <p:ph sz="half" idx="2"/>
          </p:nvPr>
        </p:nvSpPr>
        <p:spPr>
          <a:xfrm>
            <a:off x="6447082"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6FF816E-EE02-44A4-8B81-B324ECFD74D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F134D9E4-A693-44D2-A3E8-E3AABC905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4F669F-4B8E-415D-A9BF-AD451F452C6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720AF959-FCDC-4B92-9324-06A06C0D56F2}"/>
              </a:ext>
            </a:extLst>
          </p:cNvPr>
          <p:cNvCxnSpPr>
            <a:cxnSpLocks/>
          </p:cNvCxnSpPr>
          <p:nvPr/>
        </p:nvCxnSpPr>
        <p:spPr>
          <a:xfrm flipV="1">
            <a:off x="6101405" y="1883336"/>
            <a:ext cx="0" cy="43996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0007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F85E5-82C4-4BAE-B2B0-A078ABD6C69C}"/>
              </a:ext>
            </a:extLst>
          </p:cNvPr>
          <p:cNvSpPr>
            <a:spLocks noGrp="1"/>
          </p:cNvSpPr>
          <p:nvPr>
            <p:ph type="title"/>
          </p:nvPr>
        </p:nvSpPr>
        <p:spPr>
          <a:xfrm>
            <a:off x="583469" y="699118"/>
            <a:ext cx="11025062" cy="1063601"/>
          </a:xfrm>
        </p:spPr>
        <p:txBody>
          <a:bodyPr anchor="ct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12D15C7-F445-40F7-88F6-FD6526269CD7}"/>
              </a:ext>
            </a:extLst>
          </p:cNvPr>
          <p:cNvSpPr>
            <a:spLocks noGrp="1"/>
          </p:cNvSpPr>
          <p:nvPr>
            <p:ph type="body" idx="1"/>
          </p:nvPr>
        </p:nvSpPr>
        <p:spPr>
          <a:xfrm>
            <a:off x="583468" y="2022883"/>
            <a:ext cx="5230469" cy="564079"/>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652C35-AA8E-4154-8A78-7DE9590E1F38}"/>
              </a:ext>
            </a:extLst>
          </p:cNvPr>
          <p:cNvSpPr>
            <a:spLocks noGrp="1"/>
          </p:cNvSpPr>
          <p:nvPr>
            <p:ph sz="half" idx="2"/>
          </p:nvPr>
        </p:nvSpPr>
        <p:spPr>
          <a:xfrm>
            <a:off x="583469" y="2866031"/>
            <a:ext cx="5157787"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557EAC6-567C-4A4A-BB10-57EC14B97DDF}"/>
              </a:ext>
            </a:extLst>
          </p:cNvPr>
          <p:cNvSpPr>
            <a:spLocks noGrp="1"/>
          </p:cNvSpPr>
          <p:nvPr>
            <p:ph type="body" sz="quarter" idx="3"/>
          </p:nvPr>
        </p:nvSpPr>
        <p:spPr>
          <a:xfrm>
            <a:off x="6441470" y="2022883"/>
            <a:ext cx="5183188" cy="564080"/>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9A083F-AD60-4437-B32A-44035D78AF63}"/>
              </a:ext>
            </a:extLst>
          </p:cNvPr>
          <p:cNvSpPr>
            <a:spLocks noGrp="1"/>
          </p:cNvSpPr>
          <p:nvPr>
            <p:ph sz="quarter" idx="4"/>
          </p:nvPr>
        </p:nvSpPr>
        <p:spPr>
          <a:xfrm>
            <a:off x="6441470" y="2866031"/>
            <a:ext cx="5183188"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DBF86F-3266-4551-B680-06F401FFE665}"/>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755B38FE-80F9-4582-B2E1-B067C288DE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7BEF32-F637-47A1-9ED3-AFC4F79F373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E0C508D4-7C99-4B8D-BCDE-F0001BD345D9}"/>
              </a:ext>
            </a:extLst>
          </p:cNvPr>
          <p:cNvCxnSpPr>
            <a:cxnSpLocks/>
          </p:cNvCxnSpPr>
          <p:nvPr/>
        </p:nvCxnSpPr>
        <p:spPr>
          <a:xfrm flipV="1">
            <a:off x="6101405" y="1883336"/>
            <a:ext cx="0" cy="43996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49BF61B-7951-48F4-982B-9401A483FFBF}"/>
              </a:ext>
            </a:extLst>
          </p:cNvPr>
          <p:cNvCxnSpPr>
            <a:cxnSpLocks/>
          </p:cNvCxnSpPr>
          <p:nvPr/>
        </p:nvCxnSpPr>
        <p:spPr>
          <a:xfrm flipH="1">
            <a:off x="577485" y="273859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2563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94CB-6BE5-4B9E-B0A6-54F83B201A64}"/>
              </a:ext>
            </a:extLst>
          </p:cNvPr>
          <p:cNvSpPr>
            <a:spLocks noGrp="1"/>
          </p:cNvSpPr>
          <p:nvPr>
            <p:ph type="title"/>
          </p:nvPr>
        </p:nvSpPr>
        <p:spPr>
          <a:xfrm>
            <a:off x="571500" y="717452"/>
            <a:ext cx="11049000" cy="1161836"/>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75E8643C-1A5D-4F23-B0D7-5B46F5E456B4}"/>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0C1A3394-78CC-43B0-9762-5E826F8BBF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347F0A-1980-4E13-AB22-AE3B8AA4405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4E9D858B-8A9C-4235-B151-81C99A3D20D2}"/>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6C7798B-3ECB-4076-8955-A82116BB0D2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6883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C61D85-3E72-406F-AB26-B4ED94918442}"/>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99C831E-4321-467E-9090-C89C48CF2F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8A9556-B3D8-4403-835F-11AE2D4098E9}"/>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3579863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0AA48-D521-423D-B185-6490EF57B935}"/>
              </a:ext>
            </a:extLst>
          </p:cNvPr>
          <p:cNvSpPr>
            <a:spLocks noGrp="1"/>
          </p:cNvSpPr>
          <p:nvPr>
            <p:ph type="title"/>
          </p:nvPr>
        </p:nvSpPr>
        <p:spPr>
          <a:xfrm>
            <a:off x="572201" y="810344"/>
            <a:ext cx="3478084" cy="1408062"/>
          </a:xfrm>
        </p:spPr>
        <p:txBody>
          <a:bodyPr anchor="t"/>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B64E6DD-DDD2-4ED6-B8A9-A8B6D7656549}"/>
              </a:ext>
            </a:extLst>
          </p:cNvPr>
          <p:cNvSpPr>
            <a:spLocks noGrp="1"/>
          </p:cNvSpPr>
          <p:nvPr>
            <p:ph idx="1"/>
          </p:nvPr>
        </p:nvSpPr>
        <p:spPr>
          <a:xfrm>
            <a:off x="4919809" y="931232"/>
            <a:ext cx="6700679" cy="50793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A3F08F5E-AD33-4ACF-84C9-78B0FF6BE3AC}"/>
              </a:ext>
            </a:extLst>
          </p:cNvPr>
          <p:cNvSpPr>
            <a:spLocks noGrp="1"/>
          </p:cNvSpPr>
          <p:nvPr>
            <p:ph type="body" sz="half" idx="2"/>
          </p:nvPr>
        </p:nvSpPr>
        <p:spPr>
          <a:xfrm>
            <a:off x="571500" y="2578608"/>
            <a:ext cx="3478783" cy="34172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D7604E-7DD4-4497-B325-74F899E8ACC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F02BEED-A8F6-4256-9539-4434694AA1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EA1AA6-EE0B-48FD-A7DE-6CEE6A8C7DE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B3F35B32-9A23-4805-94A6-96826D202139}"/>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62BA7DA-3944-40D4-91CD-40CA24DBB79B}"/>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BEA0B78-39E7-4039-B8BE-4F425688C6DF}"/>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D68B99C-0744-42EE-9713-AB0CEC3F5D8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6456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12732-5D39-4B30-A499-D51BABC882EF}"/>
              </a:ext>
            </a:extLst>
          </p:cNvPr>
          <p:cNvSpPr>
            <a:spLocks noGrp="1"/>
          </p:cNvSpPr>
          <p:nvPr>
            <p:ph type="title"/>
          </p:nvPr>
        </p:nvSpPr>
        <p:spPr>
          <a:xfrm>
            <a:off x="571499" y="802204"/>
            <a:ext cx="3478787" cy="1408062"/>
          </a:xfrm>
        </p:spPr>
        <p:txBody>
          <a:bodyPr anchor="t"/>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23AF5AEC-77BC-4A52-8A56-C6479CA6A29D}"/>
              </a:ext>
            </a:extLst>
          </p:cNvPr>
          <p:cNvSpPr>
            <a:spLocks noGrp="1"/>
          </p:cNvSpPr>
          <p:nvPr>
            <p:ph type="pic" idx="1"/>
          </p:nvPr>
        </p:nvSpPr>
        <p:spPr>
          <a:xfrm>
            <a:off x="4723467" y="847384"/>
            <a:ext cx="6907844" cy="52168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60A9240-8762-4C7D-AF22-A844CB2EC871}"/>
              </a:ext>
            </a:extLst>
          </p:cNvPr>
          <p:cNvSpPr>
            <a:spLocks noGrp="1"/>
          </p:cNvSpPr>
          <p:nvPr>
            <p:ph type="body" sz="half" idx="2"/>
          </p:nvPr>
        </p:nvSpPr>
        <p:spPr>
          <a:xfrm>
            <a:off x="571498" y="2574906"/>
            <a:ext cx="3478787" cy="343571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95685-E45D-4E74-8B78-D3B8E85C434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21FCBA3-0FF5-47C2-901A-645F6185D2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030381-5320-46AD-A0B9-7C04B3E5A202}"/>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5357A432-D933-402A-8657-216EE20450EE}"/>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B1E0F3-D71B-436F-A10B-B6EA7125F684}"/>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DEE64F5-2B48-4A2E-BA5E-1D37F1A7C9A3}"/>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99BF9AA-A2C8-4233-B597-EB11C6D6A0E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7363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99A0A-70FC-426A-8B3B-60FAF9806EB0}"/>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EF47EC6-9753-4ABC-BB66-64CCC8BA0808}"/>
              </a:ext>
            </a:extLst>
          </p:cNvPr>
          <p:cNvSpPr>
            <a:spLocks noGrp="1"/>
          </p:cNvSpPr>
          <p:nvPr>
            <p:ph type="body" orient="vert" idx="1"/>
          </p:nvPr>
        </p:nvSpPr>
        <p:spPr>
          <a:xfrm>
            <a:off x="571499" y="2036363"/>
            <a:ext cx="11059811" cy="38707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8884D9F-DC99-4B4C-98CF-178BBBB7664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A7A6840-AC0B-4260-8368-08E0A22D22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A5DAB8-EC07-4CCF-96EA-5D8ACDAE6E4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0438F1AC-9961-4786-A189-20863DD97F68}"/>
              </a:ext>
            </a:extLst>
          </p:cNvPr>
          <p:cNvCxnSpPr>
            <a:cxnSpLocks/>
          </p:cNvCxnSpPr>
          <p:nvPr/>
        </p:nvCxnSpPr>
        <p:spPr>
          <a:xfrm flipH="1">
            <a:off x="571500" y="1780979"/>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0290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75F678-EC03-4845-A51B-C90FA6A15491}"/>
              </a:ext>
            </a:extLst>
          </p:cNvPr>
          <p:cNvSpPr>
            <a:spLocks noGrp="1"/>
          </p:cNvSpPr>
          <p:nvPr>
            <p:ph type="title" orient="vert"/>
          </p:nvPr>
        </p:nvSpPr>
        <p:spPr>
          <a:xfrm>
            <a:off x="9177953" y="797251"/>
            <a:ext cx="2483929" cy="528378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74A8B4D-A39F-4528-975A-9C84BEE778DF}"/>
              </a:ext>
            </a:extLst>
          </p:cNvPr>
          <p:cNvSpPr>
            <a:spLocks noGrp="1"/>
          </p:cNvSpPr>
          <p:nvPr>
            <p:ph type="body" orient="vert" idx="1"/>
          </p:nvPr>
        </p:nvSpPr>
        <p:spPr>
          <a:xfrm>
            <a:off x="566094" y="797251"/>
            <a:ext cx="8101072" cy="52837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15E4A23-6984-4AD1-A51D-600EDC26354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273E28-C341-49CC-BAAB-0C0D19821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6D54A-8E86-4026-8DD0-5B0979BB8C7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1CB05DA4-DF32-4D7A-9E4D-36309C90C5BB}"/>
              </a:ext>
            </a:extLst>
          </p:cNvPr>
          <p:cNvCxnSpPr>
            <a:cxnSpLocks/>
          </p:cNvCxnSpPr>
          <p:nvPr/>
        </p:nvCxnSpPr>
        <p:spPr>
          <a:xfrm flipH="1">
            <a:off x="566094" y="57711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7CC7262-4997-41E4-976D-BA82E148280F}"/>
              </a:ext>
            </a:extLst>
          </p:cNvPr>
          <p:cNvCxnSpPr>
            <a:cxnSpLocks/>
          </p:cNvCxnSpPr>
          <p:nvPr/>
        </p:nvCxnSpPr>
        <p:spPr>
          <a:xfrm flipV="1">
            <a:off x="8875226" y="571500"/>
            <a:ext cx="0" cy="5711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F5063B5-E478-4C41-AD40-49A39AE07429}"/>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9454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5175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CFECE9-D645-0540-9DA0-AEC7DA1A781C}"/>
              </a:ext>
            </a:extLst>
          </p:cNvPr>
          <p:cNvSpPr>
            <a:spLocks noGrp="1"/>
          </p:cNvSpPr>
          <p:nvPr>
            <p:ph idx="1"/>
          </p:nvPr>
        </p:nvSpPr>
        <p:spPr>
          <a:xfrm>
            <a:off x="571499" y="1137256"/>
            <a:ext cx="11209376" cy="4908082"/>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itle 1">
            <a:extLst>
              <a:ext uri="{FF2B5EF4-FFF2-40B4-BE49-F238E27FC236}">
                <a16:creationId xmlns:a16="http://schemas.microsoft.com/office/drawing/2014/main" id="{9FB4E98A-97D9-4526-9E90-BA541F5B53B0}"/>
              </a:ext>
            </a:extLst>
          </p:cNvPr>
          <p:cNvSpPr>
            <a:spLocks noGrp="1"/>
          </p:cNvSpPr>
          <p:nvPr>
            <p:ph type="title" hasCustomPrompt="1"/>
          </p:nvPr>
        </p:nvSpPr>
        <p:spPr>
          <a:xfrm>
            <a:off x="571499" y="348662"/>
            <a:ext cx="11209376" cy="464000"/>
          </a:xfrm>
        </p:spPr>
        <p:txBody>
          <a:bodyPr>
            <a:noAutofit/>
          </a:bodyPr>
          <a:lstStyle>
            <a:lvl1pPr>
              <a:defRPr sz="3200" b="0">
                <a:solidFill>
                  <a:srgbClr val="A4123F"/>
                </a:solidFill>
                <a:latin typeface="Georgia" panose="02040502050405020303" pitchFamily="18" charset="0"/>
              </a:defRPr>
            </a:lvl1pPr>
          </a:lstStyle>
          <a:p>
            <a:r>
              <a:rPr lang="en-US"/>
              <a:t>Click Here To Edit Title</a:t>
            </a:r>
            <a:endParaRPr lang="en-IN"/>
          </a:p>
        </p:txBody>
      </p:sp>
      <p:pic>
        <p:nvPicPr>
          <p:cNvPr id="8" name="Picture 7">
            <a:extLst>
              <a:ext uri="{FF2B5EF4-FFF2-40B4-BE49-F238E27FC236}">
                <a16:creationId xmlns:a16="http://schemas.microsoft.com/office/drawing/2014/main" id="{140DA784-0993-4F43-BA98-733CB6486E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489" y="6369932"/>
            <a:ext cx="12218977" cy="521007"/>
          </a:xfrm>
          <a:prstGeom prst="rect">
            <a:avLst/>
          </a:prstGeom>
        </p:spPr>
      </p:pic>
      <p:pic>
        <p:nvPicPr>
          <p:cNvPr id="6" name="Picture 5">
            <a:extLst>
              <a:ext uri="{FF2B5EF4-FFF2-40B4-BE49-F238E27FC236}">
                <a16:creationId xmlns:a16="http://schemas.microsoft.com/office/drawing/2014/main" id="{D5D41DD4-A5E8-4552-814D-0D80AF0F22E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26134" y="6490361"/>
            <a:ext cx="1781941" cy="314840"/>
          </a:xfrm>
          <a:prstGeom prst="rect">
            <a:avLst/>
          </a:prstGeom>
        </p:spPr>
      </p:pic>
    </p:spTree>
    <p:extLst>
      <p:ext uri="{BB962C8B-B14F-4D97-AF65-F5344CB8AC3E}">
        <p14:creationId xmlns:p14="http://schemas.microsoft.com/office/powerpoint/2010/main" val="3875291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33832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40DA784-0993-4F43-BA98-733CB6486E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353456"/>
            <a:ext cx="12218977" cy="521007"/>
          </a:xfrm>
          <a:prstGeom prst="rect">
            <a:avLst/>
          </a:prstGeom>
        </p:spPr>
      </p:pic>
      <p:sp>
        <p:nvSpPr>
          <p:cNvPr id="3" name="Content Placeholder 2">
            <a:extLst>
              <a:ext uri="{FF2B5EF4-FFF2-40B4-BE49-F238E27FC236}">
                <a16:creationId xmlns:a16="http://schemas.microsoft.com/office/drawing/2014/main" id="{0ECFECE9-D645-0540-9DA0-AEC7DA1A781C}"/>
              </a:ext>
            </a:extLst>
          </p:cNvPr>
          <p:cNvSpPr>
            <a:spLocks noGrp="1"/>
          </p:cNvSpPr>
          <p:nvPr>
            <p:ph idx="1"/>
          </p:nvPr>
        </p:nvSpPr>
        <p:spPr>
          <a:xfrm>
            <a:off x="571499" y="1137256"/>
            <a:ext cx="11209376" cy="4908082"/>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itle 1">
            <a:extLst>
              <a:ext uri="{FF2B5EF4-FFF2-40B4-BE49-F238E27FC236}">
                <a16:creationId xmlns:a16="http://schemas.microsoft.com/office/drawing/2014/main" id="{9FB4E98A-97D9-4526-9E90-BA541F5B53B0}"/>
              </a:ext>
            </a:extLst>
          </p:cNvPr>
          <p:cNvSpPr>
            <a:spLocks noGrp="1"/>
          </p:cNvSpPr>
          <p:nvPr>
            <p:ph type="title" hasCustomPrompt="1"/>
          </p:nvPr>
        </p:nvSpPr>
        <p:spPr>
          <a:xfrm>
            <a:off x="571499" y="348662"/>
            <a:ext cx="11209376" cy="464000"/>
          </a:xfrm>
        </p:spPr>
        <p:txBody>
          <a:bodyPr>
            <a:noAutofit/>
          </a:bodyPr>
          <a:lstStyle>
            <a:lvl1pPr>
              <a:defRPr sz="3200" b="0">
                <a:solidFill>
                  <a:srgbClr val="A4123F"/>
                </a:solidFill>
                <a:latin typeface="Georgia" panose="02040502050405020303" pitchFamily="18" charset="0"/>
              </a:defRPr>
            </a:lvl1pPr>
          </a:lstStyle>
          <a:p>
            <a:r>
              <a:rPr lang="en-US"/>
              <a:t>Click Here To Edit Title</a:t>
            </a:r>
            <a:endParaRPr lang="en-IN"/>
          </a:p>
        </p:txBody>
      </p:sp>
      <p:pic>
        <p:nvPicPr>
          <p:cNvPr id="6" name="Picture 5">
            <a:extLst>
              <a:ext uri="{FF2B5EF4-FFF2-40B4-BE49-F238E27FC236}">
                <a16:creationId xmlns:a16="http://schemas.microsoft.com/office/drawing/2014/main" id="{D5D41DD4-A5E8-4552-814D-0D80AF0F22E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26134" y="6490361"/>
            <a:ext cx="1781941" cy="314840"/>
          </a:xfrm>
          <a:prstGeom prst="rect">
            <a:avLst/>
          </a:prstGeom>
        </p:spPr>
      </p:pic>
      <p:sp>
        <p:nvSpPr>
          <p:cNvPr id="4" name="Slide Number Placeholder 6">
            <a:extLst>
              <a:ext uri="{FF2B5EF4-FFF2-40B4-BE49-F238E27FC236}">
                <a16:creationId xmlns:a16="http://schemas.microsoft.com/office/drawing/2014/main" id="{44B71D63-CC8F-7D5C-C54F-0439C001EC47}"/>
              </a:ext>
            </a:extLst>
          </p:cNvPr>
          <p:cNvSpPr>
            <a:spLocks noGrp="1"/>
          </p:cNvSpPr>
          <p:nvPr>
            <p:ph type="sldNum" sz="quarter" idx="12"/>
          </p:nvPr>
        </p:nvSpPr>
        <p:spPr>
          <a:xfrm>
            <a:off x="0" y="6525814"/>
            <a:ext cx="571499" cy="365125"/>
          </a:xfrm>
        </p:spPr>
        <p:txBody>
          <a:bodyPr/>
          <a:lstStyle>
            <a:lvl1pPr algn="l">
              <a:defRPr sz="1600" b="1">
                <a:solidFill>
                  <a:schemeClr val="bg1"/>
                </a:solidFill>
              </a:defRPr>
            </a:lvl1pPr>
          </a:lstStyle>
          <a:p>
            <a:fld id="{330EA680-D336-4FF7-8B7A-9848BB0A1C32}" type="slidenum">
              <a:rPr lang="en-US" smtClean="0"/>
              <a:pPr/>
              <a:t>‹#›</a:t>
            </a:fld>
            <a:endParaRPr lang="en-US"/>
          </a:p>
        </p:txBody>
      </p:sp>
      <p:sp>
        <p:nvSpPr>
          <p:cNvPr id="2" name="Slide Number Placeholder 6">
            <a:extLst>
              <a:ext uri="{FF2B5EF4-FFF2-40B4-BE49-F238E27FC236}">
                <a16:creationId xmlns:a16="http://schemas.microsoft.com/office/drawing/2014/main" id="{03E60720-4643-2A6C-4283-9BD3505F1DFE}"/>
              </a:ext>
            </a:extLst>
          </p:cNvPr>
          <p:cNvSpPr txBox="1">
            <a:spLocks/>
          </p:cNvSpPr>
          <p:nvPr userDrawn="1"/>
        </p:nvSpPr>
        <p:spPr>
          <a:xfrm>
            <a:off x="401263" y="6525813"/>
            <a:ext cx="1587335" cy="365125"/>
          </a:xfrm>
          <a:prstGeom prst="rect">
            <a:avLst/>
          </a:prstGeom>
        </p:spPr>
        <p:txBody>
          <a:bodyPr vert="horz" lIns="91440" tIns="45720" rIns="91440" bIns="45720" rtlCol="0" anchor="ctr"/>
          <a:lstStyle>
            <a:defPPr>
              <a:defRPr lang="en-US"/>
            </a:defPPr>
            <a:lvl1pPr marL="0" algn="l" defTabSz="914400" rtl="0" eaLnBrk="1" latinLnBrk="0" hangingPunct="1">
              <a:defRPr sz="16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226262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E1467D-9ED1-4211-A71E-41C91C755C9D}"/>
              </a:ext>
            </a:extLst>
          </p:cNvPr>
          <p:cNvSpPr>
            <a:spLocks noGrp="1"/>
          </p:cNvSpPr>
          <p:nvPr>
            <p:ph type="title"/>
          </p:nvPr>
        </p:nvSpPr>
        <p:spPr>
          <a:xfrm>
            <a:off x="571500" y="689289"/>
            <a:ext cx="11049000" cy="10841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F8A6A1-C9C7-4FDF-B4DA-1E86B6A355F8}"/>
              </a:ext>
            </a:extLst>
          </p:cNvPr>
          <p:cNvSpPr>
            <a:spLocks noGrp="1"/>
          </p:cNvSpPr>
          <p:nvPr>
            <p:ph type="body" idx="1"/>
          </p:nvPr>
        </p:nvSpPr>
        <p:spPr>
          <a:xfrm>
            <a:off x="571499" y="2075688"/>
            <a:ext cx="11059811" cy="38180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AACC44A-C635-4CD0-90E9-D9503AF4CCF2}"/>
              </a:ext>
            </a:extLst>
          </p:cNvPr>
          <p:cNvSpPr>
            <a:spLocks noGrp="1"/>
          </p:cNvSpPr>
          <p:nvPr>
            <p:ph type="dt" sz="half" idx="2"/>
          </p:nvPr>
        </p:nvSpPr>
        <p:spPr>
          <a:xfrm>
            <a:off x="8036732" y="6397103"/>
            <a:ext cx="3091928" cy="365125"/>
          </a:xfrm>
          <a:prstGeom prst="rect">
            <a:avLst/>
          </a:prstGeom>
        </p:spPr>
        <p:txBody>
          <a:bodyPr vert="horz" lIns="91440" tIns="45720" rIns="91440" bIns="45720" rtlCol="0" anchor="ctr"/>
          <a:lstStyle>
            <a:lvl1pPr algn="r">
              <a:defRPr sz="800" cap="all" spc="200" baseline="0">
                <a:solidFill>
                  <a:schemeClr val="tx1"/>
                </a:solidFill>
              </a:defRPr>
            </a:lvl1pPr>
          </a:lstStyle>
          <a:p>
            <a:endParaRPr lang="en-US"/>
          </a:p>
        </p:txBody>
      </p:sp>
      <p:sp>
        <p:nvSpPr>
          <p:cNvPr id="5" name="Footer Placeholder 4">
            <a:extLst>
              <a:ext uri="{FF2B5EF4-FFF2-40B4-BE49-F238E27FC236}">
                <a16:creationId xmlns:a16="http://schemas.microsoft.com/office/drawing/2014/main" id="{58ABF682-1A47-492C-81E3-9DB0A50ECB1F}"/>
              </a:ext>
            </a:extLst>
          </p:cNvPr>
          <p:cNvSpPr>
            <a:spLocks noGrp="1"/>
          </p:cNvSpPr>
          <p:nvPr>
            <p:ph type="ftr" sz="quarter" idx="3"/>
          </p:nvPr>
        </p:nvSpPr>
        <p:spPr>
          <a:xfrm>
            <a:off x="475782" y="6397103"/>
            <a:ext cx="4114800" cy="365125"/>
          </a:xfrm>
          <a:prstGeom prst="rect">
            <a:avLst/>
          </a:prstGeom>
        </p:spPr>
        <p:txBody>
          <a:bodyPr vert="horz" lIns="91440" tIns="45720" rIns="91440" bIns="45720" rtlCol="0" anchor="ctr"/>
          <a:lstStyle>
            <a:lvl1pPr algn="l">
              <a:defRPr sz="800" cap="all" spc="2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6CCC814B-9105-44ED-98A9-D326B2E2605C}"/>
              </a:ext>
            </a:extLst>
          </p:cNvPr>
          <p:cNvSpPr>
            <a:spLocks noGrp="1"/>
          </p:cNvSpPr>
          <p:nvPr>
            <p:ph type="sldNum" sz="quarter" idx="4"/>
          </p:nvPr>
        </p:nvSpPr>
        <p:spPr>
          <a:xfrm>
            <a:off x="11024553" y="6397103"/>
            <a:ext cx="700775" cy="365125"/>
          </a:xfrm>
          <a:prstGeom prst="rect">
            <a:avLst/>
          </a:prstGeom>
        </p:spPr>
        <p:txBody>
          <a:bodyPr vert="horz" lIns="91440" tIns="45720" rIns="91440" bIns="45720" rtlCol="0" anchor="ctr"/>
          <a:lstStyle>
            <a:lvl1pPr algn="r">
              <a:defRPr sz="800">
                <a:solidFill>
                  <a:schemeClr val="tx1"/>
                </a:solidFill>
              </a:defRPr>
            </a:lvl1pPr>
          </a:lstStyle>
          <a:p>
            <a:fld id="{5EEB83C2-341F-4C28-A243-1C56DDDA54D3}" type="slidenum">
              <a:rPr lang="en-US" smtClean="0"/>
              <a:t>‹#›</a:t>
            </a:fld>
            <a:endParaRPr lang="en-US"/>
          </a:p>
        </p:txBody>
      </p:sp>
      <p:cxnSp>
        <p:nvCxnSpPr>
          <p:cNvPr id="20" name="Straight Connector 19">
            <a:extLst>
              <a:ext uri="{FF2B5EF4-FFF2-40B4-BE49-F238E27FC236}">
                <a16:creationId xmlns:a16="http://schemas.microsoft.com/office/drawing/2014/main" id="{A6814345-41DE-42C5-8657-66C1417DF81A}"/>
              </a:ext>
            </a:extLst>
          </p:cNvPr>
          <p:cNvCxnSpPr>
            <a:cxnSpLocks/>
          </p:cNvCxnSpPr>
          <p:nvPr/>
        </p:nvCxnSpPr>
        <p:spPr>
          <a:xfrm flipH="1">
            <a:off x="566094" y="6286347"/>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E68E419-3727-4F5E-8840-AF149B33B0B7}"/>
              </a:ext>
            </a:extLst>
          </p:cNvPr>
          <p:cNvCxnSpPr>
            <a:cxnSpLocks/>
          </p:cNvCxnSpPr>
          <p:nvPr/>
        </p:nvCxnSpPr>
        <p:spPr>
          <a:xfrm flipH="1">
            <a:off x="577485" y="1883336"/>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19B6EC-D7AE-452F-8D0C-D11BD3377F3E}"/>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067970"/>
      </p:ext>
    </p:extLst>
  </p:cSld>
  <p:clrMap bg1="lt1" tx1="dk1" bg2="lt2" tx2="dk2" accent1="accent1" accent2="accent2" accent3="accent3" accent4="accent4" accent5="accent5" accent6="accent6" hlink="hlink" folHlink="folHlink"/>
  <p:sldLayoutIdLst>
    <p:sldLayoutId id="2147483687"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p:txStyles>
    <p:title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p:titleStyle>
    <p:bodyStyle>
      <a:lvl1pPr marL="228600" indent="-228600" algn="l" defTabSz="914400" rtl="0" eaLnBrk="1" latinLnBrk="0" hangingPunct="1">
        <a:lnSpc>
          <a:spcPct val="12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SzPct val="8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SzPct val="80000"/>
        <a:buFont typeface="Avenir Next LT Pro Light" panose="020B03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2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openxmlformats.org/officeDocument/2006/relationships/hyperlink" Target="https://www.frontiersin.org/journals/immunology/articles/10.3389/fimmu.2022.927041/full" TargetMode="External"/><Relationship Id="rId2" Type="http://schemas.openxmlformats.org/officeDocument/2006/relationships/hyperlink" Target="https://www.ncbi.nlm.nih.gov/pmc/articles/PMC8742913/" TargetMode="External"/><Relationship Id="rId1" Type="http://schemas.openxmlformats.org/officeDocument/2006/relationships/slideLayout" Target="../slideLayouts/slideLayout26.xml"/><Relationship Id="rId4" Type="http://schemas.openxmlformats.org/officeDocument/2006/relationships/hyperlink" Target="https://www.ncbi.nlm.nih.gov/pmc/articles/PMC6386764/"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DC7025E-4863-6F49-AD01-8A5B65B0890F}"/>
              </a:ext>
            </a:extLst>
          </p:cNvPr>
          <p:cNvSpPr/>
          <p:nvPr/>
        </p:nvSpPr>
        <p:spPr>
          <a:xfrm>
            <a:off x="0" y="0"/>
            <a:ext cx="12191999" cy="6858000"/>
          </a:xfrm>
          <a:prstGeom prst="rect">
            <a:avLst/>
          </a:prstGeom>
          <a:solidFill>
            <a:srgbClr val="B81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1350">
                <a:solidFill>
                  <a:prstClr val="white"/>
                </a:solidFill>
                <a:latin typeface="Calibri" panose="020F0502020204030204"/>
              </a:rPr>
              <a:t> </a:t>
            </a:r>
          </a:p>
        </p:txBody>
      </p:sp>
      <p:pic>
        <p:nvPicPr>
          <p:cNvPr id="7" name="Picture 6" descr="A picture containing drawing&#10;&#10;Description automatically generated">
            <a:extLst>
              <a:ext uri="{FF2B5EF4-FFF2-40B4-BE49-F238E27FC236}">
                <a16:creationId xmlns:a16="http://schemas.microsoft.com/office/drawing/2014/main" id="{80288CD4-7B52-C244-BAD4-BFF7D9DCE675}"/>
              </a:ext>
            </a:extLst>
          </p:cNvPr>
          <p:cNvPicPr>
            <a:picLocks noChangeAspect="1"/>
          </p:cNvPicPr>
          <p:nvPr/>
        </p:nvPicPr>
        <p:blipFill>
          <a:blip r:embed="rId2"/>
          <a:stretch>
            <a:fillRect/>
          </a:stretch>
        </p:blipFill>
        <p:spPr>
          <a:xfrm>
            <a:off x="1001154" y="2576466"/>
            <a:ext cx="3443174" cy="1104899"/>
          </a:xfrm>
          <a:prstGeom prst="rect">
            <a:avLst/>
          </a:prstGeom>
        </p:spPr>
      </p:pic>
      <p:cxnSp>
        <p:nvCxnSpPr>
          <p:cNvPr id="3" name="Straight Connector 2">
            <a:extLst>
              <a:ext uri="{FF2B5EF4-FFF2-40B4-BE49-F238E27FC236}">
                <a16:creationId xmlns:a16="http://schemas.microsoft.com/office/drawing/2014/main" id="{4BA58083-EF1A-427F-9030-DC289843A2BF}"/>
              </a:ext>
            </a:extLst>
          </p:cNvPr>
          <p:cNvCxnSpPr>
            <a:cxnSpLocks/>
          </p:cNvCxnSpPr>
          <p:nvPr/>
        </p:nvCxnSpPr>
        <p:spPr>
          <a:xfrm>
            <a:off x="4335124" y="2310508"/>
            <a:ext cx="0" cy="1636813"/>
          </a:xfrm>
          <a:prstGeom prst="line">
            <a:avLst/>
          </a:prstGeom>
          <a:ln>
            <a:solidFill>
              <a:srgbClr val="FFC000"/>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4FF19762-9449-7F8E-ED51-CE92E43F0E91}"/>
              </a:ext>
            </a:extLst>
          </p:cNvPr>
          <p:cNvSpPr txBox="1"/>
          <p:nvPr/>
        </p:nvSpPr>
        <p:spPr>
          <a:xfrm>
            <a:off x="5169869" y="912872"/>
            <a:ext cx="6118050" cy="4154984"/>
          </a:xfrm>
          <a:prstGeom prst="rect">
            <a:avLst/>
          </a:prstGeom>
          <a:noFill/>
        </p:spPr>
        <p:txBody>
          <a:bodyPr wrap="square" lIns="91440" tIns="45720" rIns="91440" bIns="45720" rtlCol="0" anchor="t">
            <a:spAutoFit/>
          </a:bodyPr>
          <a:lstStyle/>
          <a:p>
            <a:pPr algn="ctr" defTabSz="457200"/>
            <a:r>
              <a:rPr lang="en-US" sz="4400">
                <a:solidFill>
                  <a:schemeClr val="bg1"/>
                </a:solidFill>
                <a:ea typeface="+mn-lt"/>
                <a:cs typeface="+mn-lt"/>
              </a:rPr>
              <a:t>Histone-Modifier Graph Transformer for Prognosis Prediction in Hepatocellular Carcinoma</a:t>
            </a:r>
          </a:p>
          <a:p>
            <a:pPr algn="ctr" defTabSz="457200"/>
            <a:endParaRPr lang="en-US" sz="4400" dirty="0">
              <a:solidFill>
                <a:schemeClr val="bg1"/>
              </a:solidFill>
              <a:latin typeface="Avenir Next LT Pro Light"/>
              <a:ea typeface="Calibri"/>
              <a:cs typeface="Calibri"/>
            </a:endParaRPr>
          </a:p>
        </p:txBody>
      </p:sp>
      <p:sp>
        <p:nvSpPr>
          <p:cNvPr id="4" name="TextBox 3">
            <a:extLst>
              <a:ext uri="{FF2B5EF4-FFF2-40B4-BE49-F238E27FC236}">
                <a16:creationId xmlns:a16="http://schemas.microsoft.com/office/drawing/2014/main" id="{9F92AFA7-A803-1602-35C8-C21ED8130634}"/>
              </a:ext>
            </a:extLst>
          </p:cNvPr>
          <p:cNvSpPr txBox="1"/>
          <p:nvPr/>
        </p:nvSpPr>
        <p:spPr>
          <a:xfrm>
            <a:off x="5799639" y="4801942"/>
            <a:ext cx="4319272" cy="646331"/>
          </a:xfrm>
          <a:prstGeom prst="rect">
            <a:avLst/>
          </a:prstGeom>
          <a:noFill/>
        </p:spPr>
        <p:txBody>
          <a:bodyPr wrap="square" lIns="91440" tIns="45720" rIns="91440" bIns="45720" rtlCol="0" anchor="t">
            <a:spAutoFit/>
          </a:bodyPr>
          <a:lstStyle/>
          <a:p>
            <a:r>
              <a:rPr lang="en-IN" dirty="0">
                <a:solidFill>
                  <a:schemeClr val="bg1"/>
                </a:solidFill>
                <a:latin typeface="Times New Roman"/>
                <a:cs typeface="Times New Roman"/>
              </a:rPr>
              <a:t>Name :  Surya Gayathri S</a:t>
            </a:r>
            <a:endParaRPr lang="en-IN" dirty="0">
              <a:solidFill>
                <a:schemeClr val="bg1"/>
              </a:solidFill>
              <a:latin typeface="Times New Roman" panose="02020603050405020304" pitchFamily="18" charset="0"/>
              <a:cs typeface="Times New Roman" panose="02020603050405020304" pitchFamily="18" charset="0"/>
            </a:endParaRPr>
          </a:p>
          <a:p>
            <a:r>
              <a:rPr lang="en-IN" dirty="0">
                <a:solidFill>
                  <a:schemeClr val="bg1"/>
                </a:solidFill>
                <a:latin typeface="Times New Roman"/>
                <a:cs typeface="Times New Roman"/>
              </a:rPr>
              <a:t>Roll No:  AM.SC.P2ARI24014</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7B1EF1F-2300-829E-6E9B-9FE25D611E45}"/>
              </a:ext>
            </a:extLst>
          </p:cNvPr>
          <p:cNvSpPr txBox="1"/>
          <p:nvPr/>
        </p:nvSpPr>
        <p:spPr>
          <a:xfrm>
            <a:off x="5799639" y="5553202"/>
            <a:ext cx="3222588" cy="369332"/>
          </a:xfrm>
          <a:prstGeom prst="rect">
            <a:avLst/>
          </a:prstGeom>
          <a:noFill/>
        </p:spPr>
        <p:txBody>
          <a:bodyPr wrap="square" lIns="91440" tIns="45720" rIns="91440" bIns="45720" rtlCol="0" anchor="t">
            <a:spAutoFit/>
          </a:bodyPr>
          <a:lstStyle/>
          <a:p>
            <a:r>
              <a:rPr lang="en-IN" dirty="0">
                <a:solidFill>
                  <a:schemeClr val="bg1"/>
                </a:solidFill>
                <a:latin typeface="Times New Roman"/>
                <a:cs typeface="Times New Roman"/>
              </a:rPr>
              <a:t>Guided by: Dr. Geetha M</a:t>
            </a:r>
            <a:endParaRPr lang="en-US" dirty="0">
              <a:solidFill>
                <a:schemeClr val="bg1"/>
              </a:solidFill>
            </a:endParaRPr>
          </a:p>
        </p:txBody>
      </p:sp>
    </p:spTree>
    <p:extLst>
      <p:ext uri="{BB962C8B-B14F-4D97-AF65-F5344CB8AC3E}">
        <p14:creationId xmlns:p14="http://schemas.microsoft.com/office/powerpoint/2010/main" val="3005922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027A63-8C8E-A148-0D7B-551E89081511}"/>
              </a:ext>
            </a:extLst>
          </p:cNvPr>
          <p:cNvSpPr>
            <a:spLocks noGrp="1"/>
          </p:cNvSpPr>
          <p:nvPr>
            <p:ph type="title"/>
          </p:nvPr>
        </p:nvSpPr>
        <p:spPr>
          <a:xfrm>
            <a:off x="481013" y="3752849"/>
            <a:ext cx="3290887" cy="2452687"/>
          </a:xfrm>
        </p:spPr>
        <p:txBody>
          <a:bodyPr vert="horz" lIns="91440" tIns="45720" rIns="91440" bIns="45720" rtlCol="0" anchor="ctr">
            <a:normAutofit/>
          </a:bodyPr>
          <a:lstStyle/>
          <a:p>
            <a:r>
              <a:rPr lang="en-US" dirty="0">
                <a:latin typeface="Georgia"/>
              </a:rPr>
              <a:t>Introduction</a:t>
            </a:r>
          </a:p>
          <a:p>
            <a:endParaRPr lang="en-US" sz="3600" dirty="0">
              <a:solidFill>
                <a:schemeClr val="tx1"/>
              </a:solidFill>
              <a:latin typeface="+mj-lt"/>
            </a:endParaRPr>
          </a:p>
        </p:txBody>
      </p:sp>
      <p:sp>
        <p:nvSpPr>
          <p:cNvPr id="2" name="Content Placeholder 1">
            <a:extLst>
              <a:ext uri="{FF2B5EF4-FFF2-40B4-BE49-F238E27FC236}">
                <a16:creationId xmlns:a16="http://schemas.microsoft.com/office/drawing/2014/main" id="{0A351539-44B9-2FE0-FDAE-98E78079A055}"/>
              </a:ext>
            </a:extLst>
          </p:cNvPr>
          <p:cNvSpPr>
            <a:spLocks noGrp="1"/>
          </p:cNvSpPr>
          <p:nvPr>
            <p:ph idx="1"/>
          </p:nvPr>
        </p:nvSpPr>
        <p:spPr>
          <a:xfrm>
            <a:off x="4223982" y="3439085"/>
            <a:ext cx="7485413" cy="2766452"/>
          </a:xfrm>
        </p:spPr>
        <p:txBody>
          <a:bodyPr vert="horz" lIns="91440" tIns="45720" rIns="91440" bIns="45720" rtlCol="0" anchor="ctr">
            <a:normAutofit/>
          </a:bodyPr>
          <a:lstStyle/>
          <a:p>
            <a:r>
              <a:rPr lang="en-US" sz="1500" b="1">
                <a:latin typeface="Georgia"/>
              </a:rPr>
              <a:t>Epigenetic regulation</a:t>
            </a:r>
            <a:r>
              <a:rPr lang="en-US" sz="1500">
                <a:latin typeface="Georgia"/>
              </a:rPr>
              <a:t> controls gene expression without altering the DNA sequence</a:t>
            </a:r>
            <a:endParaRPr lang="en-US" sz="1500" b="1">
              <a:latin typeface="+mn-lt"/>
            </a:endParaRPr>
          </a:p>
          <a:p>
            <a:r>
              <a:rPr lang="en-US" sz="1500">
                <a:latin typeface="Georgia"/>
              </a:rPr>
              <a:t>It primarily acts through changes in </a:t>
            </a:r>
            <a:r>
              <a:rPr lang="en-US" sz="1500" b="1">
                <a:latin typeface="Georgia"/>
              </a:rPr>
              <a:t>chromatin structure</a:t>
            </a:r>
            <a:endParaRPr lang="en-US"/>
          </a:p>
          <a:p>
            <a:r>
              <a:rPr lang="en-US" sz="1500" b="1">
                <a:latin typeface="Georgia"/>
              </a:rPr>
              <a:t>Histones</a:t>
            </a:r>
            <a:r>
              <a:rPr lang="en-US" sz="1500">
                <a:latin typeface="Georgia"/>
              </a:rPr>
              <a:t> play a key role in packaging DNA into chromatin</a:t>
            </a:r>
            <a:endParaRPr lang="en-US"/>
          </a:p>
          <a:p>
            <a:r>
              <a:rPr lang="en-US" sz="1500" dirty="0">
                <a:latin typeface="Georgia"/>
              </a:rPr>
              <a:t>Modifications in histones determine whether genes are:</a:t>
            </a:r>
            <a:endParaRPr lang="en-US" dirty="0">
              <a:latin typeface="Georgia"/>
            </a:endParaRPr>
          </a:p>
          <a:p>
            <a:pPr lvl="1">
              <a:buFont typeface="Wingdings" panose="020B0604020202020204" pitchFamily="34" charset="0"/>
              <a:buChar char="Ø"/>
            </a:pPr>
            <a:r>
              <a:rPr lang="en-US" sz="1400" b="1">
                <a:latin typeface="Georgia"/>
              </a:rPr>
              <a:t>Active (accessible)</a:t>
            </a:r>
            <a:endParaRPr lang="en-US" sz="1400" b="1"/>
          </a:p>
          <a:p>
            <a:pPr lvl="1">
              <a:buFont typeface="Wingdings" panose="020B0604020202020204" pitchFamily="34" charset="0"/>
              <a:buChar char="Ø"/>
            </a:pPr>
            <a:r>
              <a:rPr lang="en-US" sz="1400" b="1">
                <a:latin typeface="Georgia"/>
              </a:rPr>
              <a:t>Inactive (condensed)</a:t>
            </a:r>
            <a:endParaRPr lang="en-US" sz="1400"/>
          </a:p>
          <a:p>
            <a:endParaRPr lang="en-US" sz="1500" dirty="0">
              <a:latin typeface="Georgia"/>
            </a:endParaRPr>
          </a:p>
        </p:txBody>
      </p:sp>
      <p:sp>
        <p:nvSpPr>
          <p:cNvPr id="4" name="Slide Number Placeholder 3">
            <a:extLst>
              <a:ext uri="{FF2B5EF4-FFF2-40B4-BE49-F238E27FC236}">
                <a16:creationId xmlns:a16="http://schemas.microsoft.com/office/drawing/2014/main" id="{99C2BA5C-9771-5D21-E76A-FF22C35940B0}"/>
              </a:ext>
            </a:extLst>
          </p:cNvPr>
          <p:cNvSpPr>
            <a:spLocks noGrp="1"/>
          </p:cNvSpPr>
          <p:nvPr>
            <p:ph type="sldNum" sz="quarter" idx="12"/>
          </p:nvPr>
        </p:nvSpPr>
        <p:spPr>
          <a:xfrm>
            <a:off x="8864600" y="6356350"/>
            <a:ext cx="2743200" cy="365125"/>
          </a:xfrm>
        </p:spPr>
        <p:txBody>
          <a:bodyPr vert="horz" lIns="91440" tIns="45720" rIns="91440" bIns="45720" rtlCol="0" anchor="ctr">
            <a:normAutofit/>
          </a:bodyPr>
          <a:lstStyle/>
          <a:p>
            <a:pPr algn="r">
              <a:spcAft>
                <a:spcPts val="600"/>
              </a:spcAft>
              <a:defRPr/>
            </a:pPr>
            <a:fld id="{330EA680-D336-4FF7-8B7A-9848BB0A1C32}" type="slidenum">
              <a:rPr lang="en-US" sz="1200" b="0">
                <a:solidFill>
                  <a:schemeClr val="tx1">
                    <a:lumMod val="75000"/>
                    <a:lumOff val="25000"/>
                  </a:schemeClr>
                </a:solidFill>
                <a:latin typeface="Calibri" panose="020F0502020204030204"/>
              </a:rPr>
              <a:pPr algn="r">
                <a:spcAft>
                  <a:spcPts val="600"/>
                </a:spcAft>
                <a:defRPr/>
              </a:pPr>
              <a:t>2</a:t>
            </a:fld>
            <a:endParaRPr lang="en-US" sz="1200" b="0">
              <a:solidFill>
                <a:schemeClr val="tx1">
                  <a:lumMod val="75000"/>
                  <a:lumOff val="25000"/>
                </a:schemeClr>
              </a:solidFill>
              <a:latin typeface="Calibri" panose="020F0502020204030204"/>
            </a:endParaRPr>
          </a:p>
        </p:txBody>
      </p:sp>
      <p:pic>
        <p:nvPicPr>
          <p:cNvPr id="8" name="Picture 7" descr="Diagram of chromatography and dna&#10;&#10;AI-generated content may be incorrect.">
            <a:extLst>
              <a:ext uri="{FF2B5EF4-FFF2-40B4-BE49-F238E27FC236}">
                <a16:creationId xmlns:a16="http://schemas.microsoft.com/office/drawing/2014/main" id="{CE7648C9-75CE-91B9-E835-C9250BC54478}"/>
              </a:ext>
            </a:extLst>
          </p:cNvPr>
          <p:cNvPicPr>
            <a:picLocks noChangeAspect="1"/>
          </p:cNvPicPr>
          <p:nvPr/>
        </p:nvPicPr>
        <p:blipFill>
          <a:blip r:embed="rId2"/>
          <a:stretch>
            <a:fillRect/>
          </a:stretch>
        </p:blipFill>
        <p:spPr>
          <a:xfrm>
            <a:off x="1049431" y="479892"/>
            <a:ext cx="9734550" cy="2962275"/>
          </a:xfrm>
          <a:prstGeom prst="rect">
            <a:avLst/>
          </a:prstGeom>
        </p:spPr>
      </p:pic>
    </p:spTree>
    <p:extLst>
      <p:ext uri="{BB962C8B-B14F-4D97-AF65-F5344CB8AC3E}">
        <p14:creationId xmlns:p14="http://schemas.microsoft.com/office/powerpoint/2010/main" val="4291738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7B2ACA-BEE5-A40C-BB99-93AC2AEE8E90}"/>
              </a:ext>
            </a:extLst>
          </p:cNvPr>
          <p:cNvSpPr>
            <a:spLocks noGrp="1"/>
          </p:cNvSpPr>
          <p:nvPr>
            <p:ph idx="1"/>
          </p:nvPr>
        </p:nvSpPr>
        <p:spPr>
          <a:xfrm>
            <a:off x="291353" y="1260521"/>
            <a:ext cx="11220581" cy="4930492"/>
          </a:xfrm>
        </p:spPr>
        <p:txBody>
          <a:bodyPr vert="horz" lIns="91440" tIns="45720" rIns="91440" bIns="45720" rtlCol="0" anchor="t">
            <a:normAutofit/>
          </a:bodyPr>
          <a:lstStyle/>
          <a:p>
            <a:pPr>
              <a:lnSpc>
                <a:spcPct val="150000"/>
              </a:lnSpc>
            </a:pPr>
            <a:r>
              <a:rPr lang="en-US" sz="1600" b="1">
                <a:latin typeface="Georgia"/>
              </a:rPr>
              <a:t>HCC</a:t>
            </a:r>
            <a:r>
              <a:rPr lang="en-US" sz="1600">
                <a:latin typeface="Georgia"/>
              </a:rPr>
              <a:t> is one of the most lethal malignancies with a 5-year survival rate below 20%</a:t>
            </a:r>
            <a:endParaRPr lang="en-US"/>
          </a:p>
          <a:p>
            <a:pPr>
              <a:lnSpc>
                <a:spcPct val="150000"/>
              </a:lnSpc>
            </a:pPr>
            <a:r>
              <a:rPr lang="en-US" sz="1600" b="1" dirty="0">
                <a:latin typeface="Georgia"/>
              </a:rPr>
              <a:t>Epigenetic dysregulation</a:t>
            </a:r>
            <a:r>
              <a:rPr lang="en-US" sz="1600" dirty="0">
                <a:latin typeface="Georgia"/>
              </a:rPr>
              <a:t> is a hallmark of HCC — chromatin structure is systematically altered in </a:t>
            </a:r>
            <a:r>
              <a:rPr lang="en-US" sz="1600" dirty="0" err="1">
                <a:latin typeface="Georgia"/>
              </a:rPr>
              <a:t>tumour</a:t>
            </a:r>
            <a:r>
              <a:rPr lang="en-US" sz="1600" dirty="0">
                <a:latin typeface="Georgia"/>
              </a:rPr>
              <a:t> cells</a:t>
            </a:r>
            <a:endParaRPr lang="en-US" dirty="0"/>
          </a:p>
          <a:p>
            <a:pPr>
              <a:lnSpc>
                <a:spcPct val="150000"/>
              </a:lnSpc>
            </a:pPr>
            <a:r>
              <a:rPr lang="en-US" sz="1600" b="1">
                <a:latin typeface="Georgia"/>
              </a:rPr>
              <a:t>Histone-modifying genes</a:t>
            </a:r>
            <a:r>
              <a:rPr lang="en-US" sz="1600">
                <a:latin typeface="Georgia"/>
              </a:rPr>
              <a:t> play a crucial role in cancer progression</a:t>
            </a:r>
            <a:endParaRPr lang="en-US"/>
          </a:p>
          <a:p>
            <a:pPr lvl="1">
              <a:lnSpc>
                <a:spcPct val="150000"/>
              </a:lnSpc>
            </a:pPr>
            <a:r>
              <a:rPr lang="en-US" sz="1600">
                <a:latin typeface="Georgia"/>
              </a:rPr>
              <a:t>HATs </a:t>
            </a:r>
            <a:r>
              <a:rPr lang="en-US" sz="1600" i="1">
                <a:latin typeface="Georgia"/>
              </a:rPr>
              <a:t>(add acetyl groups)</a:t>
            </a:r>
            <a:endParaRPr lang="en-US"/>
          </a:p>
          <a:p>
            <a:pPr lvl="1">
              <a:lnSpc>
                <a:spcPct val="150000"/>
              </a:lnSpc>
            </a:pPr>
            <a:r>
              <a:rPr lang="en-US" sz="1600">
                <a:latin typeface="Georgia"/>
              </a:rPr>
              <a:t>HDACs </a:t>
            </a:r>
            <a:r>
              <a:rPr lang="en-US" sz="1600" i="1">
                <a:latin typeface="Georgia"/>
              </a:rPr>
              <a:t>(remove acetyl groups)</a:t>
            </a:r>
            <a:endParaRPr lang="en-US"/>
          </a:p>
          <a:p>
            <a:pPr lvl="1">
              <a:lnSpc>
                <a:spcPct val="150000"/>
              </a:lnSpc>
            </a:pPr>
            <a:r>
              <a:rPr lang="en-US" sz="1600">
                <a:latin typeface="Georgia"/>
              </a:rPr>
              <a:t>HMTs/KDMs </a:t>
            </a:r>
            <a:r>
              <a:rPr lang="en-US" sz="1600" i="1">
                <a:latin typeface="Georgia"/>
              </a:rPr>
              <a:t>(add/remove methyl groups)</a:t>
            </a:r>
            <a:endParaRPr lang="en-US"/>
          </a:p>
          <a:p>
            <a:pPr>
              <a:lnSpc>
                <a:spcPct val="150000"/>
              </a:lnSpc>
            </a:pPr>
            <a:r>
              <a:rPr lang="en-US" sz="1700" dirty="0">
                <a:latin typeface="Georgia"/>
              </a:rPr>
              <a:t>Existing prognostic models </a:t>
            </a:r>
            <a:r>
              <a:rPr lang="en-US" sz="1700" dirty="0" err="1">
                <a:latin typeface="Georgia"/>
              </a:rPr>
              <a:t>analyse</a:t>
            </a:r>
            <a:r>
              <a:rPr lang="en-US" sz="1700" dirty="0">
                <a:latin typeface="Georgia"/>
              </a:rPr>
              <a:t> genes </a:t>
            </a:r>
            <a:r>
              <a:rPr lang="en-US" sz="1700" b="1" dirty="0">
                <a:latin typeface="Georgia"/>
              </a:rPr>
              <a:t>individually</a:t>
            </a:r>
            <a:r>
              <a:rPr lang="en-US" sz="1700" dirty="0">
                <a:latin typeface="Georgia"/>
              </a:rPr>
              <a:t>, ignoring network interactions</a:t>
            </a:r>
          </a:p>
          <a:p>
            <a:pPr>
              <a:lnSpc>
                <a:spcPct val="150000"/>
              </a:lnSpc>
            </a:pPr>
            <a:r>
              <a:rPr lang="en-US" sz="1600">
                <a:latin typeface="Georgia"/>
              </a:rPr>
              <a:t>This motivates studying gene relationships using </a:t>
            </a:r>
            <a:r>
              <a:rPr lang="en-US" sz="1600" b="1">
                <a:latin typeface="Georgia"/>
              </a:rPr>
              <a:t>network-based approaches and advanced models</a:t>
            </a:r>
            <a:endParaRPr lang="en-US"/>
          </a:p>
          <a:p>
            <a:pPr>
              <a:lnSpc>
                <a:spcPct val="150000"/>
              </a:lnSpc>
            </a:pPr>
            <a:endParaRPr lang="en-US" sz="1600" dirty="0"/>
          </a:p>
          <a:p>
            <a:endParaRPr lang="en-US" sz="1600" dirty="0"/>
          </a:p>
        </p:txBody>
      </p:sp>
      <p:sp>
        <p:nvSpPr>
          <p:cNvPr id="3" name="Title 2">
            <a:extLst>
              <a:ext uri="{FF2B5EF4-FFF2-40B4-BE49-F238E27FC236}">
                <a16:creationId xmlns:a16="http://schemas.microsoft.com/office/drawing/2014/main" id="{ADCADBA3-54CA-A2D9-56C2-DA34E992D68D}"/>
              </a:ext>
            </a:extLst>
          </p:cNvPr>
          <p:cNvSpPr>
            <a:spLocks noGrp="1"/>
          </p:cNvSpPr>
          <p:nvPr>
            <p:ph type="title"/>
          </p:nvPr>
        </p:nvSpPr>
        <p:spPr/>
        <p:txBody>
          <a:bodyPr/>
          <a:lstStyle/>
          <a:p>
            <a:r>
              <a:rPr lang="en-US" dirty="0">
                <a:latin typeface="Georgia"/>
              </a:rPr>
              <a:t>Introduction(</a:t>
            </a:r>
            <a:r>
              <a:rPr lang="en-US" dirty="0" err="1">
                <a:latin typeface="Georgia"/>
              </a:rPr>
              <a:t>Contd</a:t>
            </a:r>
            <a:r>
              <a:rPr lang="en-US" dirty="0">
                <a:latin typeface="Georgia"/>
              </a:rPr>
              <a:t>)</a:t>
            </a:r>
            <a:endParaRPr lang="en-US" dirty="0"/>
          </a:p>
        </p:txBody>
      </p:sp>
      <p:sp>
        <p:nvSpPr>
          <p:cNvPr id="4" name="Slide Number Placeholder 3">
            <a:extLst>
              <a:ext uri="{FF2B5EF4-FFF2-40B4-BE49-F238E27FC236}">
                <a16:creationId xmlns:a16="http://schemas.microsoft.com/office/drawing/2014/main" id="{6A8D2B01-4D36-3143-A1CF-91EA1C3C668D}"/>
              </a:ext>
            </a:extLst>
          </p:cNvPr>
          <p:cNvSpPr>
            <a:spLocks noGrp="1"/>
          </p:cNvSpPr>
          <p:nvPr>
            <p:ph type="sldNum" sz="quarter" idx="12"/>
          </p:nvPr>
        </p:nvSpPr>
        <p:spPr/>
        <p:txBody>
          <a:bodyPr/>
          <a:lstStyle/>
          <a:p>
            <a:fld id="{330EA680-D336-4FF7-8B7A-9848BB0A1C32}" type="slidenum">
              <a:rPr lang="en-US" smtClean="0"/>
              <a:pPr/>
              <a:t>3</a:t>
            </a:fld>
            <a:endParaRPr lang="en-US"/>
          </a:p>
        </p:txBody>
      </p:sp>
    </p:spTree>
    <p:extLst>
      <p:ext uri="{BB962C8B-B14F-4D97-AF65-F5344CB8AC3E}">
        <p14:creationId xmlns:p14="http://schemas.microsoft.com/office/powerpoint/2010/main" val="2921728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5993B-5B76-E0D5-3393-0265CE1A5CF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313CD5-D342-3902-27BC-AF2C93B3380A}"/>
              </a:ext>
            </a:extLst>
          </p:cNvPr>
          <p:cNvSpPr>
            <a:spLocks noGrp="1"/>
          </p:cNvSpPr>
          <p:nvPr>
            <p:ph idx="1"/>
          </p:nvPr>
        </p:nvSpPr>
        <p:spPr/>
        <p:txBody>
          <a:bodyPr vert="horz" lIns="91440" tIns="45720" rIns="91440" bIns="45720" rtlCol="0" anchor="t">
            <a:normAutofit/>
          </a:bodyPr>
          <a:lstStyle/>
          <a:p>
            <a:pPr>
              <a:lnSpc>
                <a:spcPct val="150000"/>
              </a:lnSpc>
            </a:pPr>
            <a:r>
              <a:rPr lang="en-US" sz="1800" b="1">
                <a:latin typeface="Georgia"/>
              </a:rPr>
              <a:t>Hepatocellular</a:t>
            </a:r>
            <a:r>
              <a:rPr lang="en-US" sz="1800" b="1">
                <a:latin typeface="Georgia"/>
                <a:ea typeface="Calibri"/>
                <a:cs typeface="Calibri"/>
              </a:rPr>
              <a:t> carcinoma (HCC)</a:t>
            </a:r>
            <a:r>
              <a:rPr lang="en-US" sz="1800">
                <a:latin typeface="Georgia"/>
                <a:ea typeface="Calibri"/>
                <a:cs typeface="Calibri"/>
              </a:rPr>
              <a:t> has poor prognosis </a:t>
            </a:r>
            <a:r>
              <a:rPr lang="en-US" sz="1800">
                <a:latin typeface="Georgia"/>
              </a:rPr>
              <a:t>and limited early prediction methods</a:t>
            </a:r>
            <a:endParaRPr lang="en-US"/>
          </a:p>
          <a:p>
            <a:pPr>
              <a:lnSpc>
                <a:spcPct val="150000"/>
              </a:lnSpc>
            </a:pPr>
            <a:r>
              <a:rPr lang="en-US" sz="1800">
                <a:latin typeface="Georgia"/>
                <a:ea typeface="Calibri"/>
                <a:cs typeface="Calibri"/>
              </a:rPr>
              <a:t>Gene expression-based studies often analyze genes </a:t>
            </a:r>
            <a:r>
              <a:rPr lang="en-US" sz="1800" b="1">
                <a:latin typeface="Georgia"/>
                <a:ea typeface="Calibri"/>
                <a:cs typeface="Calibri"/>
              </a:rPr>
              <a:t>independently</a:t>
            </a:r>
            <a:r>
              <a:rPr lang="en-US" sz="1800">
                <a:latin typeface="Georgia"/>
                <a:ea typeface="Calibri"/>
                <a:cs typeface="Calibri"/>
              </a:rPr>
              <a:t>, ignoring biological interactions</a:t>
            </a:r>
            <a:endParaRPr lang="en-US"/>
          </a:p>
          <a:p>
            <a:pPr>
              <a:lnSpc>
                <a:spcPct val="150000"/>
              </a:lnSpc>
            </a:pPr>
            <a:r>
              <a:rPr lang="en-US" sz="1800" b="1">
                <a:latin typeface="Georgia"/>
                <a:ea typeface="Calibri"/>
                <a:cs typeface="Calibri"/>
              </a:rPr>
              <a:t>Histone-modifying enzymes</a:t>
            </a:r>
            <a:r>
              <a:rPr lang="en-US" sz="1800">
                <a:latin typeface="Georgia"/>
                <a:ea typeface="Calibri"/>
                <a:cs typeface="Calibri"/>
              </a:rPr>
              <a:t> act cooperatively in protein complexes — this co-regulation is not captured in existing models</a:t>
            </a:r>
            <a:endParaRPr lang="en-US">
              <a:latin typeface="Georgia"/>
              <a:ea typeface="Calibri"/>
              <a:cs typeface="Calibri"/>
            </a:endParaRPr>
          </a:p>
          <a:p>
            <a:pPr>
              <a:lnSpc>
                <a:spcPct val="150000"/>
              </a:lnSpc>
            </a:pPr>
            <a:r>
              <a:rPr lang="en-US" sz="1800" dirty="0">
                <a:latin typeface="Georgia"/>
                <a:ea typeface="Calibri"/>
                <a:cs typeface="Calibri"/>
              </a:rPr>
              <a:t>Protein-protein interaction networks among histone modifiers remain unexplored in HCC prognosis</a:t>
            </a:r>
            <a:endParaRPr lang="en-US" dirty="0"/>
          </a:p>
          <a:p>
            <a:pPr>
              <a:lnSpc>
                <a:spcPct val="150000"/>
              </a:lnSpc>
            </a:pPr>
            <a:r>
              <a:rPr lang="en-US" sz="1800">
                <a:latin typeface="Georgia"/>
                <a:ea typeface="Calibri"/>
                <a:cs typeface="Calibri"/>
              </a:rPr>
              <a:t>Complex </a:t>
            </a:r>
            <a:r>
              <a:rPr lang="en-US" sz="1800" b="1">
                <a:latin typeface="Georgia"/>
                <a:ea typeface="Calibri"/>
                <a:cs typeface="Calibri"/>
              </a:rPr>
              <a:t>gene-gene relationships</a:t>
            </a:r>
            <a:r>
              <a:rPr lang="en-US" sz="1800">
                <a:latin typeface="Georgia"/>
                <a:ea typeface="Calibri"/>
                <a:cs typeface="Calibri"/>
              </a:rPr>
              <a:t> that influence patient survival are lost in individual gene analysis</a:t>
            </a:r>
            <a:endParaRPr lang="en-US"/>
          </a:p>
          <a:p>
            <a:pPr>
              <a:lnSpc>
                <a:spcPct val="150000"/>
              </a:lnSpc>
            </a:pPr>
            <a:r>
              <a:rPr lang="en-US" sz="1800">
                <a:latin typeface="Georgia"/>
                <a:ea typeface="Calibri"/>
                <a:cs typeface="Calibri"/>
              </a:rPr>
              <a:t>Current approaches lack the ability to model </a:t>
            </a:r>
            <a:r>
              <a:rPr lang="en-US" sz="1800" b="1">
                <a:latin typeface="Georgia"/>
                <a:ea typeface="Calibri"/>
                <a:cs typeface="Calibri"/>
              </a:rPr>
              <a:t>epigenetic network structure</a:t>
            </a:r>
            <a:r>
              <a:rPr lang="en-US" sz="1800">
                <a:latin typeface="Georgia"/>
                <a:ea typeface="Calibri"/>
                <a:cs typeface="Calibri"/>
              </a:rPr>
              <a:t> for survival prediction</a:t>
            </a:r>
            <a:endParaRPr lang="en-US"/>
          </a:p>
          <a:p>
            <a:pPr>
              <a:lnSpc>
                <a:spcPct val="150000"/>
              </a:lnSpc>
            </a:pPr>
            <a:endParaRPr lang="en-US" sz="1800" b="1" dirty="0">
              <a:latin typeface="Georgia"/>
              <a:ea typeface="Calibri"/>
              <a:cs typeface="Calibri"/>
            </a:endParaRPr>
          </a:p>
          <a:p>
            <a:pPr lvl="2">
              <a:buFont typeface="Wingdings" panose="020B0604020202020204" pitchFamily="34" charset="0"/>
              <a:buChar char="§"/>
            </a:pPr>
            <a:endParaRPr lang="en-US" sz="1600" b="1" dirty="0">
              <a:latin typeface="Georgia"/>
              <a:ea typeface="Calibri"/>
              <a:cs typeface="Calibri"/>
            </a:endParaRPr>
          </a:p>
        </p:txBody>
      </p:sp>
      <p:sp>
        <p:nvSpPr>
          <p:cNvPr id="3" name="Title 2">
            <a:extLst>
              <a:ext uri="{FF2B5EF4-FFF2-40B4-BE49-F238E27FC236}">
                <a16:creationId xmlns:a16="http://schemas.microsoft.com/office/drawing/2014/main" id="{97B2D9D0-656E-F53E-8128-CB30D52416AB}"/>
              </a:ext>
            </a:extLst>
          </p:cNvPr>
          <p:cNvSpPr>
            <a:spLocks noGrp="1"/>
          </p:cNvSpPr>
          <p:nvPr>
            <p:ph type="title"/>
          </p:nvPr>
        </p:nvSpPr>
        <p:spPr/>
        <p:txBody>
          <a:bodyPr/>
          <a:lstStyle/>
          <a:p>
            <a:r>
              <a:rPr lang="en-US" dirty="0">
                <a:latin typeface="Georgia"/>
              </a:rPr>
              <a:t>Problem Definition</a:t>
            </a:r>
            <a:endParaRPr lang="en-US" dirty="0"/>
          </a:p>
        </p:txBody>
      </p:sp>
      <p:sp>
        <p:nvSpPr>
          <p:cNvPr id="4" name="Slide Number Placeholder 3">
            <a:extLst>
              <a:ext uri="{FF2B5EF4-FFF2-40B4-BE49-F238E27FC236}">
                <a16:creationId xmlns:a16="http://schemas.microsoft.com/office/drawing/2014/main" id="{75226BE2-F97F-317B-B2C0-DCCE91DDE91C}"/>
              </a:ext>
            </a:extLst>
          </p:cNvPr>
          <p:cNvSpPr>
            <a:spLocks noGrp="1"/>
          </p:cNvSpPr>
          <p:nvPr>
            <p:ph type="sldNum" sz="quarter" idx="12"/>
          </p:nvPr>
        </p:nvSpPr>
        <p:spPr/>
        <p:txBody>
          <a:bodyPr/>
          <a:lstStyle/>
          <a:p>
            <a:fld id="{330EA680-D336-4FF7-8B7A-9848BB0A1C32}" type="slidenum">
              <a:rPr lang="en-US" smtClean="0"/>
              <a:pPr/>
              <a:t>4</a:t>
            </a:fld>
            <a:endParaRPr lang="en-US"/>
          </a:p>
        </p:txBody>
      </p:sp>
    </p:spTree>
    <p:extLst>
      <p:ext uri="{BB962C8B-B14F-4D97-AF65-F5344CB8AC3E}">
        <p14:creationId xmlns:p14="http://schemas.microsoft.com/office/powerpoint/2010/main" val="4253212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7348EE-3CA8-B6B9-2CC8-330DFA7195F7}"/>
              </a:ext>
            </a:extLst>
          </p:cNvPr>
          <p:cNvSpPr>
            <a:spLocks noGrp="1"/>
          </p:cNvSpPr>
          <p:nvPr>
            <p:ph idx="1"/>
          </p:nvPr>
        </p:nvSpPr>
        <p:spPr>
          <a:xfrm>
            <a:off x="571499" y="1280821"/>
            <a:ext cx="11209376" cy="4908082"/>
          </a:xfrm>
        </p:spPr>
        <p:txBody>
          <a:bodyPr vert="horz" lIns="91440" tIns="45720" rIns="91440" bIns="45720" rtlCol="0" anchor="t">
            <a:normAutofit/>
          </a:bodyPr>
          <a:lstStyle/>
          <a:p>
            <a:pPr>
              <a:lnSpc>
                <a:spcPct val="150000"/>
              </a:lnSpc>
            </a:pPr>
            <a:r>
              <a:rPr lang="en-US" sz="2000" dirty="0">
                <a:latin typeface="Georgia"/>
              </a:rPr>
              <a:t>Extract histone-modifying genes from </a:t>
            </a:r>
            <a:r>
              <a:rPr lang="en-US" sz="2000" dirty="0" err="1">
                <a:latin typeface="Georgia"/>
              </a:rPr>
              <a:t>EpiFactors</a:t>
            </a:r>
            <a:r>
              <a:rPr lang="en-US" sz="2000" dirty="0">
                <a:latin typeface="Georgia"/>
              </a:rPr>
              <a:t> across 10 enzyme families</a:t>
            </a:r>
            <a:endParaRPr lang="en-US" dirty="0"/>
          </a:p>
          <a:p>
            <a:pPr>
              <a:lnSpc>
                <a:spcPct val="150000"/>
              </a:lnSpc>
            </a:pPr>
            <a:r>
              <a:rPr lang="en-US" sz="2000">
                <a:latin typeface="Georgia"/>
              </a:rPr>
              <a:t>Construct a high-confidence </a:t>
            </a:r>
            <a:r>
              <a:rPr lang="en-US" sz="2000" b="1">
                <a:latin typeface="Georgia"/>
              </a:rPr>
              <a:t>PPI network</a:t>
            </a:r>
            <a:r>
              <a:rPr lang="en-US" sz="2000">
                <a:latin typeface="Georgia"/>
              </a:rPr>
              <a:t> using STRING v12</a:t>
            </a:r>
            <a:endParaRPr lang="en-US"/>
          </a:p>
          <a:p>
            <a:pPr>
              <a:lnSpc>
                <a:spcPct val="150000"/>
              </a:lnSpc>
            </a:pPr>
            <a:r>
              <a:rPr lang="en-US" sz="2000">
                <a:latin typeface="Georgia"/>
              </a:rPr>
              <a:t>Integrate TCGA-LIHC RNA-seq expression with the PPI graph structure</a:t>
            </a:r>
            <a:endParaRPr lang="en-US"/>
          </a:p>
          <a:p>
            <a:pPr>
              <a:lnSpc>
                <a:spcPct val="150000"/>
              </a:lnSpc>
            </a:pPr>
            <a:r>
              <a:rPr lang="en-US" sz="2000" dirty="0">
                <a:latin typeface="Georgia"/>
              </a:rPr>
              <a:t>Derive a </a:t>
            </a:r>
            <a:r>
              <a:rPr lang="en-US" sz="2000" b="1" dirty="0">
                <a:latin typeface="Georgia"/>
              </a:rPr>
              <a:t>LASSO-Cox </a:t>
            </a:r>
            <a:r>
              <a:rPr lang="en-US" sz="2000" dirty="0">
                <a:latin typeface="Georgia"/>
              </a:rPr>
              <a:t>prognostic gene signature and validate independence</a:t>
            </a:r>
            <a:endParaRPr lang="en-US" dirty="0"/>
          </a:p>
          <a:p>
            <a:pPr>
              <a:lnSpc>
                <a:spcPct val="150000"/>
              </a:lnSpc>
            </a:pPr>
            <a:r>
              <a:rPr lang="en-US" sz="2000">
                <a:latin typeface="Georgia"/>
              </a:rPr>
              <a:t>Develop a </a:t>
            </a:r>
            <a:r>
              <a:rPr lang="en-US" sz="2000" b="1">
                <a:latin typeface="Georgia"/>
              </a:rPr>
              <a:t>Graph Attention Network</a:t>
            </a:r>
            <a:r>
              <a:rPr lang="en-US" sz="2000">
                <a:latin typeface="Georgia"/>
              </a:rPr>
              <a:t> trained with Cox partial likelihood loss</a:t>
            </a:r>
            <a:endParaRPr lang="en-US"/>
          </a:p>
          <a:p>
            <a:pPr>
              <a:lnSpc>
                <a:spcPct val="150000"/>
              </a:lnSpc>
            </a:pPr>
            <a:r>
              <a:rPr lang="en-US" sz="2000" dirty="0">
                <a:latin typeface="Georgia"/>
              </a:rPr>
              <a:t>Identify key regulators via hub gene analysis and attention weight extraction</a:t>
            </a:r>
            <a:endParaRPr lang="en-US" dirty="0"/>
          </a:p>
          <a:p>
            <a:pPr>
              <a:lnSpc>
                <a:spcPct val="150000"/>
              </a:lnSpc>
            </a:pPr>
            <a:r>
              <a:rPr lang="en-US" sz="2000">
                <a:latin typeface="Georgia"/>
              </a:rPr>
              <a:t>Evaluate using C-index, Kaplan-Meier curves, and multivariate Cox regression</a:t>
            </a:r>
            <a:endParaRPr lang="en-US"/>
          </a:p>
          <a:p>
            <a:pPr>
              <a:lnSpc>
                <a:spcPct val="150000"/>
              </a:lnSpc>
            </a:pPr>
            <a:endParaRPr lang="en-US" sz="2000"/>
          </a:p>
          <a:p>
            <a:pPr>
              <a:lnSpc>
                <a:spcPct val="150000"/>
              </a:lnSpc>
            </a:pPr>
            <a:endParaRPr lang="en-US" sz="2000" b="1">
              <a:latin typeface="Calisto MT"/>
              <a:ea typeface="Calibri"/>
              <a:cs typeface="Calibri"/>
            </a:endParaRPr>
          </a:p>
          <a:p>
            <a:pPr>
              <a:lnSpc>
                <a:spcPct val="110000"/>
              </a:lnSpc>
            </a:pPr>
            <a:endParaRPr lang="en-US" sz="2000" b="1">
              <a:latin typeface="Calisto MT"/>
              <a:ea typeface="Calibri"/>
              <a:cs typeface="Calibri"/>
            </a:endParaRPr>
          </a:p>
          <a:p>
            <a:pPr>
              <a:lnSpc>
                <a:spcPct val="150000"/>
              </a:lnSpc>
            </a:pPr>
            <a:endParaRPr lang="en-US" sz="1600">
              <a:latin typeface="Georgia"/>
              <a:ea typeface="Calibri"/>
              <a:cs typeface="Calibri"/>
            </a:endParaRPr>
          </a:p>
        </p:txBody>
      </p:sp>
      <p:sp>
        <p:nvSpPr>
          <p:cNvPr id="3" name="Title 2">
            <a:extLst>
              <a:ext uri="{FF2B5EF4-FFF2-40B4-BE49-F238E27FC236}">
                <a16:creationId xmlns:a16="http://schemas.microsoft.com/office/drawing/2014/main" id="{BF1041EC-A908-A8BA-81D7-E2758A4B9398}"/>
              </a:ext>
            </a:extLst>
          </p:cNvPr>
          <p:cNvSpPr>
            <a:spLocks noGrp="1"/>
          </p:cNvSpPr>
          <p:nvPr>
            <p:ph type="title"/>
          </p:nvPr>
        </p:nvSpPr>
        <p:spPr/>
        <p:txBody>
          <a:bodyPr/>
          <a:lstStyle/>
          <a:p>
            <a:r>
              <a:rPr lang="en-US" dirty="0">
                <a:latin typeface="Georgia"/>
              </a:rPr>
              <a:t>Objectives</a:t>
            </a:r>
            <a:endParaRPr lang="en-US" dirty="0"/>
          </a:p>
        </p:txBody>
      </p:sp>
      <p:sp>
        <p:nvSpPr>
          <p:cNvPr id="4" name="Slide Number Placeholder 3">
            <a:extLst>
              <a:ext uri="{FF2B5EF4-FFF2-40B4-BE49-F238E27FC236}">
                <a16:creationId xmlns:a16="http://schemas.microsoft.com/office/drawing/2014/main" id="{96BCA8DA-EC83-F8D2-36A6-949AA4ABE38B}"/>
              </a:ext>
            </a:extLst>
          </p:cNvPr>
          <p:cNvSpPr>
            <a:spLocks noGrp="1"/>
          </p:cNvSpPr>
          <p:nvPr>
            <p:ph type="sldNum" sz="quarter" idx="12"/>
          </p:nvPr>
        </p:nvSpPr>
        <p:spPr/>
        <p:txBody>
          <a:bodyPr/>
          <a:lstStyle/>
          <a:p>
            <a:fld id="{330EA680-D336-4FF7-8B7A-9848BB0A1C32}" type="slidenum">
              <a:rPr lang="en-US" smtClean="0"/>
              <a:pPr/>
              <a:t>5</a:t>
            </a:fld>
            <a:endParaRPr lang="en-US"/>
          </a:p>
        </p:txBody>
      </p:sp>
    </p:spTree>
    <p:extLst>
      <p:ext uri="{BB962C8B-B14F-4D97-AF65-F5344CB8AC3E}">
        <p14:creationId xmlns:p14="http://schemas.microsoft.com/office/powerpoint/2010/main" val="444824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Slide Background">
            <a:extLst>
              <a:ext uri="{FF2B5EF4-FFF2-40B4-BE49-F238E27FC236}">
                <a16:creationId xmlns:a16="http://schemas.microsoft.com/office/drawing/2014/main" id="{924D84CD-5280-4B52-B96E-8EDAA2B20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3E65D517-46E4-8037-A63D-629DE1253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D3C2395-D149-BE65-A108-688C6CA906E6}"/>
              </a:ext>
            </a:extLst>
          </p:cNvPr>
          <p:cNvSpPr txBox="1"/>
          <p:nvPr/>
        </p:nvSpPr>
        <p:spPr>
          <a:xfrm>
            <a:off x="758952" y="276198"/>
            <a:ext cx="10477600" cy="1157242"/>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200" kern="1200">
                <a:solidFill>
                  <a:srgbClr val="A4123F"/>
                </a:solidFill>
                <a:latin typeface="Georgia"/>
                <a:ea typeface="+mj-ea"/>
                <a:cs typeface="+mj-cs"/>
              </a:rPr>
              <a:t>Literature Review Summary</a:t>
            </a:r>
            <a:endParaRPr lang="en-US" sz="3200">
              <a:solidFill>
                <a:srgbClr val="A4123F"/>
              </a:solidFill>
              <a:latin typeface="Georgia"/>
              <a:ea typeface="+mj-ea"/>
              <a:cs typeface="+mj-cs"/>
            </a:endParaRPr>
          </a:p>
          <a:p>
            <a:pPr>
              <a:lnSpc>
                <a:spcPct val="90000"/>
              </a:lnSpc>
              <a:spcBef>
                <a:spcPct val="0"/>
              </a:spcBef>
              <a:spcAft>
                <a:spcPts val="600"/>
              </a:spcAft>
            </a:pPr>
            <a:endParaRPr lang="en-US" sz="4000" kern="1200">
              <a:solidFill>
                <a:schemeClr val="tx1"/>
              </a:solidFill>
              <a:latin typeface="+mj-lt"/>
              <a:ea typeface="+mj-ea"/>
              <a:cs typeface="+mj-cs"/>
            </a:endParaRPr>
          </a:p>
        </p:txBody>
      </p:sp>
      <p:sp>
        <p:nvSpPr>
          <p:cNvPr id="4" name="Slide Number Placeholder 3">
            <a:extLst>
              <a:ext uri="{FF2B5EF4-FFF2-40B4-BE49-F238E27FC236}">
                <a16:creationId xmlns:a16="http://schemas.microsoft.com/office/drawing/2014/main" id="{A01E8616-BADC-9053-1F74-700FEFD963FF}"/>
              </a:ext>
            </a:extLst>
          </p:cNvPr>
          <p:cNvSpPr>
            <a:spLocks noGrp="1"/>
          </p:cNvSpPr>
          <p:nvPr>
            <p:ph type="sldNum" sz="quarter" idx="12"/>
          </p:nvPr>
        </p:nvSpPr>
        <p:spPr>
          <a:xfrm>
            <a:off x="8732520" y="6356350"/>
            <a:ext cx="3200400" cy="365125"/>
          </a:xfrm>
        </p:spPr>
        <p:txBody>
          <a:bodyPr vert="horz" lIns="91440" tIns="45720" rIns="91440" bIns="45720" rtlCol="0" anchor="ctr">
            <a:normAutofit/>
          </a:bodyPr>
          <a:lstStyle/>
          <a:p>
            <a:pPr algn="r">
              <a:spcAft>
                <a:spcPts val="600"/>
              </a:spcAft>
            </a:pPr>
            <a:fld id="{330EA680-D336-4FF7-8B7A-9848BB0A1C32}" type="slidenum">
              <a:rPr lang="en-US" sz="1200">
                <a:solidFill>
                  <a:schemeClr val="tx1"/>
                </a:solidFill>
              </a:rPr>
              <a:pPr algn="r">
                <a:spcAft>
                  <a:spcPts val="600"/>
                </a:spcAft>
              </a:pPr>
              <a:t>6</a:t>
            </a:fld>
            <a:endParaRPr lang="en-US" sz="1200">
              <a:solidFill>
                <a:schemeClr val="tx1"/>
              </a:solidFill>
            </a:endParaRPr>
          </a:p>
        </p:txBody>
      </p:sp>
      <p:graphicFrame>
        <p:nvGraphicFramePr>
          <p:cNvPr id="5" name="Content Placeholder 4">
            <a:extLst>
              <a:ext uri="{FF2B5EF4-FFF2-40B4-BE49-F238E27FC236}">
                <a16:creationId xmlns:a16="http://schemas.microsoft.com/office/drawing/2014/main" id="{83F99B8D-2720-1243-CA6D-C54793DD8F44}"/>
              </a:ext>
            </a:extLst>
          </p:cNvPr>
          <p:cNvGraphicFramePr>
            <a:graphicFrameLocks noGrp="1"/>
          </p:cNvGraphicFramePr>
          <p:nvPr>
            <p:ph idx="1"/>
            <p:extLst>
              <p:ext uri="{D42A27DB-BD31-4B8C-83A1-F6EECF244321}">
                <p14:modId xmlns:p14="http://schemas.microsoft.com/office/powerpoint/2010/main" val="3138197681"/>
              </p:ext>
            </p:extLst>
          </p:nvPr>
        </p:nvGraphicFramePr>
        <p:xfrm>
          <a:off x="167951" y="1826558"/>
          <a:ext cx="11507913" cy="4847490"/>
        </p:xfrm>
        <a:graphic>
          <a:graphicData uri="http://schemas.openxmlformats.org/drawingml/2006/table">
            <a:tbl>
              <a:tblPr firstRow="1" bandRow="1">
                <a:solidFill>
                  <a:srgbClr val="F2F2F2">
                    <a:alpha val="45098"/>
                  </a:srgbClr>
                </a:solidFill>
                <a:tableStyleId>{5C22544A-7EE6-4342-B048-85BDC9FD1C3A}</a:tableStyleId>
              </a:tblPr>
              <a:tblGrid>
                <a:gridCol w="2611471">
                  <a:extLst>
                    <a:ext uri="{9D8B030D-6E8A-4147-A177-3AD203B41FA5}">
                      <a16:colId xmlns:a16="http://schemas.microsoft.com/office/drawing/2014/main" val="1741422589"/>
                    </a:ext>
                  </a:extLst>
                </a:gridCol>
                <a:gridCol w="3505651">
                  <a:extLst>
                    <a:ext uri="{9D8B030D-6E8A-4147-A177-3AD203B41FA5}">
                      <a16:colId xmlns:a16="http://schemas.microsoft.com/office/drawing/2014/main" val="2547265698"/>
                    </a:ext>
                  </a:extLst>
                </a:gridCol>
                <a:gridCol w="3046531">
                  <a:extLst>
                    <a:ext uri="{9D8B030D-6E8A-4147-A177-3AD203B41FA5}">
                      <a16:colId xmlns:a16="http://schemas.microsoft.com/office/drawing/2014/main" val="3659935169"/>
                    </a:ext>
                  </a:extLst>
                </a:gridCol>
                <a:gridCol w="2344260">
                  <a:extLst>
                    <a:ext uri="{9D8B030D-6E8A-4147-A177-3AD203B41FA5}">
                      <a16:colId xmlns:a16="http://schemas.microsoft.com/office/drawing/2014/main" val="1280714855"/>
                    </a:ext>
                  </a:extLst>
                </a:gridCol>
              </a:tblGrid>
              <a:tr h="455468">
                <a:tc>
                  <a:txBody>
                    <a:bodyPr/>
                    <a:lstStyle/>
                    <a:p>
                      <a:r>
                        <a:rPr lang="en-US" sz="1300" b="0" cap="none" spc="0">
                          <a:solidFill>
                            <a:schemeClr val="bg1"/>
                          </a:solidFill>
                        </a:rPr>
                        <a:t>Title &amp; YOP</a:t>
                      </a:r>
                    </a:p>
                  </a:txBody>
                  <a:tcPr marL="83476" marR="83476" marT="83476" marB="41738" anchor="ctr">
                    <a:lnL w="12700" cmpd="sng">
                      <a:noFill/>
                    </a:lnL>
                    <a:lnR w="12700" cmpd="sng">
                      <a:noFill/>
                    </a:lnR>
                    <a:lnT w="19050" cap="flat" cmpd="sng" algn="ctr">
                      <a:noFill/>
                      <a:prstDash val="solid"/>
                    </a:lnT>
                    <a:lnB w="38100" cmpd="sng">
                      <a:noFill/>
                    </a:lnB>
                    <a:solidFill>
                      <a:schemeClr val="tx1"/>
                    </a:solidFill>
                  </a:tcPr>
                </a:tc>
                <a:tc>
                  <a:txBody>
                    <a:bodyPr/>
                    <a:lstStyle/>
                    <a:p>
                      <a:r>
                        <a:rPr lang="en-US" sz="1300" b="0" cap="none" spc="0">
                          <a:solidFill>
                            <a:schemeClr val="bg1"/>
                          </a:solidFill>
                        </a:rPr>
                        <a:t>Problem Addressed</a:t>
                      </a:r>
                    </a:p>
                  </a:txBody>
                  <a:tcPr marL="83476" marR="83476" marT="83476" marB="41738" anchor="ctr">
                    <a:lnL w="12700" cmpd="sng">
                      <a:noFill/>
                    </a:lnL>
                    <a:lnR w="12700" cmpd="sng">
                      <a:noFill/>
                    </a:lnR>
                    <a:lnT w="19050" cap="flat" cmpd="sng" algn="ctr">
                      <a:noFill/>
                      <a:prstDash val="solid"/>
                    </a:lnT>
                    <a:lnB w="38100" cmpd="sng">
                      <a:noFill/>
                    </a:lnB>
                    <a:solidFill>
                      <a:schemeClr val="tx1"/>
                    </a:solidFill>
                  </a:tcPr>
                </a:tc>
                <a:tc>
                  <a:txBody>
                    <a:bodyPr/>
                    <a:lstStyle/>
                    <a:p>
                      <a:r>
                        <a:rPr lang="en-US" sz="1300" b="0" cap="none" spc="0">
                          <a:solidFill>
                            <a:schemeClr val="bg1"/>
                          </a:solidFill>
                        </a:rPr>
                        <a:t>Solution Approach</a:t>
                      </a:r>
                    </a:p>
                  </a:txBody>
                  <a:tcPr marL="83476" marR="83476" marT="83476" marB="41738" anchor="ctr">
                    <a:lnL w="12700" cmpd="sng">
                      <a:noFill/>
                    </a:lnL>
                    <a:lnR w="12700" cmpd="sng">
                      <a:noFill/>
                    </a:lnR>
                    <a:lnT w="19050" cap="flat" cmpd="sng" algn="ctr">
                      <a:noFill/>
                      <a:prstDash val="solid"/>
                    </a:lnT>
                    <a:lnB w="38100" cmpd="sng">
                      <a:noFill/>
                    </a:lnB>
                    <a:solidFill>
                      <a:schemeClr val="tx1"/>
                    </a:solidFill>
                  </a:tcPr>
                </a:tc>
                <a:tc>
                  <a:txBody>
                    <a:bodyPr/>
                    <a:lstStyle/>
                    <a:p>
                      <a:r>
                        <a:rPr lang="en-US" sz="1300" b="0" cap="none" spc="0">
                          <a:solidFill>
                            <a:schemeClr val="bg1"/>
                          </a:solidFill>
                        </a:rPr>
                        <a:t>Research Gap</a:t>
                      </a:r>
                    </a:p>
                  </a:txBody>
                  <a:tcPr marL="83476" marR="83476" marT="83476" marB="41738"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1036934086"/>
                  </a:ext>
                </a:extLst>
              </a:tr>
              <a:tr h="1545341">
                <a:tc>
                  <a:txBody>
                    <a:bodyPr/>
                    <a:lstStyle/>
                    <a:p>
                      <a:pPr lvl="0">
                        <a:buNone/>
                      </a:pPr>
                      <a:r>
                        <a:rPr lang="en-US" sz="1100" b="0" i="0" u="none" strike="noStrike" cap="none" spc="0" noProof="0" dirty="0" err="1">
                          <a:solidFill>
                            <a:srgbClr val="000000"/>
                          </a:solidFill>
                        </a:rPr>
                        <a:t>TransGNN</a:t>
                      </a:r>
                      <a:r>
                        <a:rPr lang="en-US" sz="1100" b="0" i="0" u="none" strike="noStrike" cap="none" spc="0" noProof="0" dirty="0">
                          <a:solidFill>
                            <a:srgbClr val="000000"/>
                          </a:solidFill>
                        </a:rPr>
                        <a:t>: Global Contextual Representation via Graph-Transformer Fusion for HCC Prognosis in Whole-Slide Images (2024) </a:t>
                      </a:r>
                      <a:r>
                        <a:rPr lang="en-US" sz="1100" b="0" i="0" u="none" strike="noStrike" cap="none" spc="0" noProof="0" dirty="0">
                          <a:solidFill>
                            <a:srgbClr val="000000"/>
                          </a:solidFill>
                          <a:hlinkClick r:id="rId2"/>
                        </a:rPr>
                        <a:t>nih</a:t>
                      </a:r>
                      <a:endParaRPr lang="en-US" sz="1400" dirty="0"/>
                    </a:p>
                  </a:txBody>
                  <a:tcPr marL="83476" marR="83476" marT="83476" marB="41738">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lvl="0">
                        <a:buNone/>
                      </a:pPr>
                      <a:r>
                        <a:rPr lang="en-US" sz="1100" b="0" i="0" u="none" strike="noStrike" cap="none" spc="0" baseline="0" noProof="0" dirty="0">
                          <a:solidFill>
                            <a:srgbClr val="000000"/>
                          </a:solidFill>
                        </a:rPr>
                        <a:t>Local patch-</a:t>
                      </a:r>
                      <a:r>
                        <a:rPr lang="en-US" sz="1100" b="0" i="0" u="none" strike="noStrike" cap="none" spc="0" baseline="0" noProof="0">
                          <a:solidFill>
                            <a:srgbClr val="000000"/>
                          </a:solidFill>
                        </a:rPr>
                        <a:t>based </a:t>
                      </a:r>
                      <a:r>
                        <a:rPr lang="en-US" sz="1100" b="0" i="0" u="none" strike="noStrike" cap="none" spc="0" baseline="0" noProof="0" dirty="0">
                          <a:solidFill>
                            <a:srgbClr val="000000"/>
                          </a:solidFill>
                          <a:latin typeface="Aptos"/>
                        </a:rPr>
                        <a:t>Hybrid GNN + Transformer model — GNN builds WSI graph for structural features, Transformer learns global context via self-attention </a:t>
                      </a:r>
                      <a:r>
                        <a:rPr lang="en-US" sz="1100" b="0" i="0" u="none" strike="noStrike" cap="none" spc="0" baseline="0" noProof="0" dirty="0">
                          <a:solidFill>
                            <a:srgbClr val="000000"/>
                          </a:solidFill>
                          <a:latin typeface="Aptos"/>
                          <a:hlinkClick r:id="rId2"/>
                        </a:rPr>
                        <a:t>nih</a:t>
                      </a:r>
                      <a:r>
                        <a:rPr lang="en-US" sz="1100" b="0" i="0" u="none" strike="noStrike" cap="none" spc="0" baseline="0" noProof="0" dirty="0">
                          <a:solidFill>
                            <a:srgbClr val="000000"/>
                          </a:solidFill>
                        </a:rPr>
                        <a:t> methods miss global contextual features in HCC pathology images</a:t>
                      </a:r>
                      <a:endParaRPr lang="en-US" sz="1400" dirty="0"/>
                    </a:p>
                  </a:txBody>
                  <a:tcPr marL="83476" marR="83476" marT="83476" marB="41738">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lvl="0">
                        <a:buNone/>
                      </a:pPr>
                      <a:r>
                        <a:rPr lang="en-US" sz="1100" b="0" i="0" u="none" strike="noStrike" cap="none" spc="0" baseline="0" noProof="0">
                          <a:solidFill>
                            <a:srgbClr val="000000"/>
                          </a:solidFill>
                          <a:latin typeface="Aptos Display"/>
                        </a:rPr>
                        <a:t>Graph Transformer with directed structure encoding for GRN inference</a:t>
                      </a:r>
                      <a:endParaRPr lang="en-US" sz="1100">
                        <a:latin typeface="Aptos Display"/>
                      </a:endParaRPr>
                    </a:p>
                  </a:txBody>
                  <a:tcPr marL="83476" marR="83476" marT="83476" marB="41738">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lvl="0">
                        <a:buNone/>
                      </a:pPr>
                      <a:r>
                        <a:rPr lang="en-US" sz="1100" b="0" i="0" u="none" strike="noStrike" cap="none" spc="0" baseline="0" noProof="0" dirty="0">
                          <a:solidFill>
                            <a:srgbClr val="000000"/>
                          </a:solidFill>
                        </a:rPr>
                        <a:t>Based on histopathological images, not RNA-seq gene expression; does not use PPI networks or histone-modifier biology</a:t>
                      </a:r>
                      <a:endParaRPr lang="en-US" sz="1400" dirty="0"/>
                    </a:p>
                  </a:txBody>
                  <a:tcPr marL="83476" marR="83476" marT="83476" marB="41738">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2480324589"/>
                  </a:ext>
                </a:extLst>
              </a:tr>
              <a:tr h="1545341">
                <a:tc>
                  <a:txBody>
                    <a:bodyPr/>
                    <a:lstStyle/>
                    <a:p>
                      <a:pPr lvl="0">
                        <a:buNone/>
                      </a:pPr>
                      <a:r>
                        <a:rPr lang="en-US" sz="1100" b="0" i="0" u="none" strike="noStrike" cap="none" spc="0" baseline="0" noProof="0">
                          <a:solidFill>
                            <a:srgbClr val="000000"/>
                          </a:solidFill>
                        </a:rPr>
                        <a:t>Multimodal Graph-Based Model for Discrete-Time Survival Prediction in Liver Cancer (2025) </a:t>
                      </a:r>
                      <a:r>
                        <a:rPr lang="en-US" sz="1100" b="0" i="0" u="none" strike="noStrike" cap="none" spc="0" baseline="0" noProof="0" dirty="0">
                          <a:solidFill>
                            <a:srgbClr val="000000"/>
                          </a:solidFill>
                          <a:hlinkClick r:id="rId3"/>
                        </a:rPr>
                        <a:t>Frontiers</a:t>
                      </a:r>
                      <a:endParaRPr lang="en-US" sz="1400" dirty="0"/>
                    </a:p>
                  </a:txBody>
                  <a:tcPr marL="83476" marR="83476" marT="83476" marB="41738">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lvl="0">
                        <a:buNone/>
                      </a:pPr>
                      <a:r>
                        <a:rPr lang="en-US" sz="1100" b="0" i="0" u="none" strike="noStrike" cap="none" spc="0" baseline="0" noProof="0">
                          <a:solidFill>
                            <a:srgbClr val="000000"/>
                          </a:solidFill>
                        </a:rPr>
                        <a:t>HCC survival prediction requires integrating heterogeneous histopathological and clinical data</a:t>
                      </a:r>
                      <a:endParaRPr lang="en-US" sz="1400"/>
                    </a:p>
                  </a:txBody>
                  <a:tcPr marL="83476" marR="83476" marT="83476" marB="41738">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lvl="0">
                        <a:buNone/>
                      </a:pPr>
                      <a:r>
                        <a:rPr lang="en-US" sz="1100" b="0" i="0" u="none" strike="noStrike" cap="none" spc="0" baseline="0" noProof="0">
                          <a:solidFill>
                            <a:srgbClr val="000000"/>
                          </a:solidFill>
                        </a:rPr>
                        <a:t>Graph Attention Network aggregates WSI patch features; sentence transformer encodes clinical variables; fused via multimodal intermediate fusion on TCGA-LIHC </a:t>
                      </a:r>
                      <a:r>
                        <a:rPr lang="en-US" sz="1100" b="0" i="0" u="none" strike="noStrike" cap="none" spc="0" baseline="0" noProof="0" dirty="0">
                          <a:solidFill>
                            <a:srgbClr val="000000"/>
                          </a:solidFill>
                          <a:hlinkClick r:id="rId3"/>
                        </a:rPr>
                        <a:t>Frontiers</a:t>
                      </a:r>
                      <a:endParaRPr lang="en-US" sz="1400" dirty="0"/>
                    </a:p>
                  </a:txBody>
                  <a:tcPr marL="83476" marR="83476" marT="83476" marB="41738">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lvl="0">
                        <a:buNone/>
                      </a:pPr>
                      <a:r>
                        <a:rPr lang="en-US" sz="1100" b="0" i="0" u="none" strike="noStrike" cap="none" spc="0" baseline="0" noProof="0" dirty="0">
                          <a:solidFill>
                            <a:srgbClr val="000000"/>
                          </a:solidFill>
                        </a:rPr>
                        <a:t>Uses imaging and clinical data only; does not leverage gene expression, PPI interaction networks, or epigenetic gene families</a:t>
                      </a:r>
                      <a:endParaRPr lang="en-US" sz="1400" dirty="0"/>
                    </a:p>
                  </a:txBody>
                  <a:tcPr marL="83476" marR="83476" marT="83476" marB="41738">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1485423777"/>
                  </a:ext>
                </a:extLst>
              </a:tr>
              <a:tr h="1301340">
                <a:tc>
                  <a:txBody>
                    <a:bodyPr/>
                    <a:lstStyle/>
                    <a:p>
                      <a:pPr lvl="0">
                        <a:buNone/>
                      </a:pPr>
                      <a:r>
                        <a:rPr lang="en-US" sz="1100" b="0" i="0" u="none" strike="noStrike" cap="none" spc="0" baseline="0" noProof="0" dirty="0">
                          <a:solidFill>
                            <a:srgbClr val="000000"/>
                          </a:solidFill>
                        </a:rPr>
                        <a:t>Transformer-Based Deep Learning Survival Prediction in HCC via </a:t>
                      </a:r>
                      <a:r>
                        <a:rPr lang="en-US" sz="1100" b="0" i="0" u="none" strike="noStrike" cap="none" spc="0" baseline="0" noProof="0" dirty="0" err="1">
                          <a:solidFill>
                            <a:srgbClr val="000000"/>
                          </a:solidFill>
                        </a:rPr>
                        <a:t>cGAS</a:t>
                      </a:r>
                      <a:r>
                        <a:rPr lang="en-US" sz="1100" b="0" i="0" u="none" strike="noStrike" cap="none" spc="0" baseline="0" noProof="0" dirty="0">
                          <a:solidFill>
                            <a:srgbClr val="000000"/>
                          </a:solidFill>
                        </a:rPr>
                        <a:t>-STING Pathway (2025, Briefings in Bioinformatics) </a:t>
                      </a:r>
                      <a:r>
                        <a:rPr lang="en-US" sz="1100" b="0" i="0" u="none" strike="noStrike" cap="none" spc="0" baseline="0" noProof="0" dirty="0">
                          <a:solidFill>
                            <a:srgbClr val="000000"/>
                          </a:solidFill>
                          <a:hlinkClick r:id="rId4"/>
                        </a:rPr>
                        <a:t>nih</a:t>
                      </a:r>
                      <a:endParaRPr lang="en-US" sz="1400" dirty="0"/>
                    </a:p>
                  </a:txBody>
                  <a:tcPr marL="83476" marR="83476" marT="83476" marB="41738">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lvl="0">
                        <a:buNone/>
                      </a:pPr>
                      <a:r>
                        <a:rPr lang="en-US" sz="1100" b="0" i="0" u="none" strike="noStrike" cap="none" spc="0" baseline="0" noProof="0">
                          <a:solidFill>
                            <a:srgbClr val="000000"/>
                          </a:solidFill>
                        </a:rPr>
                        <a:t>Poor HCC survival prediction due to complex pathway interactions not captured by conventional models</a:t>
                      </a:r>
                      <a:endParaRPr lang="en-US" sz="1400"/>
                    </a:p>
                  </a:txBody>
                  <a:tcPr marL="83476" marR="83476" marT="83476" marB="41738">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lvl="0">
                        <a:buNone/>
                      </a:pPr>
                      <a:r>
                        <a:rPr lang="en-US" sz="1100" b="0" i="0" u="none" strike="noStrike" cap="none" spc="0" baseline="0" noProof="0" dirty="0">
                          <a:solidFill>
                            <a:srgbClr val="000000"/>
                          </a:solidFill>
                        </a:rPr>
                        <a:t>Transformer survival model preserving raw pathway structure of </a:t>
                      </a:r>
                      <a:r>
                        <a:rPr lang="en-US" sz="1100" b="0" i="0" u="none" strike="noStrike" cap="none" spc="0" baseline="0" noProof="0" dirty="0" err="1">
                          <a:solidFill>
                            <a:srgbClr val="000000"/>
                          </a:solidFill>
                        </a:rPr>
                        <a:t>cGAS</a:t>
                      </a:r>
                      <a:r>
                        <a:rPr lang="en-US" sz="1100" b="0" i="0" u="none" strike="noStrike" cap="none" spc="0" baseline="0" noProof="0" dirty="0">
                          <a:solidFill>
                            <a:srgbClr val="000000"/>
                          </a:solidFill>
                        </a:rPr>
                        <a:t>-STING and correlated pathways, tested on HCC and colon cancer </a:t>
                      </a:r>
                      <a:r>
                        <a:rPr lang="en-US" sz="1100" b="0" i="0" u="none" strike="noStrike" cap="none" spc="0" baseline="0" noProof="0" dirty="0">
                          <a:solidFill>
                            <a:srgbClr val="000000"/>
                          </a:solidFill>
                          <a:hlinkClick r:id="rId4"/>
                        </a:rPr>
                        <a:t>nih</a:t>
                      </a:r>
                      <a:endParaRPr lang="en-US" sz="1400" dirty="0"/>
                    </a:p>
                  </a:txBody>
                  <a:tcPr marL="83476" marR="83476" marT="83476" marB="41738">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lvl="0">
                        <a:buNone/>
                      </a:pPr>
                      <a:r>
                        <a:rPr lang="en-US" sz="1100" b="0" i="0" u="none" strike="noStrike" cap="none" spc="0" baseline="0" noProof="0" dirty="0">
                          <a:solidFill>
                            <a:srgbClr val="000000"/>
                          </a:solidFill>
                        </a:rPr>
                        <a:t>Pathway-based Transformer without graph structure; does not model gene-gene PPI interactions or histone-modifier epigenetic networks</a:t>
                      </a:r>
                      <a:endParaRPr lang="en-US" sz="1400" dirty="0"/>
                    </a:p>
                  </a:txBody>
                  <a:tcPr marL="83476" marR="83476" marT="83476" marB="41738">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extLst>
                  <a:ext uri="{0D108BD9-81ED-4DB2-BD59-A6C34878D82A}">
                    <a16:rowId xmlns:a16="http://schemas.microsoft.com/office/drawing/2014/main" val="489765390"/>
                  </a:ext>
                </a:extLst>
              </a:tr>
            </a:tbl>
          </a:graphicData>
        </a:graphic>
      </p:graphicFrame>
    </p:spTree>
    <p:extLst>
      <p:ext uri="{BB962C8B-B14F-4D97-AF65-F5344CB8AC3E}">
        <p14:creationId xmlns:p14="http://schemas.microsoft.com/office/powerpoint/2010/main" val="186519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7959B6-6F5B-AFF9-27A9-54DCDECECFCE}"/>
              </a:ext>
            </a:extLst>
          </p:cNvPr>
          <p:cNvSpPr>
            <a:spLocks noGrp="1"/>
          </p:cNvSpPr>
          <p:nvPr>
            <p:ph idx="1"/>
          </p:nvPr>
        </p:nvSpPr>
        <p:spPr/>
        <p:txBody>
          <a:bodyPr vert="horz" lIns="91440" tIns="45720" rIns="91440" bIns="45720" rtlCol="0" anchor="t">
            <a:normAutofit/>
          </a:bodyPr>
          <a:lstStyle/>
          <a:p>
            <a:pPr>
              <a:lnSpc>
                <a:spcPct val="150000"/>
              </a:lnSpc>
            </a:pPr>
            <a:r>
              <a:rPr lang="en-US" sz="1800">
                <a:latin typeface="Georgia"/>
              </a:rPr>
              <a:t>Reviewed graph-based HCC models use imaging or clinical data — not RNA-seq with PPI network structure</a:t>
            </a:r>
            <a:endParaRPr lang="en-US"/>
          </a:p>
          <a:p>
            <a:pPr>
              <a:lnSpc>
                <a:spcPct val="250000"/>
              </a:lnSpc>
            </a:pPr>
            <a:r>
              <a:rPr lang="en-US" sz="1800">
                <a:latin typeface="Georgia"/>
              </a:rPr>
              <a:t>Histone-modifier genes treated as isolated features — cooperative network interactions not modelled</a:t>
            </a:r>
            <a:endParaRPr lang="en-US"/>
          </a:p>
          <a:p>
            <a:pPr>
              <a:lnSpc>
                <a:spcPct val="250000"/>
              </a:lnSpc>
            </a:pPr>
            <a:r>
              <a:rPr lang="en-US" sz="1800">
                <a:latin typeface="Georgia"/>
              </a:rPr>
              <a:t>Reviewed models produce risk scores without biological interpretation of driving genes or pathways</a:t>
            </a:r>
            <a:endParaRPr lang="en-US"/>
          </a:p>
          <a:p>
            <a:pPr>
              <a:lnSpc>
                <a:spcPct val="250000"/>
              </a:lnSpc>
            </a:pPr>
            <a:endParaRPr lang="en-US" sz="1800" dirty="0"/>
          </a:p>
          <a:p>
            <a:pPr>
              <a:lnSpc>
                <a:spcPct val="250000"/>
              </a:lnSpc>
            </a:pPr>
            <a:endParaRPr lang="en-US"/>
          </a:p>
        </p:txBody>
      </p:sp>
      <p:sp>
        <p:nvSpPr>
          <p:cNvPr id="3" name="Title 2">
            <a:extLst>
              <a:ext uri="{FF2B5EF4-FFF2-40B4-BE49-F238E27FC236}">
                <a16:creationId xmlns:a16="http://schemas.microsoft.com/office/drawing/2014/main" id="{789373CE-3311-E5F9-9092-FAB750C8BB97}"/>
              </a:ext>
            </a:extLst>
          </p:cNvPr>
          <p:cNvSpPr>
            <a:spLocks noGrp="1"/>
          </p:cNvSpPr>
          <p:nvPr>
            <p:ph type="title"/>
          </p:nvPr>
        </p:nvSpPr>
        <p:spPr/>
        <p:txBody>
          <a:bodyPr/>
          <a:lstStyle/>
          <a:p>
            <a:r>
              <a:rPr lang="en-US" dirty="0">
                <a:latin typeface="Georgia"/>
              </a:rPr>
              <a:t>Research Gap</a:t>
            </a:r>
            <a:endParaRPr lang="en-US" dirty="0"/>
          </a:p>
        </p:txBody>
      </p:sp>
      <p:sp>
        <p:nvSpPr>
          <p:cNvPr id="4" name="Slide Number Placeholder 3">
            <a:extLst>
              <a:ext uri="{FF2B5EF4-FFF2-40B4-BE49-F238E27FC236}">
                <a16:creationId xmlns:a16="http://schemas.microsoft.com/office/drawing/2014/main" id="{DEF49893-5AEC-D134-8821-8562FF591F62}"/>
              </a:ext>
            </a:extLst>
          </p:cNvPr>
          <p:cNvSpPr>
            <a:spLocks noGrp="1"/>
          </p:cNvSpPr>
          <p:nvPr>
            <p:ph type="sldNum" sz="quarter" idx="12"/>
          </p:nvPr>
        </p:nvSpPr>
        <p:spPr/>
        <p:txBody>
          <a:bodyPr/>
          <a:lstStyle/>
          <a:p>
            <a:fld id="{330EA680-D336-4FF7-8B7A-9848BB0A1C32}" type="slidenum">
              <a:rPr lang="en-US" smtClean="0"/>
              <a:pPr/>
              <a:t>7</a:t>
            </a:fld>
            <a:endParaRPr lang="en-US"/>
          </a:p>
        </p:txBody>
      </p:sp>
    </p:spTree>
    <p:extLst>
      <p:ext uri="{BB962C8B-B14F-4D97-AF65-F5344CB8AC3E}">
        <p14:creationId xmlns:p14="http://schemas.microsoft.com/office/powerpoint/2010/main" val="1592142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82F10-EB28-AAE9-4A78-E82A83F8B3F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E7BC4E-9CAC-E539-1FD4-38CA5D7FB489}"/>
              </a:ext>
            </a:extLst>
          </p:cNvPr>
          <p:cNvSpPr>
            <a:spLocks noGrp="1"/>
          </p:cNvSpPr>
          <p:nvPr>
            <p:ph idx="1"/>
          </p:nvPr>
        </p:nvSpPr>
        <p:spPr/>
        <p:txBody>
          <a:bodyPr vert="horz" lIns="91440" tIns="45720" rIns="91440" bIns="45720" rtlCol="0" anchor="t">
            <a:normAutofit/>
          </a:bodyPr>
          <a:lstStyle/>
          <a:p>
            <a:pPr>
              <a:lnSpc>
                <a:spcPct val="150000"/>
              </a:lnSpc>
            </a:pPr>
            <a:r>
              <a:rPr lang="en-US" sz="1800" b="1">
                <a:latin typeface="Georgia"/>
              </a:rPr>
              <a:t>PPI-graph</a:t>
            </a:r>
            <a:r>
              <a:rPr lang="en-US" sz="1800">
                <a:latin typeface="Georgia"/>
              </a:rPr>
              <a:t>-integrated Graph Attention Network across 10 histone-modifier families for HCC survival prediction</a:t>
            </a:r>
            <a:endParaRPr lang="en-US"/>
          </a:p>
          <a:p>
            <a:pPr>
              <a:lnSpc>
                <a:spcPct val="150000"/>
              </a:lnSpc>
            </a:pPr>
            <a:r>
              <a:rPr lang="en-US" sz="1800">
                <a:latin typeface="Georgia"/>
              </a:rPr>
              <a:t>56-gene </a:t>
            </a:r>
            <a:r>
              <a:rPr lang="en-US" sz="1800" b="1">
                <a:latin typeface="Georgia"/>
              </a:rPr>
              <a:t>LASSO-Cox epigenetic signature </a:t>
            </a:r>
            <a:r>
              <a:rPr lang="en-US" sz="1800">
                <a:latin typeface="Georgia"/>
              </a:rPr>
              <a:t>validated as independent prognostic factor</a:t>
            </a:r>
            <a:endParaRPr lang="en-US"/>
          </a:p>
          <a:p>
            <a:pPr>
              <a:lnSpc>
                <a:spcPct val="150000"/>
              </a:lnSpc>
            </a:pPr>
            <a:r>
              <a:rPr lang="en-US" sz="1800" b="1">
                <a:latin typeface="Georgia"/>
              </a:rPr>
              <a:t>Risk stratification</a:t>
            </a:r>
            <a:r>
              <a:rPr lang="en-US" sz="1800">
                <a:latin typeface="Georgia"/>
              </a:rPr>
              <a:t> validated across 7 clinical subgroups including early-stage HCC</a:t>
            </a:r>
            <a:endParaRPr lang="en-US"/>
          </a:p>
          <a:p>
            <a:pPr>
              <a:lnSpc>
                <a:spcPct val="150000"/>
              </a:lnSpc>
            </a:pPr>
            <a:r>
              <a:rPr lang="en-US" sz="1800" b="1">
                <a:latin typeface="Georgia"/>
              </a:rPr>
              <a:t>Attention weight</a:t>
            </a:r>
            <a:r>
              <a:rPr lang="en-US" sz="1800">
                <a:latin typeface="Georgia"/>
              </a:rPr>
              <a:t> framework identifying gene-level drivers of patient similarity</a:t>
            </a:r>
            <a:endParaRPr lang="en-US"/>
          </a:p>
          <a:p>
            <a:pPr>
              <a:lnSpc>
                <a:spcPct val="150000"/>
              </a:lnSpc>
            </a:pPr>
            <a:r>
              <a:rPr lang="en-US" sz="1800">
                <a:latin typeface="Georgia"/>
              </a:rPr>
              <a:t>Triple convergence analysis on</a:t>
            </a:r>
            <a:r>
              <a:rPr lang="en-US" sz="1800" b="1">
                <a:latin typeface="Georgia"/>
              </a:rPr>
              <a:t> TP53</a:t>
            </a:r>
            <a:r>
              <a:rPr lang="en-US" sz="1800">
                <a:latin typeface="Georgia"/>
              </a:rPr>
              <a:t>-centred chromatin axis</a:t>
            </a:r>
            <a:endParaRPr lang="en-US"/>
          </a:p>
          <a:p>
            <a:pPr>
              <a:lnSpc>
                <a:spcPct val="150000"/>
              </a:lnSpc>
            </a:pPr>
            <a:endParaRPr lang="en-US" sz="1800" dirty="0"/>
          </a:p>
          <a:p>
            <a:pPr>
              <a:lnSpc>
                <a:spcPct val="150000"/>
              </a:lnSpc>
            </a:pPr>
            <a:endParaRPr lang="en-US" sz="1800" dirty="0"/>
          </a:p>
          <a:p>
            <a:pPr>
              <a:lnSpc>
                <a:spcPct val="150000"/>
              </a:lnSpc>
            </a:pPr>
            <a:endParaRPr lang="en-US" sz="1800" dirty="0"/>
          </a:p>
          <a:p>
            <a:pPr>
              <a:lnSpc>
                <a:spcPct val="150000"/>
              </a:lnSpc>
            </a:pPr>
            <a:endParaRPr lang="en-US" sz="1800" dirty="0"/>
          </a:p>
          <a:p>
            <a:pPr>
              <a:lnSpc>
                <a:spcPct val="150000"/>
              </a:lnSpc>
            </a:pPr>
            <a:endParaRPr lang="en-US" sz="1800" dirty="0"/>
          </a:p>
          <a:p>
            <a:endParaRPr lang="en-US" dirty="0"/>
          </a:p>
        </p:txBody>
      </p:sp>
      <p:sp>
        <p:nvSpPr>
          <p:cNvPr id="3" name="Title 2">
            <a:extLst>
              <a:ext uri="{FF2B5EF4-FFF2-40B4-BE49-F238E27FC236}">
                <a16:creationId xmlns:a16="http://schemas.microsoft.com/office/drawing/2014/main" id="{C7B5EA43-F948-AB7D-06FA-42C02FE26787}"/>
              </a:ext>
            </a:extLst>
          </p:cNvPr>
          <p:cNvSpPr>
            <a:spLocks noGrp="1"/>
          </p:cNvSpPr>
          <p:nvPr>
            <p:ph type="title"/>
          </p:nvPr>
        </p:nvSpPr>
        <p:spPr/>
        <p:txBody>
          <a:bodyPr/>
          <a:lstStyle/>
          <a:p>
            <a:r>
              <a:rPr lang="en-US">
                <a:latin typeface="Georgia"/>
              </a:rPr>
              <a:t>Research Contributions</a:t>
            </a:r>
            <a:endParaRPr lang="en-US"/>
          </a:p>
        </p:txBody>
      </p:sp>
      <p:sp>
        <p:nvSpPr>
          <p:cNvPr id="4" name="Slide Number Placeholder 3">
            <a:extLst>
              <a:ext uri="{FF2B5EF4-FFF2-40B4-BE49-F238E27FC236}">
                <a16:creationId xmlns:a16="http://schemas.microsoft.com/office/drawing/2014/main" id="{D24E440D-A7B7-7CB1-DA2D-9C1C165D1754}"/>
              </a:ext>
            </a:extLst>
          </p:cNvPr>
          <p:cNvSpPr>
            <a:spLocks noGrp="1"/>
          </p:cNvSpPr>
          <p:nvPr>
            <p:ph type="sldNum" sz="quarter" idx="12"/>
          </p:nvPr>
        </p:nvSpPr>
        <p:spPr/>
        <p:txBody>
          <a:bodyPr/>
          <a:lstStyle/>
          <a:p>
            <a:fld id="{330EA680-D336-4FF7-8B7A-9848BB0A1C32}" type="slidenum">
              <a:rPr lang="en-US" smtClean="0"/>
              <a:pPr/>
              <a:t>8</a:t>
            </a:fld>
            <a:endParaRPr lang="en-US"/>
          </a:p>
        </p:txBody>
      </p:sp>
    </p:spTree>
    <p:extLst>
      <p:ext uri="{BB962C8B-B14F-4D97-AF65-F5344CB8AC3E}">
        <p14:creationId xmlns:p14="http://schemas.microsoft.com/office/powerpoint/2010/main" val="2034729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07DD7C-4A60-7356-7A08-603B573171AA}"/>
              </a:ext>
            </a:extLst>
          </p:cNvPr>
          <p:cNvSpPr>
            <a:spLocks noGrp="1"/>
          </p:cNvSpPr>
          <p:nvPr>
            <p:ph idx="1"/>
          </p:nvPr>
        </p:nvSpPr>
        <p:spPr>
          <a:xfrm>
            <a:off x="313764" y="1148462"/>
            <a:ext cx="11881729" cy="2879818"/>
          </a:xfrm>
        </p:spPr>
        <p:txBody>
          <a:bodyPr vert="horz" lIns="91440" tIns="45720" rIns="91440" bIns="45720" rtlCol="0" anchor="t">
            <a:noAutofit/>
          </a:bodyPr>
          <a:lstStyle/>
          <a:p>
            <a:pPr marL="0" indent="0">
              <a:lnSpc>
                <a:spcPct val="100000"/>
              </a:lnSpc>
              <a:buNone/>
            </a:pPr>
            <a:r>
              <a:rPr lang="en-US" sz="1600">
                <a:latin typeface="Georgia"/>
              </a:rPr>
              <a:t>1</a:t>
            </a:r>
            <a:r>
              <a:rPr lang="en-US" sz="1600">
                <a:latin typeface="Georgia"/>
                <a:ea typeface="Calibri"/>
                <a:cs typeface="Calibri"/>
              </a:rPr>
              <a:t>.</a:t>
            </a:r>
            <a:r>
              <a:rPr lang="en-US" sz="1600" b="1">
                <a:latin typeface="Georgia"/>
                <a:ea typeface="Calibri"/>
                <a:cs typeface="Calibri"/>
              </a:rPr>
              <a:t> TCGA-LIHC</a:t>
            </a:r>
            <a:r>
              <a:rPr lang="en-US" sz="1600" b="1">
                <a:latin typeface="Georgia"/>
              </a:rPr>
              <a:t> (Liver Cancer Dataset)</a:t>
            </a:r>
            <a:endParaRPr lang="en-US" b="1"/>
          </a:p>
          <a:p>
            <a:pPr>
              <a:lnSpc>
                <a:spcPct val="100000"/>
              </a:lnSpc>
            </a:pPr>
            <a:r>
              <a:rPr lang="en-US" sz="1600">
                <a:latin typeface="Georgia"/>
              </a:rPr>
              <a:t>Cancer Type: </a:t>
            </a:r>
            <a:r>
              <a:rPr lang="en-US" sz="1600" b="1">
                <a:latin typeface="Georgia"/>
              </a:rPr>
              <a:t>Hepatocellular Carcinoma (HCC)</a:t>
            </a:r>
            <a:endParaRPr lang="en-US" sz="1600" b="1"/>
          </a:p>
          <a:p>
            <a:pPr>
              <a:lnSpc>
                <a:spcPct val="100000"/>
              </a:lnSpc>
            </a:pPr>
            <a:r>
              <a:rPr lang="en-US" sz="1600">
                <a:latin typeface="Georgia"/>
              </a:rPr>
              <a:t>Total RNA-seq samples: </a:t>
            </a:r>
            <a:r>
              <a:rPr lang="en-US" sz="1600" b="1">
                <a:latin typeface="Georgia"/>
              </a:rPr>
              <a:t>~424 patients</a:t>
            </a:r>
          </a:p>
          <a:p>
            <a:pPr>
              <a:lnSpc>
                <a:spcPct val="100000"/>
              </a:lnSpc>
            </a:pPr>
            <a:r>
              <a:rPr lang="en-US" sz="1600">
                <a:latin typeface="Georgia"/>
              </a:rPr>
              <a:t>Genes: </a:t>
            </a:r>
            <a:r>
              <a:rPr lang="en-US" sz="1600" b="1">
                <a:latin typeface="Georgia"/>
              </a:rPr>
              <a:t>60,661</a:t>
            </a:r>
          </a:p>
          <a:p>
            <a:pPr>
              <a:lnSpc>
                <a:spcPct val="100000"/>
              </a:lnSpc>
            </a:pPr>
            <a:r>
              <a:rPr lang="en-US" sz="1600">
                <a:latin typeface="Georgia"/>
              </a:rPr>
              <a:t>Provides: Gene expression profiles for model training</a:t>
            </a:r>
            <a:endParaRPr lang="en-US" sz="1600" dirty="0">
              <a:latin typeface="Georgia"/>
            </a:endParaRPr>
          </a:p>
          <a:p>
            <a:pPr>
              <a:lnSpc>
                <a:spcPct val="100000"/>
              </a:lnSpc>
            </a:pPr>
            <a:endParaRPr lang="en-US" sz="1600" dirty="0">
              <a:latin typeface="Georgia"/>
            </a:endParaRPr>
          </a:p>
          <a:p>
            <a:pPr marL="0" indent="0">
              <a:lnSpc>
                <a:spcPct val="100000"/>
              </a:lnSpc>
              <a:buNone/>
            </a:pPr>
            <a:r>
              <a:rPr lang="en-US" sz="1600" dirty="0">
                <a:latin typeface="Georgia"/>
              </a:rPr>
              <a:t>2. </a:t>
            </a:r>
            <a:r>
              <a:rPr lang="en-US" sz="1600" b="1" dirty="0">
                <a:latin typeface="Georgia"/>
              </a:rPr>
              <a:t>Survival Dataset (TCGA-</a:t>
            </a:r>
            <a:r>
              <a:rPr lang="en-US" sz="1600" b="1" dirty="0" err="1">
                <a:latin typeface="Georgia"/>
              </a:rPr>
              <a:t>LIHC.survival.tsv</a:t>
            </a:r>
            <a:r>
              <a:rPr lang="en-US" sz="1600" b="1" dirty="0">
                <a:latin typeface="Georgia"/>
              </a:rPr>
              <a:t>)</a:t>
            </a:r>
          </a:p>
          <a:p>
            <a:pPr>
              <a:lnSpc>
                <a:spcPct val="100000"/>
              </a:lnSpc>
            </a:pPr>
            <a:r>
              <a:rPr lang="en-US" sz="1600">
                <a:latin typeface="Georgia"/>
              </a:rPr>
              <a:t>Size: </a:t>
            </a:r>
            <a:r>
              <a:rPr lang="en-US" sz="1600" b="1">
                <a:latin typeface="Georgia"/>
              </a:rPr>
              <a:t>~424 patients × 3 variables</a:t>
            </a:r>
            <a:endParaRPr lang="en-US" sz="1600" b="1" dirty="0">
              <a:latin typeface="Georgia"/>
            </a:endParaRPr>
          </a:p>
          <a:p>
            <a:pPr>
              <a:lnSpc>
                <a:spcPct val="100000"/>
              </a:lnSpc>
            </a:pPr>
            <a:r>
              <a:rPr lang="en-US" sz="1600">
                <a:latin typeface="Georgia"/>
              </a:rPr>
              <a:t>Key Features:</a:t>
            </a:r>
          </a:p>
          <a:p>
            <a:pPr lvl="1">
              <a:lnSpc>
                <a:spcPct val="100000"/>
              </a:lnSpc>
              <a:buFont typeface="Wingdings" panose="020B0604020202020204" pitchFamily="34" charset="0"/>
              <a:buChar char="Ø"/>
            </a:pPr>
            <a:r>
              <a:rPr lang="en-US" sz="1400" dirty="0">
                <a:latin typeface="Georgia"/>
              </a:rPr>
              <a:t>Overall Survival Time (</a:t>
            </a:r>
            <a:r>
              <a:rPr lang="en-US" sz="1400" dirty="0" err="1">
                <a:latin typeface="Georgia"/>
              </a:rPr>
              <a:t>OS.time</a:t>
            </a:r>
            <a:r>
              <a:rPr lang="en-US" sz="1400" dirty="0">
                <a:latin typeface="Georgia"/>
              </a:rPr>
              <a:t>)</a:t>
            </a:r>
          </a:p>
          <a:p>
            <a:pPr lvl="1">
              <a:lnSpc>
                <a:spcPct val="100000"/>
              </a:lnSpc>
              <a:buFont typeface="Wingdings" panose="020B0604020202020204" pitchFamily="34" charset="0"/>
              <a:buChar char="Ø"/>
            </a:pPr>
            <a:r>
              <a:rPr lang="en-US" sz="1400" dirty="0">
                <a:latin typeface="Georgia"/>
              </a:rPr>
              <a:t>Survival Status (</a:t>
            </a:r>
            <a:r>
              <a:rPr lang="en-US" sz="1400" dirty="0" err="1">
                <a:latin typeface="Georgia"/>
              </a:rPr>
              <a:t>OS.event</a:t>
            </a:r>
            <a:r>
              <a:rPr lang="en-US" sz="1400" dirty="0">
                <a:latin typeface="Georgia"/>
              </a:rPr>
              <a:t>)</a:t>
            </a:r>
          </a:p>
          <a:p>
            <a:pPr>
              <a:lnSpc>
                <a:spcPct val="100000"/>
              </a:lnSpc>
            </a:pPr>
            <a:r>
              <a:rPr lang="en-US" sz="1600">
                <a:latin typeface="Georgia"/>
              </a:rPr>
              <a:t>Role: Survival analysis and model validation </a:t>
            </a:r>
            <a:endParaRPr lang="en-US" sz="1600" dirty="0">
              <a:latin typeface="Georgia"/>
            </a:endParaRPr>
          </a:p>
          <a:p>
            <a:pPr>
              <a:lnSpc>
                <a:spcPct val="150000"/>
              </a:lnSpc>
            </a:pPr>
            <a:endParaRPr lang="en-US" sz="1600" dirty="0">
              <a:latin typeface="Georgia"/>
            </a:endParaRPr>
          </a:p>
          <a:p>
            <a:endParaRPr lang="en-US" dirty="0"/>
          </a:p>
        </p:txBody>
      </p:sp>
      <p:sp>
        <p:nvSpPr>
          <p:cNvPr id="3" name="Title 2">
            <a:extLst>
              <a:ext uri="{FF2B5EF4-FFF2-40B4-BE49-F238E27FC236}">
                <a16:creationId xmlns:a16="http://schemas.microsoft.com/office/drawing/2014/main" id="{735C49D9-81D5-BABF-CE9E-B7620701F75F}"/>
              </a:ext>
            </a:extLst>
          </p:cNvPr>
          <p:cNvSpPr>
            <a:spLocks noGrp="1"/>
          </p:cNvSpPr>
          <p:nvPr>
            <p:ph type="title"/>
          </p:nvPr>
        </p:nvSpPr>
        <p:spPr/>
        <p:txBody>
          <a:bodyPr/>
          <a:lstStyle/>
          <a:p>
            <a:r>
              <a:rPr lang="en-US">
                <a:latin typeface="Georgia"/>
              </a:rPr>
              <a:t>Dataset Description</a:t>
            </a:r>
            <a:endParaRPr lang="en-US"/>
          </a:p>
        </p:txBody>
      </p:sp>
      <p:sp>
        <p:nvSpPr>
          <p:cNvPr id="4" name="Slide Number Placeholder 3">
            <a:extLst>
              <a:ext uri="{FF2B5EF4-FFF2-40B4-BE49-F238E27FC236}">
                <a16:creationId xmlns:a16="http://schemas.microsoft.com/office/drawing/2014/main" id="{A364E1A6-95AA-43EC-82B6-C5755C694310}"/>
              </a:ext>
            </a:extLst>
          </p:cNvPr>
          <p:cNvSpPr>
            <a:spLocks noGrp="1"/>
          </p:cNvSpPr>
          <p:nvPr>
            <p:ph type="sldNum" sz="quarter" idx="12"/>
          </p:nvPr>
        </p:nvSpPr>
        <p:spPr/>
        <p:txBody>
          <a:bodyPr/>
          <a:lstStyle/>
          <a:p>
            <a:fld id="{330EA680-D336-4FF7-8B7A-9848BB0A1C32}" type="slidenum">
              <a:rPr lang="en-US" smtClean="0"/>
              <a:pPr/>
              <a:t>9</a:t>
            </a:fld>
            <a:endParaRPr lang="en-US"/>
          </a:p>
        </p:txBody>
      </p:sp>
      <p:pic>
        <p:nvPicPr>
          <p:cNvPr id="5" name="Picture 4" descr="A black text on a white background&#10;&#10;AI-generated content may be incorrect.">
            <a:extLst>
              <a:ext uri="{FF2B5EF4-FFF2-40B4-BE49-F238E27FC236}">
                <a16:creationId xmlns:a16="http://schemas.microsoft.com/office/drawing/2014/main" id="{2E00E32C-7780-C3E7-37DE-06E9B2AD978D}"/>
              </a:ext>
            </a:extLst>
          </p:cNvPr>
          <p:cNvPicPr>
            <a:picLocks noChangeAspect="1"/>
          </p:cNvPicPr>
          <p:nvPr/>
        </p:nvPicPr>
        <p:blipFill>
          <a:blip r:embed="rId2"/>
          <a:stretch>
            <a:fillRect/>
          </a:stretch>
        </p:blipFill>
        <p:spPr>
          <a:xfrm>
            <a:off x="5851712" y="719138"/>
            <a:ext cx="3962400" cy="847725"/>
          </a:xfrm>
          <a:prstGeom prst="rect">
            <a:avLst/>
          </a:prstGeom>
        </p:spPr>
      </p:pic>
      <p:pic>
        <p:nvPicPr>
          <p:cNvPr id="6" name="Picture 5" descr="A black text with red text&#10;&#10;AI-generated content may be incorrect.">
            <a:extLst>
              <a:ext uri="{FF2B5EF4-FFF2-40B4-BE49-F238E27FC236}">
                <a16:creationId xmlns:a16="http://schemas.microsoft.com/office/drawing/2014/main" id="{3EA96615-8CBC-3D52-828C-AA0500D53F1C}"/>
              </a:ext>
            </a:extLst>
          </p:cNvPr>
          <p:cNvPicPr>
            <a:picLocks noChangeAspect="1"/>
          </p:cNvPicPr>
          <p:nvPr/>
        </p:nvPicPr>
        <p:blipFill>
          <a:blip r:embed="rId3"/>
          <a:stretch>
            <a:fillRect/>
          </a:stretch>
        </p:blipFill>
        <p:spPr>
          <a:xfrm>
            <a:off x="5549153" y="4080902"/>
            <a:ext cx="3962400" cy="847725"/>
          </a:xfrm>
          <a:prstGeom prst="rect">
            <a:avLst/>
          </a:prstGeom>
        </p:spPr>
      </p:pic>
    </p:spTree>
    <p:extLst>
      <p:ext uri="{BB962C8B-B14F-4D97-AF65-F5344CB8AC3E}">
        <p14:creationId xmlns:p14="http://schemas.microsoft.com/office/powerpoint/2010/main" val="2323883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5DC15-D803-7F88-45CA-541231E2D8A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5F11C5-30EA-1502-182B-38A0E339B5CD}"/>
              </a:ext>
            </a:extLst>
          </p:cNvPr>
          <p:cNvSpPr>
            <a:spLocks noGrp="1"/>
          </p:cNvSpPr>
          <p:nvPr>
            <p:ph idx="1"/>
          </p:nvPr>
        </p:nvSpPr>
        <p:spPr>
          <a:xfrm>
            <a:off x="291353" y="1148462"/>
            <a:ext cx="11198170" cy="5188229"/>
          </a:xfrm>
        </p:spPr>
        <p:txBody>
          <a:bodyPr vert="horz" lIns="91440" tIns="45720" rIns="91440" bIns="45720" rtlCol="0" anchor="t">
            <a:noAutofit/>
          </a:bodyPr>
          <a:lstStyle/>
          <a:p>
            <a:pPr marL="0" indent="0">
              <a:lnSpc>
                <a:spcPct val="100000"/>
              </a:lnSpc>
              <a:buNone/>
            </a:pPr>
            <a:r>
              <a:rPr lang="en-US" sz="1600">
                <a:latin typeface="Georgia"/>
                <a:ea typeface="Calibri"/>
                <a:cs typeface="Calibri"/>
              </a:rPr>
              <a:t>3. </a:t>
            </a:r>
            <a:r>
              <a:rPr lang="en-US" sz="1600" b="1">
                <a:latin typeface="Georgia"/>
                <a:ea typeface="Calibri"/>
                <a:cs typeface="Calibri"/>
              </a:rPr>
              <a:t>STRING Protein </a:t>
            </a:r>
            <a:r>
              <a:rPr lang="en-US" sz="1600" b="1">
                <a:latin typeface="Georgia"/>
              </a:rPr>
              <a:t>Interaction Dataset</a:t>
            </a:r>
            <a:endParaRPr lang="en-US" sz="1600" b="1"/>
          </a:p>
          <a:p>
            <a:pPr marL="0" indent="0">
              <a:lnSpc>
                <a:spcPct val="100000"/>
              </a:lnSpc>
              <a:buNone/>
            </a:pPr>
            <a:r>
              <a:rPr lang="en-US" sz="1600">
                <a:latin typeface="Georgia"/>
              </a:rPr>
              <a:t>Interactions: </a:t>
            </a:r>
            <a:r>
              <a:rPr lang="en-US" sz="1600" b="1">
                <a:latin typeface="Georgia"/>
              </a:rPr>
              <a:t>~13.7 million protein–protein interactions</a:t>
            </a:r>
            <a:endParaRPr lang="en-US" sz="1600" b="1"/>
          </a:p>
          <a:p>
            <a:pPr marL="0" indent="0">
              <a:lnSpc>
                <a:spcPct val="100000"/>
              </a:lnSpc>
              <a:buNone/>
            </a:pPr>
            <a:r>
              <a:rPr lang="en-US" sz="1600">
                <a:latin typeface="Georgia"/>
              </a:rPr>
              <a:t>Proteins: </a:t>
            </a:r>
            <a:r>
              <a:rPr lang="en-US" sz="1600" b="1">
                <a:latin typeface="Georgia"/>
              </a:rPr>
              <a:t>~19,699 human proteins</a:t>
            </a:r>
          </a:p>
          <a:p>
            <a:pPr marL="0" indent="0">
              <a:lnSpc>
                <a:spcPct val="100000"/>
              </a:lnSpc>
              <a:buNone/>
            </a:pPr>
            <a:r>
              <a:rPr lang="en-US" sz="1600" dirty="0">
                <a:latin typeface="Georgia"/>
              </a:rPr>
              <a:t>Key Columns: protein1, protein2, </a:t>
            </a:r>
            <a:r>
              <a:rPr lang="en-US" sz="1600" dirty="0" err="1">
                <a:latin typeface="Georgia"/>
              </a:rPr>
              <a:t>combined_score</a:t>
            </a:r>
            <a:endParaRPr lang="en-US" sz="1600" dirty="0">
              <a:latin typeface="Georgia"/>
            </a:endParaRPr>
          </a:p>
          <a:p>
            <a:pPr marL="0" indent="0">
              <a:lnSpc>
                <a:spcPct val="100000"/>
              </a:lnSpc>
              <a:buNone/>
            </a:pPr>
            <a:r>
              <a:rPr lang="en-US" sz="1600">
                <a:latin typeface="Georgia"/>
              </a:rPr>
              <a:t>Role: Provides graph structure (biological network) </a:t>
            </a:r>
            <a:endParaRPr lang="en-US" sz="1600" dirty="0">
              <a:latin typeface="Georgia"/>
            </a:endParaRPr>
          </a:p>
          <a:p>
            <a:pPr marL="0" indent="0">
              <a:lnSpc>
                <a:spcPct val="100000"/>
              </a:lnSpc>
              <a:buNone/>
            </a:pPr>
            <a:endParaRPr lang="en-US" sz="1600" dirty="0">
              <a:latin typeface="Georgia"/>
            </a:endParaRPr>
          </a:p>
          <a:p>
            <a:pPr marL="0" indent="0">
              <a:lnSpc>
                <a:spcPct val="100000"/>
              </a:lnSpc>
              <a:buNone/>
            </a:pPr>
            <a:r>
              <a:rPr lang="en-US" sz="1600">
                <a:latin typeface="Georgia"/>
              </a:rPr>
              <a:t>4. Supporting Datasets (for Data Integration):</a:t>
            </a:r>
          </a:p>
          <a:p>
            <a:pPr marL="0" indent="0">
              <a:lnSpc>
                <a:spcPct val="100000"/>
              </a:lnSpc>
              <a:buNone/>
            </a:pPr>
            <a:r>
              <a:rPr lang="en-US" sz="1600" dirty="0">
                <a:latin typeface="Georgia"/>
              </a:rPr>
              <a:t>GENCODE (</a:t>
            </a:r>
            <a:r>
              <a:rPr lang="en-US" sz="1600" dirty="0" err="1">
                <a:latin typeface="Georgia"/>
              </a:rPr>
              <a:t>gene_probemap</a:t>
            </a:r>
            <a:r>
              <a:rPr lang="en-US" sz="1600" dirty="0">
                <a:latin typeface="Georgia"/>
              </a:rPr>
              <a:t>): Converts ENSG IDs → gene symbols</a:t>
            </a:r>
          </a:p>
          <a:p>
            <a:pPr marL="0" indent="0">
              <a:lnSpc>
                <a:spcPct val="100000"/>
              </a:lnSpc>
              <a:buNone/>
            </a:pPr>
            <a:r>
              <a:rPr lang="en-US" sz="1600">
                <a:latin typeface="Georgia"/>
              </a:rPr>
              <a:t>STRING protein info: Converts protein IDs → gene names </a:t>
            </a:r>
          </a:p>
          <a:p>
            <a:pPr marL="0" indent="0">
              <a:lnSpc>
                <a:spcPct val="100000"/>
              </a:lnSpc>
              <a:buNone/>
            </a:pPr>
            <a:r>
              <a:rPr lang="en-US" sz="1600" dirty="0" err="1">
                <a:latin typeface="Georgia"/>
              </a:rPr>
              <a:t>EpiFactors</a:t>
            </a:r>
            <a:r>
              <a:rPr lang="en-US" sz="1600" dirty="0">
                <a:latin typeface="Georgia"/>
              </a:rPr>
              <a:t> v2.0: 801 histone-modifier proteins → Data integration and ID mapping</a:t>
            </a:r>
          </a:p>
          <a:p>
            <a:pPr marL="0" indent="0">
              <a:lnSpc>
                <a:spcPct val="100000"/>
              </a:lnSpc>
              <a:buNone/>
            </a:pPr>
            <a:br>
              <a:rPr lang="en-US" dirty="0"/>
            </a:br>
            <a:br>
              <a:rPr lang="en-US" sz="1600" dirty="0">
                <a:latin typeface="Georgia"/>
              </a:rPr>
            </a:br>
            <a:endParaRPr lang="en-US" sz="1600">
              <a:latin typeface="Georgia"/>
            </a:endParaRPr>
          </a:p>
          <a:p>
            <a:pPr marL="0" indent="0">
              <a:lnSpc>
                <a:spcPct val="100000"/>
              </a:lnSpc>
              <a:buNone/>
            </a:pPr>
            <a:endParaRPr lang="en-US" dirty="0"/>
          </a:p>
        </p:txBody>
      </p:sp>
      <p:sp>
        <p:nvSpPr>
          <p:cNvPr id="3" name="Title 2">
            <a:extLst>
              <a:ext uri="{FF2B5EF4-FFF2-40B4-BE49-F238E27FC236}">
                <a16:creationId xmlns:a16="http://schemas.microsoft.com/office/drawing/2014/main" id="{FA0F2EA8-D602-CB34-A5DD-91675105CFBA}"/>
              </a:ext>
            </a:extLst>
          </p:cNvPr>
          <p:cNvSpPr>
            <a:spLocks noGrp="1"/>
          </p:cNvSpPr>
          <p:nvPr>
            <p:ph type="title"/>
          </p:nvPr>
        </p:nvSpPr>
        <p:spPr/>
        <p:txBody>
          <a:bodyPr/>
          <a:lstStyle/>
          <a:p>
            <a:r>
              <a:rPr lang="en-US" dirty="0">
                <a:latin typeface="Georgia"/>
              </a:rPr>
              <a:t>Dataset Description(</a:t>
            </a:r>
            <a:r>
              <a:rPr lang="en-US" dirty="0" err="1">
                <a:latin typeface="Georgia"/>
              </a:rPr>
              <a:t>Contd</a:t>
            </a:r>
            <a:r>
              <a:rPr lang="en-US" dirty="0">
                <a:latin typeface="Georgia"/>
              </a:rPr>
              <a:t>)</a:t>
            </a:r>
            <a:endParaRPr lang="en-US" dirty="0"/>
          </a:p>
        </p:txBody>
      </p:sp>
      <p:sp>
        <p:nvSpPr>
          <p:cNvPr id="4" name="Slide Number Placeholder 3">
            <a:extLst>
              <a:ext uri="{FF2B5EF4-FFF2-40B4-BE49-F238E27FC236}">
                <a16:creationId xmlns:a16="http://schemas.microsoft.com/office/drawing/2014/main" id="{D830647D-16B5-E0B1-A884-5F6D78C4B418}"/>
              </a:ext>
            </a:extLst>
          </p:cNvPr>
          <p:cNvSpPr>
            <a:spLocks noGrp="1"/>
          </p:cNvSpPr>
          <p:nvPr>
            <p:ph type="sldNum" sz="quarter" idx="12"/>
          </p:nvPr>
        </p:nvSpPr>
        <p:spPr/>
        <p:txBody>
          <a:bodyPr/>
          <a:lstStyle/>
          <a:p>
            <a:fld id="{330EA680-D336-4FF7-8B7A-9848BB0A1C32}" type="slidenum">
              <a:rPr lang="en-US" smtClean="0"/>
              <a:pPr/>
              <a:t>10</a:t>
            </a:fld>
            <a:endParaRPr lang="en-US"/>
          </a:p>
        </p:txBody>
      </p:sp>
      <p:pic>
        <p:nvPicPr>
          <p:cNvPr id="7" name="Picture 6" descr="A black text with numbers&#10;&#10;AI-generated content may be incorrect.">
            <a:extLst>
              <a:ext uri="{FF2B5EF4-FFF2-40B4-BE49-F238E27FC236}">
                <a16:creationId xmlns:a16="http://schemas.microsoft.com/office/drawing/2014/main" id="{2C618315-AC04-AC1C-C2EA-C95DDDD58FF5}"/>
              </a:ext>
            </a:extLst>
          </p:cNvPr>
          <p:cNvPicPr>
            <a:picLocks noChangeAspect="1"/>
          </p:cNvPicPr>
          <p:nvPr/>
        </p:nvPicPr>
        <p:blipFill>
          <a:blip r:embed="rId2"/>
          <a:stretch>
            <a:fillRect/>
          </a:stretch>
        </p:blipFill>
        <p:spPr>
          <a:xfrm>
            <a:off x="6178924" y="1711979"/>
            <a:ext cx="5257800" cy="542925"/>
          </a:xfrm>
          <a:prstGeom prst="rect">
            <a:avLst/>
          </a:prstGeom>
        </p:spPr>
      </p:pic>
    </p:spTree>
    <p:extLst>
      <p:ext uri="{BB962C8B-B14F-4D97-AF65-F5344CB8AC3E}">
        <p14:creationId xmlns:p14="http://schemas.microsoft.com/office/powerpoint/2010/main" val="1292337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3AD2C-A64B-785D-3124-C1A154295E5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5704B5-32FB-38C3-09EC-8110E64CF9D5}"/>
              </a:ext>
            </a:extLst>
          </p:cNvPr>
          <p:cNvSpPr>
            <a:spLocks noGrp="1"/>
          </p:cNvSpPr>
          <p:nvPr>
            <p:ph idx="1"/>
          </p:nvPr>
        </p:nvSpPr>
        <p:spPr>
          <a:xfrm>
            <a:off x="291353" y="1148462"/>
            <a:ext cx="11198170" cy="5188229"/>
          </a:xfrm>
        </p:spPr>
        <p:txBody>
          <a:bodyPr vert="horz" lIns="91440" tIns="45720" rIns="91440" bIns="45720" rtlCol="0" anchor="t">
            <a:noAutofit/>
          </a:bodyPr>
          <a:lstStyle/>
          <a:p>
            <a:pPr marL="0" indent="0">
              <a:lnSpc>
                <a:spcPct val="150000"/>
              </a:lnSpc>
              <a:buNone/>
            </a:pPr>
            <a:r>
              <a:rPr lang="en-US" sz="1600">
                <a:latin typeface="Georgia"/>
              </a:rPr>
              <a:t>5. </a:t>
            </a:r>
            <a:r>
              <a:rPr lang="en-US" sz="1600" b="1">
                <a:latin typeface="Georgia"/>
              </a:rPr>
              <a:t>TCGA-LIHC Clinical</a:t>
            </a:r>
            <a:endParaRPr lang="en-US" b="1"/>
          </a:p>
          <a:p>
            <a:pPr marL="0" indent="0">
              <a:lnSpc>
                <a:spcPct val="150000"/>
              </a:lnSpc>
              <a:buNone/>
            </a:pPr>
            <a:r>
              <a:rPr lang="en-US" sz="1600">
                <a:latin typeface="Georgia"/>
              </a:rPr>
              <a:t>Size: </a:t>
            </a:r>
            <a:r>
              <a:rPr lang="en-US" sz="1600" b="1">
                <a:latin typeface="Georgia"/>
              </a:rPr>
              <a:t>424 patients × 25+ clinical variables</a:t>
            </a:r>
            <a:endParaRPr lang="en-US" b="1"/>
          </a:p>
          <a:p>
            <a:pPr marL="0" indent="0">
              <a:lnSpc>
                <a:spcPct val="150000"/>
              </a:lnSpc>
              <a:buNone/>
            </a:pPr>
            <a:r>
              <a:rPr lang="en-US" sz="1600" b="1">
                <a:latin typeface="Georgia"/>
              </a:rPr>
              <a:t>Key columns used: </a:t>
            </a:r>
            <a:endParaRPr lang="en-US" b="1"/>
          </a:p>
          <a:p>
            <a:pPr marL="0" indent="0">
              <a:lnSpc>
                <a:spcPct val="150000"/>
              </a:lnSpc>
              <a:buNone/>
            </a:pPr>
            <a:r>
              <a:rPr lang="en-US" sz="1600" dirty="0" err="1">
                <a:latin typeface="Georgia"/>
              </a:rPr>
              <a:t>ajcc_pathologic_stage</a:t>
            </a:r>
            <a:r>
              <a:rPr lang="en-US" sz="1600" dirty="0">
                <a:latin typeface="Georgia"/>
              </a:rPr>
              <a:t> — </a:t>
            </a:r>
            <a:r>
              <a:rPr lang="en-US" sz="1600" dirty="0" err="1">
                <a:latin typeface="Georgia"/>
              </a:rPr>
              <a:t>tumour</a:t>
            </a:r>
            <a:r>
              <a:rPr lang="en-US" sz="1600" dirty="0">
                <a:latin typeface="Georgia"/>
              </a:rPr>
              <a:t> stage (Stage I / II / III / IV)</a:t>
            </a:r>
            <a:endParaRPr lang="en-US" dirty="0"/>
          </a:p>
          <a:p>
            <a:pPr marL="0" indent="0">
              <a:lnSpc>
                <a:spcPct val="150000"/>
              </a:lnSpc>
              <a:buNone/>
            </a:pPr>
            <a:r>
              <a:rPr lang="en-US" sz="1600" dirty="0" err="1">
                <a:latin typeface="Georgia"/>
              </a:rPr>
              <a:t>age_at_index</a:t>
            </a:r>
            <a:r>
              <a:rPr lang="en-US" sz="1600" dirty="0">
                <a:latin typeface="Georgia"/>
              </a:rPr>
              <a:t> — patient age in days at diagnosis (converted to years by dividing by 365.25)</a:t>
            </a:r>
            <a:endParaRPr lang="en-US" dirty="0"/>
          </a:p>
          <a:p>
            <a:pPr marL="0" indent="0">
              <a:lnSpc>
                <a:spcPct val="150000"/>
              </a:lnSpc>
              <a:buNone/>
            </a:pPr>
            <a:r>
              <a:rPr lang="en-US" sz="1600" dirty="0" err="1">
                <a:latin typeface="Georgia"/>
              </a:rPr>
              <a:t>vital_status</a:t>
            </a:r>
            <a:r>
              <a:rPr lang="en-US" sz="1600" dirty="0">
                <a:latin typeface="Georgia"/>
              </a:rPr>
              <a:t> — alive or dead at last follow-up</a:t>
            </a:r>
            <a:endParaRPr lang="en-US" dirty="0"/>
          </a:p>
          <a:p>
            <a:pPr marL="0" indent="0">
              <a:lnSpc>
                <a:spcPct val="150000"/>
              </a:lnSpc>
              <a:buNone/>
            </a:pPr>
            <a:r>
              <a:rPr lang="en-US" sz="1600">
                <a:latin typeface="Georgia"/>
              </a:rPr>
              <a:t>gender — male or female (used in subgroup analysis)</a:t>
            </a:r>
            <a:endParaRPr lang="en-US"/>
          </a:p>
          <a:p>
            <a:pPr marL="0" indent="0">
              <a:lnSpc>
                <a:spcPct val="150000"/>
              </a:lnSpc>
              <a:buNone/>
            </a:pPr>
            <a:r>
              <a:rPr lang="en-US" sz="1600" dirty="0">
                <a:latin typeface="Georgia"/>
              </a:rPr>
              <a:t>Role: Multivariate Cox regression — confirms risk score is an independent prognostic factor after adjusting for </a:t>
            </a:r>
            <a:r>
              <a:rPr lang="en-US" sz="1600" dirty="0" err="1">
                <a:latin typeface="Georgia"/>
              </a:rPr>
              <a:t>tumour</a:t>
            </a:r>
            <a:r>
              <a:rPr lang="en-US" sz="1600" dirty="0">
                <a:latin typeface="Georgia"/>
              </a:rPr>
              <a:t> stage and age</a:t>
            </a:r>
            <a:endParaRPr lang="en-US" dirty="0"/>
          </a:p>
          <a:p>
            <a:pPr marL="0" indent="0">
              <a:lnSpc>
                <a:spcPct val="100000"/>
              </a:lnSpc>
              <a:buNone/>
            </a:pPr>
            <a:endParaRPr lang="en-US" sz="1600" dirty="0">
              <a:latin typeface="Georgia"/>
            </a:endParaRPr>
          </a:p>
          <a:p>
            <a:pPr marL="0" indent="0">
              <a:lnSpc>
                <a:spcPct val="100000"/>
              </a:lnSpc>
              <a:buNone/>
            </a:pPr>
            <a:br>
              <a:rPr lang="en-US" sz="1600" dirty="0">
                <a:latin typeface="Georgia"/>
              </a:rPr>
            </a:br>
            <a:endParaRPr lang="en-US" sz="1600" dirty="0">
              <a:latin typeface="Georgia"/>
            </a:endParaRPr>
          </a:p>
          <a:p>
            <a:pPr marL="0" indent="0">
              <a:lnSpc>
                <a:spcPct val="100000"/>
              </a:lnSpc>
              <a:buNone/>
            </a:pPr>
            <a:endParaRPr lang="en-US" dirty="0"/>
          </a:p>
        </p:txBody>
      </p:sp>
      <p:sp>
        <p:nvSpPr>
          <p:cNvPr id="3" name="Title 2">
            <a:extLst>
              <a:ext uri="{FF2B5EF4-FFF2-40B4-BE49-F238E27FC236}">
                <a16:creationId xmlns:a16="http://schemas.microsoft.com/office/drawing/2014/main" id="{AABBA8EF-01F4-004C-94FD-A152B9B36892}"/>
              </a:ext>
            </a:extLst>
          </p:cNvPr>
          <p:cNvSpPr>
            <a:spLocks noGrp="1"/>
          </p:cNvSpPr>
          <p:nvPr>
            <p:ph type="title"/>
          </p:nvPr>
        </p:nvSpPr>
        <p:spPr/>
        <p:txBody>
          <a:bodyPr/>
          <a:lstStyle/>
          <a:p>
            <a:r>
              <a:rPr lang="en-US" dirty="0">
                <a:latin typeface="Georgia"/>
              </a:rPr>
              <a:t>Dataset Description(</a:t>
            </a:r>
            <a:r>
              <a:rPr lang="en-US" dirty="0" err="1">
                <a:latin typeface="Georgia"/>
              </a:rPr>
              <a:t>Contd</a:t>
            </a:r>
            <a:r>
              <a:rPr lang="en-US" dirty="0">
                <a:latin typeface="Georgia"/>
              </a:rPr>
              <a:t>)</a:t>
            </a:r>
            <a:endParaRPr lang="en-US" dirty="0"/>
          </a:p>
        </p:txBody>
      </p:sp>
      <p:sp>
        <p:nvSpPr>
          <p:cNvPr id="4" name="Slide Number Placeholder 3">
            <a:extLst>
              <a:ext uri="{FF2B5EF4-FFF2-40B4-BE49-F238E27FC236}">
                <a16:creationId xmlns:a16="http://schemas.microsoft.com/office/drawing/2014/main" id="{38186CA8-3FC7-D770-C4C7-EBDB4B775F6E}"/>
              </a:ext>
            </a:extLst>
          </p:cNvPr>
          <p:cNvSpPr>
            <a:spLocks noGrp="1"/>
          </p:cNvSpPr>
          <p:nvPr>
            <p:ph type="sldNum" sz="quarter" idx="12"/>
          </p:nvPr>
        </p:nvSpPr>
        <p:spPr/>
        <p:txBody>
          <a:bodyPr/>
          <a:lstStyle/>
          <a:p>
            <a:fld id="{330EA680-D336-4FF7-8B7A-9848BB0A1C32}" type="slidenum">
              <a:rPr lang="en-US" smtClean="0"/>
              <a:pPr/>
              <a:t>11</a:t>
            </a:fld>
            <a:endParaRPr lang="en-US"/>
          </a:p>
        </p:txBody>
      </p:sp>
      <p:pic>
        <p:nvPicPr>
          <p:cNvPr id="6" name="Picture 5">
            <a:extLst>
              <a:ext uri="{FF2B5EF4-FFF2-40B4-BE49-F238E27FC236}">
                <a16:creationId xmlns:a16="http://schemas.microsoft.com/office/drawing/2014/main" id="{EB39A123-FA13-BB67-EDF2-C954C6D2B893}"/>
              </a:ext>
            </a:extLst>
          </p:cNvPr>
          <p:cNvPicPr>
            <a:picLocks noChangeAspect="1"/>
          </p:cNvPicPr>
          <p:nvPr/>
        </p:nvPicPr>
        <p:blipFill>
          <a:blip r:embed="rId2"/>
          <a:stretch>
            <a:fillRect/>
          </a:stretch>
        </p:blipFill>
        <p:spPr>
          <a:xfrm>
            <a:off x="6096000" y="1458194"/>
            <a:ext cx="5277419" cy="1331180"/>
          </a:xfrm>
          <a:prstGeom prst="rect">
            <a:avLst/>
          </a:prstGeom>
        </p:spPr>
      </p:pic>
    </p:spTree>
    <p:extLst>
      <p:ext uri="{BB962C8B-B14F-4D97-AF65-F5344CB8AC3E}">
        <p14:creationId xmlns:p14="http://schemas.microsoft.com/office/powerpoint/2010/main" val="837727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9D4F94-0214-BA0D-2D52-D9D88F5F25BB}"/>
              </a:ext>
            </a:extLst>
          </p:cNvPr>
          <p:cNvSpPr>
            <a:spLocks noGrp="1"/>
          </p:cNvSpPr>
          <p:nvPr>
            <p:ph type="title"/>
          </p:nvPr>
        </p:nvSpPr>
        <p:spPr/>
        <p:txBody>
          <a:bodyPr/>
          <a:lstStyle/>
          <a:p>
            <a:r>
              <a:rPr lang="en-US"/>
              <a:t>Design/Architecture</a:t>
            </a:r>
            <a:endParaRPr lang="en-US">
              <a:solidFill>
                <a:srgbClr val="000000"/>
              </a:solidFill>
            </a:endParaRPr>
          </a:p>
          <a:p>
            <a:endParaRPr lang="en-US" dirty="0"/>
          </a:p>
        </p:txBody>
      </p:sp>
      <p:sp>
        <p:nvSpPr>
          <p:cNvPr id="4" name="Slide Number Placeholder 3">
            <a:extLst>
              <a:ext uri="{FF2B5EF4-FFF2-40B4-BE49-F238E27FC236}">
                <a16:creationId xmlns:a16="http://schemas.microsoft.com/office/drawing/2014/main" id="{21DD055F-661B-A2AB-777A-1A26B3D116EC}"/>
              </a:ext>
            </a:extLst>
          </p:cNvPr>
          <p:cNvSpPr>
            <a:spLocks noGrp="1"/>
          </p:cNvSpPr>
          <p:nvPr>
            <p:ph type="sldNum" sz="quarter" idx="12"/>
          </p:nvPr>
        </p:nvSpPr>
        <p:spPr/>
        <p:txBody>
          <a:bodyPr/>
          <a:lstStyle/>
          <a:p>
            <a:fld id="{330EA680-D336-4FF7-8B7A-9848BB0A1C32}" type="slidenum">
              <a:rPr lang="en-US" smtClean="0"/>
              <a:pPr/>
              <a:t>12</a:t>
            </a:fld>
            <a:endParaRPr lang="en-US"/>
          </a:p>
        </p:txBody>
      </p:sp>
      <p:pic>
        <p:nvPicPr>
          <p:cNvPr id="15" name="Picture 14">
            <a:extLst>
              <a:ext uri="{FF2B5EF4-FFF2-40B4-BE49-F238E27FC236}">
                <a16:creationId xmlns:a16="http://schemas.microsoft.com/office/drawing/2014/main" id="{6358B62E-DEE9-4D3E-4DD4-F7683F99233C}"/>
              </a:ext>
            </a:extLst>
          </p:cNvPr>
          <p:cNvPicPr>
            <a:picLocks noChangeAspect="1"/>
          </p:cNvPicPr>
          <p:nvPr/>
        </p:nvPicPr>
        <p:blipFill>
          <a:blip r:embed="rId2"/>
          <a:srcRect/>
          <a:stretch>
            <a:fillRect/>
          </a:stretch>
        </p:blipFill>
        <p:spPr>
          <a:xfrm>
            <a:off x="134471" y="582014"/>
            <a:ext cx="11217089" cy="5705176"/>
          </a:xfrm>
          <a:prstGeom prst="rect">
            <a:avLst/>
          </a:prstGeom>
        </p:spPr>
      </p:pic>
    </p:spTree>
    <p:extLst>
      <p:ext uri="{BB962C8B-B14F-4D97-AF65-F5344CB8AC3E}">
        <p14:creationId xmlns:p14="http://schemas.microsoft.com/office/powerpoint/2010/main" val="285541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5650DF-10FC-E415-963C-2F089E310691}"/>
              </a:ext>
            </a:extLst>
          </p:cNvPr>
          <p:cNvSpPr>
            <a:spLocks noGrp="1"/>
          </p:cNvSpPr>
          <p:nvPr>
            <p:ph idx="1"/>
          </p:nvPr>
        </p:nvSpPr>
        <p:spPr/>
        <p:txBody>
          <a:bodyPr vert="horz" lIns="91440" tIns="45720" rIns="91440" bIns="45720" rtlCol="0" anchor="t">
            <a:normAutofit fontScale="92500" lnSpcReduction="10000"/>
          </a:bodyPr>
          <a:lstStyle/>
          <a:p>
            <a:pPr marL="0" indent="0">
              <a:lnSpc>
                <a:spcPct val="150000"/>
              </a:lnSpc>
              <a:buNone/>
            </a:pPr>
            <a:r>
              <a:rPr lang="en-US" sz="1600" b="1" dirty="0">
                <a:solidFill>
                  <a:srgbClr val="000000"/>
                </a:solidFill>
                <a:latin typeface="Georgia"/>
              </a:rPr>
              <a:t>1</a:t>
            </a:r>
            <a:r>
              <a:rPr lang="en-US" sz="1600" b="1" dirty="0">
                <a:latin typeface="Georgia"/>
              </a:rPr>
              <a:t>. Gene Set Construction</a:t>
            </a:r>
            <a:endParaRPr lang="en-US" sz="1600" dirty="0">
              <a:latin typeface="Georgia"/>
            </a:endParaRPr>
          </a:p>
          <a:p>
            <a:pPr>
              <a:lnSpc>
                <a:spcPct val="150000"/>
              </a:lnSpc>
              <a:buFont typeface="Arial" panose="020B0604020202020204" pitchFamily="34" charset="0"/>
              <a:buChar char="•"/>
            </a:pPr>
            <a:r>
              <a:rPr lang="en-US" sz="1600" dirty="0">
                <a:latin typeface="Georgia"/>
              </a:rPr>
              <a:t>Input: TCGA-LIHC RNA-seq (60,661 genes × 424 samples) · </a:t>
            </a:r>
            <a:r>
              <a:rPr lang="en-US" sz="1600" dirty="0" err="1">
                <a:latin typeface="Georgia"/>
              </a:rPr>
              <a:t>EpiFactors</a:t>
            </a:r>
            <a:r>
              <a:rPr lang="en-US" sz="1600" dirty="0">
                <a:latin typeface="Georgia"/>
              </a:rPr>
              <a:t> v2.0 · GENCODE gene map · STRING v12 PPI file</a:t>
            </a:r>
            <a:endParaRPr lang="en-US" dirty="0"/>
          </a:p>
          <a:p>
            <a:pPr>
              <a:lnSpc>
                <a:spcPct val="150000"/>
              </a:lnSpc>
              <a:buFont typeface="Arial" panose="020B0604020202020204" pitchFamily="34" charset="0"/>
              <a:buChar char="•"/>
            </a:pPr>
            <a:r>
              <a:rPr lang="en-US" sz="1600" dirty="0">
                <a:latin typeface="Georgia"/>
              </a:rPr>
              <a:t>Convert ENSG IDs → HGNC gene symbols using GENCODE probe map</a:t>
            </a:r>
            <a:endParaRPr lang="en-US" dirty="0"/>
          </a:p>
          <a:p>
            <a:pPr>
              <a:lnSpc>
                <a:spcPct val="150000"/>
              </a:lnSpc>
              <a:buFont typeface="Arial" panose="020B0604020202020204" pitchFamily="34" charset="0"/>
              <a:buChar char="•"/>
            </a:pPr>
            <a:r>
              <a:rPr lang="en-US" sz="1600" dirty="0">
                <a:latin typeface="Georgia"/>
              </a:rPr>
              <a:t>Remove duplicate and unmapped gene entries</a:t>
            </a:r>
            <a:endParaRPr lang="en-US" dirty="0"/>
          </a:p>
          <a:p>
            <a:pPr>
              <a:lnSpc>
                <a:spcPct val="150000"/>
              </a:lnSpc>
            </a:pPr>
            <a:r>
              <a:rPr lang="en-US" sz="1600" dirty="0">
                <a:latin typeface="Georgia"/>
              </a:rPr>
              <a:t>Filter </a:t>
            </a:r>
            <a:r>
              <a:rPr lang="en-US" sz="1600" dirty="0" err="1">
                <a:latin typeface="Georgia"/>
              </a:rPr>
              <a:t>EpiFactors</a:t>
            </a:r>
            <a:r>
              <a:rPr lang="en-US" sz="1600" dirty="0">
                <a:latin typeface="Georgia"/>
              </a:rPr>
              <a:t> to 10 enzyme families: HAT · HDAC · HMT · KDM · PRMT · SIRT · DNMT · TET · CBX · BRD</a:t>
            </a:r>
            <a:endParaRPr lang="en-US" dirty="0"/>
          </a:p>
          <a:p>
            <a:pPr>
              <a:lnSpc>
                <a:spcPct val="150000"/>
              </a:lnSpc>
            </a:pPr>
            <a:r>
              <a:rPr lang="en-US" sz="1600" dirty="0">
                <a:latin typeface="Georgia"/>
              </a:rPr>
              <a:t>Match filtered genes against TCGA expression matrix → </a:t>
            </a:r>
            <a:r>
              <a:rPr lang="en-US" sz="1600" b="1" dirty="0">
                <a:latin typeface="Georgia"/>
              </a:rPr>
              <a:t>114 genes · 365 </a:t>
            </a:r>
            <a:r>
              <a:rPr lang="en-US" sz="1600" b="1" dirty="0" err="1">
                <a:latin typeface="Georgia"/>
              </a:rPr>
              <a:t>tumour</a:t>
            </a:r>
            <a:r>
              <a:rPr lang="en-US" sz="1600" b="1" dirty="0">
                <a:latin typeface="Georgia"/>
              </a:rPr>
              <a:t> patients</a:t>
            </a:r>
            <a:endParaRPr lang="en-US" dirty="0"/>
          </a:p>
          <a:p>
            <a:pPr>
              <a:lnSpc>
                <a:spcPct val="150000"/>
              </a:lnSpc>
            </a:pPr>
            <a:r>
              <a:rPr lang="en-US" sz="1600" dirty="0">
                <a:latin typeface="Georgia"/>
              </a:rPr>
              <a:t>Convert STRING protein IDs → HGNC gene symbols using protein info mapping file</a:t>
            </a:r>
            <a:endParaRPr lang="en-US" dirty="0"/>
          </a:p>
          <a:p>
            <a:pPr>
              <a:lnSpc>
                <a:spcPct val="150000"/>
              </a:lnSpc>
            </a:pPr>
            <a:r>
              <a:rPr lang="en-US" sz="1600" dirty="0">
                <a:latin typeface="Georgia"/>
              </a:rPr>
              <a:t>Filter STRING: retain only histone-modifier gene pairs · confidence score ≥ 700</a:t>
            </a:r>
            <a:endParaRPr lang="en-US" dirty="0"/>
          </a:p>
          <a:p>
            <a:pPr>
              <a:lnSpc>
                <a:spcPct val="150000"/>
              </a:lnSpc>
            </a:pPr>
            <a:r>
              <a:rPr lang="en-US" sz="1600" dirty="0">
                <a:latin typeface="Georgia"/>
              </a:rPr>
              <a:t>Remove self-loops and duplicate edges</a:t>
            </a:r>
            <a:endParaRPr lang="en-US" dirty="0"/>
          </a:p>
          <a:p>
            <a:pPr>
              <a:lnSpc>
                <a:spcPct val="150000"/>
              </a:lnSpc>
            </a:pPr>
            <a:r>
              <a:rPr lang="en-US" sz="1600" b="1" dirty="0">
                <a:latin typeface="Georgia"/>
              </a:rPr>
              <a:t>PPI graph: 313 nodes · 4,278 edges</a:t>
            </a:r>
            <a:endParaRPr lang="en-US" dirty="0"/>
          </a:p>
          <a:p>
            <a:pPr>
              <a:lnSpc>
                <a:spcPct val="150000"/>
              </a:lnSpc>
            </a:pPr>
            <a:r>
              <a:rPr lang="en-US" sz="1600" dirty="0">
                <a:latin typeface="Georgia"/>
              </a:rPr>
              <a:t>Output: 114-gene expression matrix · PPI graph (313 nodes · 4,278 edges)</a:t>
            </a:r>
            <a:endParaRPr lang="en-US" dirty="0"/>
          </a:p>
          <a:p>
            <a:pPr marL="0" indent="0">
              <a:lnSpc>
                <a:spcPct val="150000"/>
              </a:lnSpc>
              <a:spcBef>
                <a:spcPct val="0"/>
              </a:spcBef>
              <a:buNone/>
            </a:pPr>
            <a:endParaRPr lang="en-US" sz="1600" b="1" dirty="0">
              <a:latin typeface="Georgia"/>
            </a:endParaRPr>
          </a:p>
          <a:p>
            <a:pPr>
              <a:lnSpc>
                <a:spcPct val="150000"/>
              </a:lnSpc>
            </a:pPr>
            <a:endParaRPr lang="en-US" sz="1600" b="1" dirty="0">
              <a:latin typeface="Georgia"/>
            </a:endParaRPr>
          </a:p>
        </p:txBody>
      </p:sp>
      <p:sp>
        <p:nvSpPr>
          <p:cNvPr id="3" name="Title 2">
            <a:extLst>
              <a:ext uri="{FF2B5EF4-FFF2-40B4-BE49-F238E27FC236}">
                <a16:creationId xmlns:a16="http://schemas.microsoft.com/office/drawing/2014/main" id="{9B2214DA-DF8B-CA24-ADF1-02AFE727693F}"/>
              </a:ext>
            </a:extLst>
          </p:cNvPr>
          <p:cNvSpPr>
            <a:spLocks noGrp="1"/>
          </p:cNvSpPr>
          <p:nvPr>
            <p:ph type="title"/>
          </p:nvPr>
        </p:nvSpPr>
        <p:spPr/>
        <p:txBody>
          <a:bodyPr/>
          <a:lstStyle/>
          <a:p>
            <a:r>
              <a:rPr lang="en-US">
                <a:latin typeface="Georgia"/>
              </a:rPr>
              <a:t>Methodology/Proposed Method</a:t>
            </a:r>
            <a:endParaRPr lang="en-US"/>
          </a:p>
        </p:txBody>
      </p:sp>
      <p:sp>
        <p:nvSpPr>
          <p:cNvPr id="4" name="Slide Number Placeholder 3">
            <a:extLst>
              <a:ext uri="{FF2B5EF4-FFF2-40B4-BE49-F238E27FC236}">
                <a16:creationId xmlns:a16="http://schemas.microsoft.com/office/drawing/2014/main" id="{0ECA63C6-92A3-D3F8-8394-B87DC3543888}"/>
              </a:ext>
            </a:extLst>
          </p:cNvPr>
          <p:cNvSpPr>
            <a:spLocks noGrp="1"/>
          </p:cNvSpPr>
          <p:nvPr>
            <p:ph type="sldNum" sz="quarter" idx="12"/>
          </p:nvPr>
        </p:nvSpPr>
        <p:spPr/>
        <p:txBody>
          <a:bodyPr/>
          <a:lstStyle/>
          <a:p>
            <a:fld id="{330EA680-D336-4FF7-8B7A-9848BB0A1C32}" type="slidenum">
              <a:rPr lang="en-US" smtClean="0"/>
              <a:pPr/>
              <a:t>13</a:t>
            </a:fld>
            <a:endParaRPr lang="en-US"/>
          </a:p>
        </p:txBody>
      </p:sp>
    </p:spTree>
    <p:extLst>
      <p:ext uri="{BB962C8B-B14F-4D97-AF65-F5344CB8AC3E}">
        <p14:creationId xmlns:p14="http://schemas.microsoft.com/office/powerpoint/2010/main" val="2396929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73DA17-9F24-0C52-B44F-4F570A68E2DE}"/>
              </a:ext>
            </a:extLst>
          </p:cNvPr>
          <p:cNvSpPr>
            <a:spLocks noGrp="1"/>
          </p:cNvSpPr>
          <p:nvPr>
            <p:ph idx="1"/>
          </p:nvPr>
        </p:nvSpPr>
        <p:spPr>
          <a:xfrm>
            <a:off x="571499" y="1137256"/>
            <a:ext cx="11209376" cy="5109787"/>
          </a:xfrm>
        </p:spPr>
        <p:txBody>
          <a:bodyPr vert="horz" lIns="91440" tIns="45720" rIns="91440" bIns="45720" rtlCol="0" anchor="t">
            <a:normAutofit/>
          </a:bodyPr>
          <a:lstStyle/>
          <a:p>
            <a:pPr marL="0" indent="0">
              <a:lnSpc>
                <a:spcPct val="150000"/>
              </a:lnSpc>
              <a:buNone/>
            </a:pPr>
            <a:r>
              <a:rPr lang="en-US" sz="1600" b="1" dirty="0">
                <a:latin typeface="Georgia"/>
              </a:rPr>
              <a:t>2. Graph Matrix Construction</a:t>
            </a:r>
            <a:endParaRPr lang="en-US" dirty="0"/>
          </a:p>
          <a:p>
            <a:pPr>
              <a:lnSpc>
                <a:spcPct val="150000"/>
              </a:lnSpc>
            </a:pPr>
            <a:r>
              <a:rPr lang="en-US" sz="1600" dirty="0">
                <a:latin typeface="Georgia"/>
              </a:rPr>
              <a:t>Input: PPI graph (313 nodes · 4,278 edges) · 114-gene expression matrix</a:t>
            </a:r>
            <a:endParaRPr lang="en-US" dirty="0"/>
          </a:p>
          <a:p>
            <a:pPr>
              <a:lnSpc>
                <a:spcPct val="150000"/>
              </a:lnSpc>
            </a:pPr>
            <a:r>
              <a:rPr lang="en-US" sz="1600" dirty="0">
                <a:latin typeface="Georgia"/>
              </a:rPr>
              <a:t>Construct adjacency matrix </a:t>
            </a:r>
            <a:r>
              <a:rPr lang="en-US" sz="1600" b="1" dirty="0">
                <a:latin typeface="Georgia"/>
              </a:rPr>
              <a:t>A ∈ ℝ³¹³ˣ³¹³</a:t>
            </a:r>
            <a:r>
              <a:rPr lang="en-US" sz="1600" dirty="0">
                <a:latin typeface="Georgia"/>
              </a:rPr>
              <a:t> from PPI graph edges</a:t>
            </a:r>
            <a:endParaRPr lang="en-US" dirty="0"/>
          </a:p>
          <a:p>
            <a:pPr>
              <a:lnSpc>
                <a:spcPct val="150000"/>
              </a:lnSpc>
            </a:pPr>
            <a:r>
              <a:rPr lang="en-US" sz="1600" dirty="0">
                <a:latin typeface="Georgia"/>
              </a:rPr>
              <a:t>Construct feature matrix </a:t>
            </a:r>
            <a:r>
              <a:rPr lang="en-US" sz="1600" b="1" dirty="0">
                <a:latin typeface="Georgia"/>
              </a:rPr>
              <a:t>X ∈ ℝ³¹³ˣ⁴²⁴</a:t>
            </a:r>
            <a:r>
              <a:rPr lang="en-US" sz="1600" dirty="0">
                <a:latin typeface="Georgia"/>
              </a:rPr>
              <a:t> from </a:t>
            </a:r>
            <a:r>
              <a:rPr lang="en-US" sz="1600" dirty="0" err="1">
                <a:latin typeface="Georgia"/>
              </a:rPr>
              <a:t>standardised</a:t>
            </a:r>
            <a:r>
              <a:rPr lang="en-US" sz="1600" dirty="0">
                <a:latin typeface="Georgia"/>
              </a:rPr>
              <a:t> TPM expression values</a:t>
            </a:r>
            <a:endParaRPr lang="en-US" dirty="0"/>
          </a:p>
          <a:p>
            <a:pPr>
              <a:lnSpc>
                <a:spcPct val="150000"/>
              </a:lnSpc>
              <a:buFont typeface="Arial" panose="020B0604020202020204" pitchFamily="34" charset="0"/>
              <a:buChar char="•"/>
            </a:pPr>
            <a:r>
              <a:rPr lang="en-US" sz="1600" dirty="0">
                <a:latin typeface="Georgia"/>
              </a:rPr>
              <a:t>Add self-loops and apply symmetric </a:t>
            </a:r>
            <a:r>
              <a:rPr lang="en-US" sz="1600" dirty="0" err="1">
                <a:latin typeface="Georgia"/>
              </a:rPr>
              <a:t>normalisation</a:t>
            </a:r>
            <a:r>
              <a:rPr lang="en-US" sz="1600" dirty="0">
                <a:latin typeface="Georgia"/>
              </a:rPr>
              <a:t>:</a:t>
            </a:r>
            <a:endParaRPr lang="en-US" dirty="0"/>
          </a:p>
          <a:p>
            <a:pPr>
              <a:lnSpc>
                <a:spcPct val="150000"/>
              </a:lnSpc>
              <a:buFont typeface="Arial" panose="020B0604020202020204" pitchFamily="34" charset="0"/>
              <a:buChar char="•"/>
            </a:pPr>
            <a:r>
              <a:rPr lang="en-US" sz="1600" b="1" dirty="0">
                <a:latin typeface="Georgia"/>
              </a:rPr>
              <a:t>Â = D⁻¹/²(A + I)D⁻¹/²</a:t>
            </a:r>
            <a:endParaRPr lang="en-US" dirty="0"/>
          </a:p>
          <a:p>
            <a:pPr>
              <a:lnSpc>
                <a:spcPct val="150000"/>
              </a:lnSpc>
              <a:buFont typeface="Arial" panose="020B0604020202020204" pitchFamily="34" charset="0"/>
              <a:buChar char="•"/>
            </a:pPr>
            <a:r>
              <a:rPr lang="en-US" sz="1600" dirty="0">
                <a:latin typeface="Georgia"/>
              </a:rPr>
              <a:t>Output: </a:t>
            </a:r>
            <a:r>
              <a:rPr lang="en-US" sz="1600" dirty="0" err="1">
                <a:latin typeface="Georgia"/>
              </a:rPr>
              <a:t>Normalised</a:t>
            </a:r>
            <a:r>
              <a:rPr lang="en-US" sz="1600" dirty="0">
                <a:latin typeface="Georgia"/>
              </a:rPr>
              <a:t> adjacency matrix Â · </a:t>
            </a:r>
            <a:r>
              <a:rPr lang="en-US" sz="1600" dirty="0" err="1">
                <a:latin typeface="Georgia"/>
              </a:rPr>
              <a:t>standardised</a:t>
            </a:r>
            <a:r>
              <a:rPr lang="en-US" sz="1600" dirty="0">
                <a:latin typeface="Georgia"/>
              </a:rPr>
              <a:t> feature matrix X</a:t>
            </a:r>
            <a:endParaRPr lang="en-US" dirty="0"/>
          </a:p>
          <a:p>
            <a:pPr marL="0" indent="0">
              <a:lnSpc>
                <a:spcPct val="110000"/>
              </a:lnSpc>
              <a:buNone/>
            </a:pPr>
            <a:endParaRPr lang="en-US" sz="1600" b="1" dirty="0"/>
          </a:p>
          <a:p>
            <a:pPr marL="0" indent="0">
              <a:lnSpc>
                <a:spcPct val="150000"/>
              </a:lnSpc>
              <a:buNone/>
            </a:pPr>
            <a:endParaRPr lang="en-US" sz="1600" dirty="0"/>
          </a:p>
          <a:p>
            <a:pPr>
              <a:lnSpc>
                <a:spcPct val="110000"/>
              </a:lnSpc>
            </a:pPr>
            <a:endParaRPr lang="en-US" sz="1600" dirty="0"/>
          </a:p>
          <a:p>
            <a:pPr>
              <a:lnSpc>
                <a:spcPct val="150000"/>
              </a:lnSpc>
            </a:pPr>
            <a:endParaRPr lang="en-US" sz="1600" dirty="0"/>
          </a:p>
          <a:p>
            <a:pPr>
              <a:lnSpc>
                <a:spcPct val="150000"/>
              </a:lnSpc>
            </a:pPr>
            <a:endParaRPr lang="en-US" sz="1800" dirty="0"/>
          </a:p>
          <a:p>
            <a:endParaRPr lang="en-US" sz="1400" dirty="0"/>
          </a:p>
        </p:txBody>
      </p:sp>
      <p:sp>
        <p:nvSpPr>
          <p:cNvPr id="3" name="Title 2">
            <a:extLst>
              <a:ext uri="{FF2B5EF4-FFF2-40B4-BE49-F238E27FC236}">
                <a16:creationId xmlns:a16="http://schemas.microsoft.com/office/drawing/2014/main" id="{758B02DA-45E5-843C-3211-BB53456A42C5}"/>
              </a:ext>
            </a:extLst>
          </p:cNvPr>
          <p:cNvSpPr>
            <a:spLocks noGrp="1"/>
          </p:cNvSpPr>
          <p:nvPr>
            <p:ph type="title"/>
          </p:nvPr>
        </p:nvSpPr>
        <p:spPr/>
        <p:txBody>
          <a:bodyPr/>
          <a:lstStyle/>
          <a:p>
            <a:r>
              <a:rPr lang="en-US" dirty="0">
                <a:latin typeface="Georgia"/>
              </a:rPr>
              <a:t>Methodology/Proposed Method(</a:t>
            </a:r>
            <a:r>
              <a:rPr lang="en-US" dirty="0" err="1">
                <a:latin typeface="Georgia"/>
              </a:rPr>
              <a:t>Cont</a:t>
            </a:r>
            <a:r>
              <a:rPr lang="en-US" dirty="0">
                <a:latin typeface="Georgia"/>
              </a:rPr>
              <a:t>)</a:t>
            </a:r>
            <a:endParaRPr lang="en-US" dirty="0"/>
          </a:p>
        </p:txBody>
      </p:sp>
      <p:sp>
        <p:nvSpPr>
          <p:cNvPr id="4" name="Slide Number Placeholder 3">
            <a:extLst>
              <a:ext uri="{FF2B5EF4-FFF2-40B4-BE49-F238E27FC236}">
                <a16:creationId xmlns:a16="http://schemas.microsoft.com/office/drawing/2014/main" id="{B4A2D99F-3408-09D6-927F-DF69EE4E4CB9}"/>
              </a:ext>
            </a:extLst>
          </p:cNvPr>
          <p:cNvSpPr>
            <a:spLocks noGrp="1"/>
          </p:cNvSpPr>
          <p:nvPr>
            <p:ph type="sldNum" sz="quarter" idx="12"/>
          </p:nvPr>
        </p:nvSpPr>
        <p:spPr/>
        <p:txBody>
          <a:bodyPr/>
          <a:lstStyle/>
          <a:p>
            <a:fld id="{330EA680-D336-4FF7-8B7A-9848BB0A1C32}" type="slidenum">
              <a:rPr lang="en-US" smtClean="0"/>
              <a:pPr/>
              <a:t>14</a:t>
            </a:fld>
            <a:endParaRPr lang="en-US"/>
          </a:p>
        </p:txBody>
      </p:sp>
    </p:spTree>
    <p:extLst>
      <p:ext uri="{BB962C8B-B14F-4D97-AF65-F5344CB8AC3E}">
        <p14:creationId xmlns:p14="http://schemas.microsoft.com/office/powerpoint/2010/main" val="1684598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F7B4F-FA95-8351-65CA-E2D09FA5ED9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11E45A-1F50-E1CC-29A8-A4C95C0C0CAC}"/>
              </a:ext>
            </a:extLst>
          </p:cNvPr>
          <p:cNvSpPr>
            <a:spLocks noGrp="1"/>
          </p:cNvSpPr>
          <p:nvPr>
            <p:ph idx="1"/>
          </p:nvPr>
        </p:nvSpPr>
        <p:spPr>
          <a:xfrm>
            <a:off x="571499" y="1137256"/>
            <a:ext cx="11209376" cy="5109787"/>
          </a:xfrm>
        </p:spPr>
        <p:txBody>
          <a:bodyPr vert="horz" lIns="91440" tIns="45720" rIns="91440" bIns="45720" rtlCol="0" anchor="t">
            <a:normAutofit/>
          </a:bodyPr>
          <a:lstStyle/>
          <a:p>
            <a:pPr marL="0" indent="0">
              <a:lnSpc>
                <a:spcPct val="150000"/>
              </a:lnSpc>
              <a:buNone/>
            </a:pPr>
            <a:r>
              <a:rPr lang="en-US" sz="1600" b="1" dirty="0">
                <a:latin typeface="Georgia"/>
              </a:rPr>
              <a:t>3. Hub Gene Identification and Cox Screening</a:t>
            </a:r>
            <a:endParaRPr lang="en-US" dirty="0"/>
          </a:p>
          <a:p>
            <a:pPr>
              <a:lnSpc>
                <a:spcPct val="150000"/>
              </a:lnSpc>
              <a:buFont typeface="Arial" panose="020B0604020202020204" pitchFamily="34" charset="0"/>
              <a:buChar char="•"/>
            </a:pPr>
            <a:r>
              <a:rPr lang="en-US" sz="1600" dirty="0">
                <a:latin typeface="Georgia"/>
              </a:rPr>
              <a:t>Input: </a:t>
            </a:r>
            <a:r>
              <a:rPr lang="en-US" sz="1600" dirty="0" err="1">
                <a:latin typeface="Georgia"/>
              </a:rPr>
              <a:t>Normalised</a:t>
            </a:r>
            <a:r>
              <a:rPr lang="en-US" sz="1600" dirty="0">
                <a:latin typeface="Georgia"/>
              </a:rPr>
              <a:t> PPI graph G = (V, E) · |V| = 313 · survival data (</a:t>
            </a:r>
            <a:r>
              <a:rPr lang="en-US" sz="1600" dirty="0" err="1">
                <a:latin typeface="Georgia"/>
              </a:rPr>
              <a:t>OS.time</a:t>
            </a:r>
            <a:r>
              <a:rPr lang="en-US" sz="1600" dirty="0">
                <a:latin typeface="Georgia"/>
              </a:rPr>
              <a:t> · OS)</a:t>
            </a:r>
            <a:endParaRPr lang="en-US" dirty="0"/>
          </a:p>
          <a:p>
            <a:pPr>
              <a:lnSpc>
                <a:spcPct val="150000"/>
              </a:lnSpc>
              <a:buFont typeface="Arial" panose="020B0604020202020204" pitchFamily="34" charset="0"/>
              <a:buChar char="•"/>
            </a:pPr>
            <a:r>
              <a:rPr lang="en-US" sz="1600" dirty="0">
                <a:latin typeface="Georgia"/>
              </a:rPr>
              <a:t>Compute four centrality metrics per gene g: </a:t>
            </a:r>
            <a:endParaRPr lang="en-US" dirty="0"/>
          </a:p>
          <a:p>
            <a:pPr marL="971550" lvl="1" indent="-285750">
              <a:lnSpc>
                <a:spcPct val="150000"/>
              </a:lnSpc>
              <a:buFont typeface="Arial" panose="020B0604020202020204" pitchFamily="34" charset="0"/>
              <a:buChar char="•"/>
            </a:pPr>
            <a:r>
              <a:rPr lang="en-US" sz="1600" dirty="0">
                <a:latin typeface="Georgia"/>
              </a:rPr>
              <a:t>Degree </a:t>
            </a:r>
            <a:r>
              <a:rPr lang="en-US" sz="1600" dirty="0" err="1">
                <a:latin typeface="Georgia"/>
              </a:rPr>
              <a:t>d_g</a:t>
            </a:r>
            <a:r>
              <a:rPr lang="en-US" sz="1600" dirty="0">
                <a:latin typeface="Georgia"/>
              </a:rPr>
              <a:t> · Betweenness </a:t>
            </a:r>
            <a:r>
              <a:rPr lang="en-US" sz="1600" dirty="0" err="1">
                <a:latin typeface="Georgia"/>
              </a:rPr>
              <a:t>b_g</a:t>
            </a:r>
            <a:r>
              <a:rPr lang="en-US" sz="1600" dirty="0">
                <a:latin typeface="Georgia"/>
              </a:rPr>
              <a:t> · Eigenvector </a:t>
            </a:r>
            <a:r>
              <a:rPr lang="en-US" sz="1600" dirty="0" err="1">
                <a:latin typeface="Georgia"/>
              </a:rPr>
              <a:t>e_g</a:t>
            </a:r>
            <a:r>
              <a:rPr lang="en-US" sz="1600" dirty="0">
                <a:latin typeface="Georgia"/>
              </a:rPr>
              <a:t> · Weighted degree </a:t>
            </a:r>
            <a:r>
              <a:rPr lang="en-US" sz="1600" dirty="0" err="1">
                <a:latin typeface="Georgia"/>
              </a:rPr>
              <a:t>w_g</a:t>
            </a:r>
            <a:endParaRPr lang="en-US" dirty="0" err="1"/>
          </a:p>
          <a:p>
            <a:pPr>
              <a:lnSpc>
                <a:spcPct val="150000"/>
              </a:lnSpc>
            </a:pPr>
            <a:r>
              <a:rPr lang="en-US" sz="1600" dirty="0" err="1">
                <a:latin typeface="Georgia"/>
              </a:rPr>
              <a:t>Normalise</a:t>
            </a:r>
            <a:r>
              <a:rPr lang="en-US" sz="1600" dirty="0">
                <a:latin typeface="Georgia"/>
              </a:rPr>
              <a:t> each metric to [0, 1]</a:t>
            </a:r>
            <a:endParaRPr lang="en-US" dirty="0"/>
          </a:p>
          <a:p>
            <a:pPr>
              <a:lnSpc>
                <a:spcPct val="150000"/>
              </a:lnSpc>
              <a:buFont typeface="Arial" panose="020B0604020202020204" pitchFamily="34" charset="0"/>
              <a:buChar char="•"/>
            </a:pPr>
            <a:r>
              <a:rPr lang="en-US" sz="1600" b="1" dirty="0" err="1">
                <a:latin typeface="Georgia"/>
              </a:rPr>
              <a:t>hub_score_g</a:t>
            </a:r>
            <a:r>
              <a:rPr lang="en-US" sz="1600" b="1" dirty="0">
                <a:latin typeface="Georgia"/>
              </a:rPr>
              <a:t> = (</a:t>
            </a:r>
            <a:r>
              <a:rPr lang="en-US" sz="1600" b="1" dirty="0" err="1">
                <a:latin typeface="Georgia"/>
              </a:rPr>
              <a:t>d_g</a:t>
            </a:r>
            <a:r>
              <a:rPr lang="en-US" sz="1600" b="1" dirty="0">
                <a:latin typeface="Georgia"/>
              </a:rPr>
              <a:t> + </a:t>
            </a:r>
            <a:r>
              <a:rPr lang="en-US" sz="1600" b="1" dirty="0" err="1">
                <a:latin typeface="Georgia"/>
              </a:rPr>
              <a:t>b_g</a:t>
            </a:r>
            <a:r>
              <a:rPr lang="en-US" sz="1600" b="1" dirty="0">
                <a:latin typeface="Georgia"/>
              </a:rPr>
              <a:t> + </a:t>
            </a:r>
            <a:r>
              <a:rPr lang="en-US" sz="1600" b="1" dirty="0" err="1">
                <a:latin typeface="Georgia"/>
              </a:rPr>
              <a:t>e_g</a:t>
            </a:r>
            <a:r>
              <a:rPr lang="en-US" sz="1600" b="1" dirty="0">
                <a:latin typeface="Georgia"/>
              </a:rPr>
              <a:t> + </a:t>
            </a:r>
            <a:r>
              <a:rPr lang="en-US" sz="1600" b="1" dirty="0" err="1">
                <a:latin typeface="Georgia"/>
              </a:rPr>
              <a:t>w_g</a:t>
            </a:r>
            <a:r>
              <a:rPr lang="en-US" sz="1600" b="1" dirty="0">
                <a:latin typeface="Georgia"/>
              </a:rPr>
              <a:t>) / 4</a:t>
            </a:r>
            <a:endParaRPr lang="en-US" dirty="0"/>
          </a:p>
          <a:p>
            <a:pPr>
              <a:lnSpc>
                <a:spcPct val="150000"/>
              </a:lnSpc>
              <a:buFont typeface="Arial" panose="020B0604020202020204" pitchFamily="34" charset="0"/>
              <a:buChar char="•"/>
            </a:pPr>
            <a:r>
              <a:rPr lang="en-US" sz="1600" dirty="0">
                <a:latin typeface="Georgia"/>
              </a:rPr>
              <a:t>Rank 313 genes · Top hub: TP53 (score = 0.994)</a:t>
            </a:r>
            <a:endParaRPr lang="en-US" dirty="0"/>
          </a:p>
          <a:p>
            <a:pPr>
              <a:lnSpc>
                <a:spcPct val="150000"/>
              </a:lnSpc>
              <a:buFont typeface="Arial" panose="020B0604020202020204" pitchFamily="34" charset="0"/>
              <a:buChar char="•"/>
            </a:pPr>
            <a:r>
              <a:rPr lang="en-US" sz="1600" dirty="0">
                <a:latin typeface="Georgia"/>
              </a:rPr>
              <a:t>Inter-family: HAT↔HDAC 98 edges · HMT↔KDM 80 edges · HDAC↔SIRT 38 edges</a:t>
            </a:r>
            <a:endParaRPr lang="en-US" dirty="0"/>
          </a:p>
          <a:p>
            <a:pPr>
              <a:lnSpc>
                <a:spcPct val="150000"/>
              </a:lnSpc>
              <a:buFont typeface="Arial" panose="020B0604020202020204" pitchFamily="34" charset="0"/>
              <a:buChar char="•"/>
            </a:pPr>
            <a:r>
              <a:rPr lang="en-US" sz="1600" dirty="0">
                <a:latin typeface="Georgia"/>
              </a:rPr>
              <a:t>Univariate Cox per gene: HDAC2 p = 0.00012 · HDAC1 · KDM1A p &lt; 0.01</a:t>
            </a:r>
            <a:endParaRPr lang="en-US" dirty="0"/>
          </a:p>
          <a:p>
            <a:pPr>
              <a:lnSpc>
                <a:spcPct val="150000"/>
              </a:lnSpc>
              <a:buFont typeface="Arial" panose="020B0604020202020204" pitchFamily="34" charset="0"/>
              <a:buChar char="•"/>
            </a:pPr>
            <a:r>
              <a:rPr lang="en-US" sz="1600" dirty="0">
                <a:latin typeface="Georgia"/>
              </a:rPr>
              <a:t>Output: 94 hub gene candidates · hub scores · inter-family edge statistics</a:t>
            </a:r>
            <a:endParaRPr lang="en-US" dirty="0"/>
          </a:p>
          <a:p>
            <a:pPr>
              <a:lnSpc>
                <a:spcPct val="150000"/>
              </a:lnSpc>
              <a:buNone/>
            </a:pPr>
            <a:endParaRPr lang="en-US" sz="1600" b="1" dirty="0"/>
          </a:p>
          <a:p>
            <a:pPr>
              <a:buFont typeface="Arial"/>
              <a:buChar char="•"/>
            </a:pPr>
            <a:endParaRPr lang="en-US" sz="1600" dirty="0">
              <a:latin typeface="Georgia"/>
            </a:endParaRPr>
          </a:p>
          <a:p>
            <a:pPr>
              <a:lnSpc>
                <a:spcPct val="150000"/>
              </a:lnSpc>
              <a:buNone/>
            </a:pPr>
            <a:endParaRPr lang="en-US" sz="1600" b="1" dirty="0">
              <a:latin typeface="Georgia"/>
            </a:endParaRPr>
          </a:p>
          <a:p>
            <a:pPr marL="0" indent="0">
              <a:lnSpc>
                <a:spcPct val="110000"/>
              </a:lnSpc>
              <a:buNone/>
            </a:pPr>
            <a:endParaRPr lang="en-US" sz="1600" b="1" dirty="0"/>
          </a:p>
          <a:p>
            <a:pPr>
              <a:lnSpc>
                <a:spcPct val="140000"/>
              </a:lnSpc>
            </a:pPr>
            <a:endParaRPr lang="en-US" sz="1600" dirty="0"/>
          </a:p>
          <a:p>
            <a:pPr>
              <a:lnSpc>
                <a:spcPct val="150000"/>
              </a:lnSpc>
            </a:pPr>
            <a:endParaRPr lang="en-US" sz="1600" dirty="0"/>
          </a:p>
          <a:p>
            <a:pPr>
              <a:lnSpc>
                <a:spcPct val="150000"/>
              </a:lnSpc>
            </a:pPr>
            <a:endParaRPr lang="en-US" sz="1800" dirty="0"/>
          </a:p>
          <a:p>
            <a:endParaRPr lang="en-US" sz="1400" dirty="0"/>
          </a:p>
        </p:txBody>
      </p:sp>
      <p:sp>
        <p:nvSpPr>
          <p:cNvPr id="3" name="Title 2">
            <a:extLst>
              <a:ext uri="{FF2B5EF4-FFF2-40B4-BE49-F238E27FC236}">
                <a16:creationId xmlns:a16="http://schemas.microsoft.com/office/drawing/2014/main" id="{957B8A4B-9F28-84D3-0A3E-321D34618766}"/>
              </a:ext>
            </a:extLst>
          </p:cNvPr>
          <p:cNvSpPr>
            <a:spLocks noGrp="1"/>
          </p:cNvSpPr>
          <p:nvPr>
            <p:ph type="title"/>
          </p:nvPr>
        </p:nvSpPr>
        <p:spPr/>
        <p:txBody>
          <a:bodyPr/>
          <a:lstStyle/>
          <a:p>
            <a:r>
              <a:rPr lang="en-US" dirty="0">
                <a:latin typeface="Georgia"/>
              </a:rPr>
              <a:t>Methodology/Proposed Method(</a:t>
            </a:r>
            <a:r>
              <a:rPr lang="en-US" dirty="0" err="1">
                <a:latin typeface="Georgia"/>
              </a:rPr>
              <a:t>Cont</a:t>
            </a:r>
            <a:r>
              <a:rPr lang="en-US" dirty="0">
                <a:latin typeface="Georgia"/>
              </a:rPr>
              <a:t>)</a:t>
            </a:r>
            <a:endParaRPr lang="en-US" dirty="0"/>
          </a:p>
        </p:txBody>
      </p:sp>
      <p:sp>
        <p:nvSpPr>
          <p:cNvPr id="4" name="Slide Number Placeholder 3">
            <a:extLst>
              <a:ext uri="{FF2B5EF4-FFF2-40B4-BE49-F238E27FC236}">
                <a16:creationId xmlns:a16="http://schemas.microsoft.com/office/drawing/2014/main" id="{E8A7EB8E-EF8E-DE23-480B-387514F65488}"/>
              </a:ext>
            </a:extLst>
          </p:cNvPr>
          <p:cNvSpPr>
            <a:spLocks noGrp="1"/>
          </p:cNvSpPr>
          <p:nvPr>
            <p:ph type="sldNum" sz="quarter" idx="12"/>
          </p:nvPr>
        </p:nvSpPr>
        <p:spPr/>
        <p:txBody>
          <a:bodyPr/>
          <a:lstStyle/>
          <a:p>
            <a:fld id="{330EA680-D336-4FF7-8B7A-9848BB0A1C32}" type="slidenum">
              <a:rPr lang="en-US" smtClean="0"/>
              <a:pPr/>
              <a:t>15</a:t>
            </a:fld>
            <a:endParaRPr lang="en-US"/>
          </a:p>
        </p:txBody>
      </p:sp>
    </p:spTree>
    <p:extLst>
      <p:ext uri="{BB962C8B-B14F-4D97-AF65-F5344CB8AC3E}">
        <p14:creationId xmlns:p14="http://schemas.microsoft.com/office/powerpoint/2010/main" val="3832061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E06E8-05F7-4732-75CA-7AEE22CC762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C20E39-EBE1-E02E-0A95-0C4963EEE64B}"/>
              </a:ext>
            </a:extLst>
          </p:cNvPr>
          <p:cNvSpPr>
            <a:spLocks noGrp="1"/>
          </p:cNvSpPr>
          <p:nvPr>
            <p:ph idx="1"/>
          </p:nvPr>
        </p:nvSpPr>
        <p:spPr>
          <a:xfrm>
            <a:off x="571499" y="1137256"/>
            <a:ext cx="11209376" cy="5109787"/>
          </a:xfrm>
        </p:spPr>
        <p:txBody>
          <a:bodyPr vert="horz" lIns="91440" tIns="45720" rIns="91440" bIns="45720" rtlCol="0" anchor="t">
            <a:normAutofit/>
          </a:bodyPr>
          <a:lstStyle/>
          <a:p>
            <a:pPr marL="0" indent="0">
              <a:lnSpc>
                <a:spcPct val="150000"/>
              </a:lnSpc>
              <a:buNone/>
            </a:pPr>
            <a:r>
              <a:rPr lang="en-US" sz="1600" b="1" dirty="0">
                <a:latin typeface="Georgia"/>
              </a:rPr>
              <a:t>4. LASSO-Cox Prognostic Signature</a:t>
            </a:r>
            <a:endParaRPr lang="en-US" dirty="0"/>
          </a:p>
          <a:p>
            <a:pPr>
              <a:lnSpc>
                <a:spcPct val="150000"/>
              </a:lnSpc>
            </a:pPr>
            <a:r>
              <a:rPr lang="en-US" sz="1600" dirty="0">
                <a:latin typeface="Georgia"/>
              </a:rPr>
              <a:t>Input: Expression matrix (94 hub genes × 418 patients) · survival data (</a:t>
            </a:r>
            <a:r>
              <a:rPr lang="en-US" sz="1600" dirty="0" err="1">
                <a:latin typeface="Georgia"/>
              </a:rPr>
              <a:t>OS.time</a:t>
            </a:r>
            <a:r>
              <a:rPr lang="en-US" sz="1600" dirty="0">
                <a:latin typeface="Georgia"/>
              </a:rPr>
              <a:t> · OS)</a:t>
            </a:r>
            <a:endParaRPr lang="en-US" dirty="0"/>
          </a:p>
          <a:p>
            <a:pPr>
              <a:lnSpc>
                <a:spcPct val="150000"/>
              </a:lnSpc>
            </a:pPr>
            <a:r>
              <a:rPr lang="en-US" sz="1600" dirty="0">
                <a:latin typeface="Georgia"/>
              </a:rPr>
              <a:t>Apply LASSO-</a:t>
            </a:r>
            <a:r>
              <a:rPr lang="en-US" sz="1600" dirty="0" err="1">
                <a:latin typeface="Georgia"/>
              </a:rPr>
              <a:t>penalised</a:t>
            </a:r>
            <a:r>
              <a:rPr lang="en-US" sz="1600" dirty="0">
                <a:latin typeface="Georgia"/>
              </a:rPr>
              <a:t> Cox regression (</a:t>
            </a:r>
            <a:r>
              <a:rPr lang="en-US" sz="1600" dirty="0" err="1">
                <a:latin typeface="Georgia"/>
              </a:rPr>
              <a:t>CoxnetSurvivalAnalysis</a:t>
            </a:r>
            <a:r>
              <a:rPr lang="en-US" sz="1600" dirty="0">
                <a:latin typeface="Georgia"/>
              </a:rPr>
              <a:t> · </a:t>
            </a:r>
            <a:r>
              <a:rPr lang="en-US" sz="1600" dirty="0" err="1">
                <a:latin typeface="Georgia"/>
              </a:rPr>
              <a:t>l₁_ratio</a:t>
            </a:r>
            <a:r>
              <a:rPr lang="en-US" sz="1600" dirty="0">
                <a:latin typeface="Georgia"/>
              </a:rPr>
              <a:t> = 1.0)</a:t>
            </a:r>
            <a:endParaRPr lang="en-US" dirty="0"/>
          </a:p>
          <a:p>
            <a:pPr>
              <a:lnSpc>
                <a:spcPct val="150000"/>
              </a:lnSpc>
            </a:pPr>
            <a:r>
              <a:rPr lang="en-US" sz="1600" dirty="0" err="1">
                <a:latin typeface="Georgia"/>
              </a:rPr>
              <a:t>Regularisation</a:t>
            </a:r>
            <a:r>
              <a:rPr lang="en-US" sz="1600" dirty="0">
                <a:latin typeface="Georgia"/>
              </a:rPr>
              <a:t> parameter λ tuned via cross-validation</a:t>
            </a:r>
            <a:endParaRPr lang="en-US" dirty="0"/>
          </a:p>
          <a:p>
            <a:pPr>
              <a:lnSpc>
                <a:spcPct val="150000"/>
              </a:lnSpc>
            </a:pPr>
            <a:r>
              <a:rPr lang="en-US" sz="1600" dirty="0">
                <a:latin typeface="Georgia"/>
              </a:rPr>
              <a:t>Retain genes with non-zero coefficients at minimum </a:t>
            </a:r>
            <a:r>
              <a:rPr lang="en-US" sz="1600" dirty="0" err="1">
                <a:latin typeface="Georgia"/>
              </a:rPr>
              <a:t>penalisation</a:t>
            </a:r>
            <a:endParaRPr lang="en-US" dirty="0" err="1"/>
          </a:p>
          <a:p>
            <a:pPr>
              <a:lnSpc>
                <a:spcPct val="150000"/>
              </a:lnSpc>
            </a:pPr>
            <a:r>
              <a:rPr lang="en-US" sz="1600" b="1" dirty="0" err="1">
                <a:latin typeface="Georgia"/>
              </a:rPr>
              <a:t>RS_j</a:t>
            </a:r>
            <a:r>
              <a:rPr lang="en-US" sz="1600" b="1" dirty="0">
                <a:latin typeface="Georgia"/>
              </a:rPr>
              <a:t> = Σ_{</a:t>
            </a:r>
            <a:r>
              <a:rPr lang="en-US" sz="1600" b="1" dirty="0" err="1">
                <a:latin typeface="Georgia"/>
              </a:rPr>
              <a:t>g∈S</a:t>
            </a:r>
            <a:r>
              <a:rPr lang="en-US" sz="1600" b="1" dirty="0">
                <a:latin typeface="Georgia"/>
              </a:rPr>
              <a:t>} β̂_g · </a:t>
            </a:r>
            <a:r>
              <a:rPr lang="en-US" sz="1600" b="1" dirty="0" err="1">
                <a:latin typeface="Georgia"/>
              </a:rPr>
              <a:t>x_gj</a:t>
            </a:r>
            <a:r>
              <a:rPr lang="en-US" sz="1600" dirty="0">
                <a:latin typeface="Georgia"/>
              </a:rPr>
              <a:t> </a:t>
            </a:r>
            <a:endParaRPr lang="en-US" dirty="0"/>
          </a:p>
          <a:p>
            <a:pPr marL="971550" lvl="1" indent="-285750">
              <a:lnSpc>
                <a:spcPct val="150000"/>
              </a:lnSpc>
            </a:pPr>
            <a:r>
              <a:rPr lang="en-US" sz="1600" dirty="0">
                <a:latin typeface="Georgia"/>
              </a:rPr>
              <a:t>S = 56 selected genes · β̂_g = LASSO coefficient · </a:t>
            </a:r>
            <a:r>
              <a:rPr lang="en-US" sz="1600" dirty="0" err="1">
                <a:latin typeface="Georgia"/>
              </a:rPr>
              <a:t>x_gj</a:t>
            </a:r>
            <a:r>
              <a:rPr lang="en-US" sz="1600" dirty="0">
                <a:latin typeface="Georgia"/>
              </a:rPr>
              <a:t> = </a:t>
            </a:r>
            <a:r>
              <a:rPr lang="en-US" sz="1600" dirty="0" err="1">
                <a:latin typeface="Georgia"/>
              </a:rPr>
              <a:t>standardised</a:t>
            </a:r>
            <a:r>
              <a:rPr lang="en-US" sz="1600" dirty="0">
                <a:latin typeface="Georgia"/>
              </a:rPr>
              <a:t> expression of gene g in patient j</a:t>
            </a:r>
            <a:endParaRPr lang="en-US" dirty="0"/>
          </a:p>
          <a:p>
            <a:pPr>
              <a:lnSpc>
                <a:spcPct val="150000"/>
              </a:lnSpc>
            </a:pPr>
            <a:r>
              <a:rPr lang="en-US" sz="1600" dirty="0">
                <a:latin typeface="Georgia"/>
              </a:rPr>
              <a:t>Stratify patients at median RS: High Risk · Low Risk</a:t>
            </a:r>
            <a:endParaRPr lang="en-US" dirty="0"/>
          </a:p>
          <a:p>
            <a:pPr>
              <a:lnSpc>
                <a:spcPct val="150000"/>
              </a:lnSpc>
            </a:pPr>
            <a:r>
              <a:rPr lang="en-US" sz="1600" dirty="0">
                <a:latin typeface="Georgia"/>
              </a:rPr>
              <a:t>Output: 56-gene signature · per-patient risk scores · High Risk / Low Risk groups</a:t>
            </a:r>
            <a:endParaRPr lang="en-US" dirty="0"/>
          </a:p>
          <a:p>
            <a:pPr marL="0" indent="0">
              <a:lnSpc>
                <a:spcPct val="150000"/>
              </a:lnSpc>
              <a:buNone/>
            </a:pPr>
            <a:endParaRPr lang="en-US" sz="1600" b="1" dirty="0"/>
          </a:p>
          <a:p>
            <a:pPr>
              <a:lnSpc>
                <a:spcPct val="150000"/>
              </a:lnSpc>
              <a:buNone/>
            </a:pPr>
            <a:endParaRPr lang="en-US" sz="1600" b="1" dirty="0"/>
          </a:p>
          <a:p>
            <a:pPr>
              <a:buFont typeface="Arial"/>
              <a:buChar char="•"/>
            </a:pPr>
            <a:endParaRPr lang="en-US" sz="1600" dirty="0">
              <a:latin typeface="Georgia"/>
            </a:endParaRPr>
          </a:p>
          <a:p>
            <a:pPr>
              <a:lnSpc>
                <a:spcPct val="150000"/>
              </a:lnSpc>
              <a:buNone/>
            </a:pPr>
            <a:endParaRPr lang="en-US" sz="1600" b="1" dirty="0">
              <a:latin typeface="Georgia"/>
            </a:endParaRPr>
          </a:p>
          <a:p>
            <a:pPr marL="0" indent="0">
              <a:lnSpc>
                <a:spcPct val="110000"/>
              </a:lnSpc>
              <a:buNone/>
            </a:pPr>
            <a:endParaRPr lang="en-US" sz="1600" b="1" dirty="0"/>
          </a:p>
          <a:p>
            <a:pPr>
              <a:lnSpc>
                <a:spcPct val="140000"/>
              </a:lnSpc>
            </a:pPr>
            <a:endParaRPr lang="en-US" sz="1600" dirty="0"/>
          </a:p>
          <a:p>
            <a:pPr>
              <a:lnSpc>
                <a:spcPct val="150000"/>
              </a:lnSpc>
            </a:pPr>
            <a:endParaRPr lang="en-US" sz="1600" dirty="0"/>
          </a:p>
          <a:p>
            <a:pPr>
              <a:lnSpc>
                <a:spcPct val="150000"/>
              </a:lnSpc>
            </a:pPr>
            <a:endParaRPr lang="en-US" sz="1800" dirty="0"/>
          </a:p>
          <a:p>
            <a:endParaRPr lang="en-US" sz="1400" dirty="0"/>
          </a:p>
        </p:txBody>
      </p:sp>
      <p:sp>
        <p:nvSpPr>
          <p:cNvPr id="3" name="Title 2">
            <a:extLst>
              <a:ext uri="{FF2B5EF4-FFF2-40B4-BE49-F238E27FC236}">
                <a16:creationId xmlns:a16="http://schemas.microsoft.com/office/drawing/2014/main" id="{FD6DEFEC-7A4A-A410-6096-6F3F96AFE64A}"/>
              </a:ext>
            </a:extLst>
          </p:cNvPr>
          <p:cNvSpPr>
            <a:spLocks noGrp="1"/>
          </p:cNvSpPr>
          <p:nvPr>
            <p:ph type="title"/>
          </p:nvPr>
        </p:nvSpPr>
        <p:spPr/>
        <p:txBody>
          <a:bodyPr/>
          <a:lstStyle/>
          <a:p>
            <a:r>
              <a:rPr lang="en-US" dirty="0">
                <a:latin typeface="Georgia"/>
              </a:rPr>
              <a:t>Methodology/Proposed Method(</a:t>
            </a:r>
            <a:r>
              <a:rPr lang="en-US" dirty="0" err="1">
                <a:latin typeface="Georgia"/>
              </a:rPr>
              <a:t>Cont</a:t>
            </a:r>
            <a:r>
              <a:rPr lang="en-US" dirty="0">
                <a:latin typeface="Georgia"/>
              </a:rPr>
              <a:t>)</a:t>
            </a:r>
            <a:endParaRPr lang="en-US" dirty="0"/>
          </a:p>
        </p:txBody>
      </p:sp>
      <p:sp>
        <p:nvSpPr>
          <p:cNvPr id="4" name="Slide Number Placeholder 3">
            <a:extLst>
              <a:ext uri="{FF2B5EF4-FFF2-40B4-BE49-F238E27FC236}">
                <a16:creationId xmlns:a16="http://schemas.microsoft.com/office/drawing/2014/main" id="{2154AC4E-6A03-E2D2-60CB-E83B8AEAF64F}"/>
              </a:ext>
            </a:extLst>
          </p:cNvPr>
          <p:cNvSpPr>
            <a:spLocks noGrp="1"/>
          </p:cNvSpPr>
          <p:nvPr>
            <p:ph type="sldNum" sz="quarter" idx="12"/>
          </p:nvPr>
        </p:nvSpPr>
        <p:spPr/>
        <p:txBody>
          <a:bodyPr/>
          <a:lstStyle/>
          <a:p>
            <a:fld id="{330EA680-D336-4FF7-8B7A-9848BB0A1C32}" type="slidenum">
              <a:rPr lang="en-US" smtClean="0"/>
              <a:pPr/>
              <a:t>16</a:t>
            </a:fld>
            <a:endParaRPr lang="en-US"/>
          </a:p>
        </p:txBody>
      </p:sp>
    </p:spTree>
    <p:extLst>
      <p:ext uri="{BB962C8B-B14F-4D97-AF65-F5344CB8AC3E}">
        <p14:creationId xmlns:p14="http://schemas.microsoft.com/office/powerpoint/2010/main" val="697830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7E017-0D5A-E25E-9E2C-2167BB7A672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A16BB5-28FA-65B2-E275-ABE169BA9F62}"/>
              </a:ext>
            </a:extLst>
          </p:cNvPr>
          <p:cNvSpPr>
            <a:spLocks noGrp="1"/>
          </p:cNvSpPr>
          <p:nvPr>
            <p:ph idx="1"/>
          </p:nvPr>
        </p:nvSpPr>
        <p:spPr>
          <a:xfrm>
            <a:off x="493058" y="991580"/>
            <a:ext cx="11209376" cy="5109787"/>
          </a:xfrm>
        </p:spPr>
        <p:txBody>
          <a:bodyPr vert="horz" lIns="91440" tIns="45720" rIns="91440" bIns="45720" rtlCol="0" anchor="t">
            <a:normAutofit fontScale="85000" lnSpcReduction="20000"/>
          </a:bodyPr>
          <a:lstStyle/>
          <a:p>
            <a:pPr marL="0" indent="0">
              <a:lnSpc>
                <a:spcPct val="150000"/>
              </a:lnSpc>
              <a:buNone/>
            </a:pPr>
            <a:r>
              <a:rPr lang="en-US" sz="1600" b="1" dirty="0">
                <a:latin typeface="Georgia"/>
              </a:rPr>
              <a:t>5. Graph Transformer Training</a:t>
            </a:r>
            <a:endParaRPr lang="en-US" dirty="0"/>
          </a:p>
          <a:p>
            <a:pPr>
              <a:lnSpc>
                <a:spcPct val="150000"/>
              </a:lnSpc>
            </a:pPr>
            <a:r>
              <a:rPr lang="en-US" sz="1600" b="1" dirty="0">
                <a:latin typeface="Georgia"/>
              </a:rPr>
              <a:t>Input</a:t>
            </a:r>
            <a:r>
              <a:rPr lang="en-US" sz="1600" dirty="0">
                <a:latin typeface="Georgia"/>
              </a:rPr>
              <a:t>: 418 patients × 56 LASSO genes (</a:t>
            </a:r>
            <a:r>
              <a:rPr lang="en-US" sz="1600" dirty="0" err="1">
                <a:latin typeface="Georgia"/>
              </a:rPr>
              <a:t>standardised</a:t>
            </a:r>
            <a:r>
              <a:rPr lang="en-US" sz="1600" dirty="0">
                <a:latin typeface="Georgia"/>
              </a:rPr>
              <a:t>) · survival data (</a:t>
            </a:r>
            <a:r>
              <a:rPr lang="en-US" sz="1600" dirty="0" err="1">
                <a:latin typeface="Georgia"/>
              </a:rPr>
              <a:t>OS.time</a:t>
            </a:r>
            <a:r>
              <a:rPr lang="en-US" sz="1600" dirty="0">
                <a:latin typeface="Georgia"/>
              </a:rPr>
              <a:t> · OS)</a:t>
            </a:r>
            <a:endParaRPr lang="en-US" dirty="0"/>
          </a:p>
          <a:p>
            <a:pPr>
              <a:lnSpc>
                <a:spcPct val="150000"/>
              </a:lnSpc>
            </a:pPr>
            <a:r>
              <a:rPr lang="en-US" sz="1600" dirty="0">
                <a:latin typeface="Georgia"/>
              </a:rPr>
              <a:t>Construct KNN patient similarity graph using cosine similarity: </a:t>
            </a:r>
            <a:endParaRPr lang="en-US" dirty="0"/>
          </a:p>
          <a:p>
            <a:pPr marL="971550" lvl="1" indent="-285750">
              <a:lnSpc>
                <a:spcPct val="150000"/>
              </a:lnSpc>
            </a:pPr>
            <a:r>
              <a:rPr lang="en-US" sz="1600" b="1" dirty="0">
                <a:latin typeface="Georgia"/>
              </a:rPr>
              <a:t>Cosine(</a:t>
            </a:r>
            <a:r>
              <a:rPr lang="en-US" sz="1600" b="1" dirty="0" err="1">
                <a:latin typeface="Georgia"/>
              </a:rPr>
              <a:t>i,j</a:t>
            </a:r>
            <a:r>
              <a:rPr lang="en-US" sz="1600" b="1" dirty="0">
                <a:latin typeface="Georgia"/>
              </a:rPr>
              <a:t>) = (vᵢ · vⱼ) / (‖vᵢ‖ × ‖vⱼ‖)</a:t>
            </a:r>
            <a:endParaRPr lang="en-US" dirty="0"/>
          </a:p>
          <a:p>
            <a:pPr>
              <a:lnSpc>
                <a:spcPct val="150000"/>
              </a:lnSpc>
            </a:pPr>
            <a:r>
              <a:rPr lang="en-US" sz="1600" dirty="0" err="1">
                <a:latin typeface="Georgia"/>
              </a:rPr>
              <a:t>Symmetrise</a:t>
            </a:r>
            <a:r>
              <a:rPr lang="en-US" sz="1600" dirty="0">
                <a:latin typeface="Georgia"/>
              </a:rPr>
              <a:t> and </a:t>
            </a:r>
            <a:r>
              <a:rPr lang="en-US" sz="1600" dirty="0" err="1">
                <a:latin typeface="Georgia"/>
              </a:rPr>
              <a:t>normalise</a:t>
            </a:r>
            <a:r>
              <a:rPr lang="en-US" sz="1600" dirty="0">
                <a:latin typeface="Georgia"/>
              </a:rPr>
              <a:t> patient adjacency: </a:t>
            </a:r>
            <a:r>
              <a:rPr lang="en-US" sz="1600" b="1" dirty="0">
                <a:latin typeface="Georgia"/>
              </a:rPr>
              <a:t>Â_S = D_S⁻¹/²(A_S + I)D_S⁻¹/²</a:t>
            </a:r>
            <a:endParaRPr lang="en-US" dirty="0"/>
          </a:p>
          <a:p>
            <a:pPr>
              <a:lnSpc>
                <a:spcPct val="150000"/>
              </a:lnSpc>
            </a:pPr>
            <a:r>
              <a:rPr lang="en-US" sz="1600" dirty="0">
                <a:latin typeface="Georgia"/>
              </a:rPr>
              <a:t>Graph Attention Network: </a:t>
            </a:r>
            <a:r>
              <a:rPr lang="en-US" sz="1600" b="1" dirty="0">
                <a:latin typeface="Georgia"/>
              </a:rPr>
              <a:t>56 → 16 → 8 → 1</a:t>
            </a:r>
            <a:r>
              <a:rPr lang="en-US" sz="1600" dirty="0">
                <a:latin typeface="Georgia"/>
              </a:rPr>
              <a:t> </a:t>
            </a:r>
            <a:endParaRPr lang="en-US" dirty="0"/>
          </a:p>
          <a:p>
            <a:pPr marL="971550" lvl="1" indent="-285750">
              <a:lnSpc>
                <a:spcPct val="150000"/>
              </a:lnSpc>
            </a:pPr>
            <a:r>
              <a:rPr lang="en-US" sz="1600" dirty="0">
                <a:latin typeface="Georgia"/>
              </a:rPr>
              <a:t>Attention: </a:t>
            </a:r>
            <a:r>
              <a:rPr lang="en-US" sz="1600" b="1" dirty="0">
                <a:latin typeface="Georgia"/>
              </a:rPr>
              <a:t>α_</a:t>
            </a:r>
            <a:r>
              <a:rPr lang="en-US" sz="1600" b="1" dirty="0" err="1">
                <a:latin typeface="Georgia"/>
              </a:rPr>
              <a:t>ij</a:t>
            </a:r>
            <a:r>
              <a:rPr lang="en-US" sz="1600" b="1" dirty="0">
                <a:latin typeface="Georgia"/>
              </a:rPr>
              <a:t> = </a:t>
            </a:r>
            <a:r>
              <a:rPr lang="en-US" sz="1600" b="1" dirty="0" err="1">
                <a:latin typeface="Georgia"/>
              </a:rPr>
              <a:t>softmax</a:t>
            </a:r>
            <a:r>
              <a:rPr lang="en-US" sz="1600" b="1" dirty="0">
                <a:latin typeface="Georgia"/>
              </a:rPr>
              <a:t>(</a:t>
            </a:r>
            <a:r>
              <a:rPr lang="en-US" sz="1600" b="1" dirty="0" err="1">
                <a:latin typeface="Georgia"/>
              </a:rPr>
              <a:t>LeakyReLU</a:t>
            </a:r>
            <a:r>
              <a:rPr lang="en-US" sz="1600" b="1" dirty="0">
                <a:latin typeface="Georgia"/>
              </a:rPr>
              <a:t>(aᵀ[</a:t>
            </a:r>
            <a:r>
              <a:rPr lang="en-US" sz="1600" b="1" dirty="0" err="1">
                <a:latin typeface="Georgia"/>
              </a:rPr>
              <a:t>Wh_i</a:t>
            </a:r>
            <a:r>
              <a:rPr lang="en-US" sz="1600" b="1" dirty="0">
                <a:latin typeface="Georgia"/>
              </a:rPr>
              <a:t> ‖ </a:t>
            </a:r>
            <a:r>
              <a:rPr lang="en-US" sz="1600" b="1" dirty="0" err="1">
                <a:latin typeface="Georgia"/>
              </a:rPr>
              <a:t>Wh_j</a:t>
            </a:r>
            <a:r>
              <a:rPr lang="en-US" sz="1600" b="1" dirty="0">
                <a:latin typeface="Georgia"/>
              </a:rPr>
              <a:t>]))</a:t>
            </a:r>
            <a:endParaRPr lang="en-US" dirty="0"/>
          </a:p>
          <a:p>
            <a:pPr marL="971550" lvl="1" indent="-285750">
              <a:lnSpc>
                <a:spcPct val="150000"/>
              </a:lnSpc>
            </a:pPr>
            <a:r>
              <a:rPr lang="en-US" sz="1600" dirty="0">
                <a:latin typeface="Georgia"/>
              </a:rPr>
              <a:t>Node update: </a:t>
            </a:r>
            <a:r>
              <a:rPr lang="en-US" sz="1600" b="1" dirty="0" err="1">
                <a:latin typeface="Georgia"/>
              </a:rPr>
              <a:t>h_i</a:t>
            </a:r>
            <a:r>
              <a:rPr lang="en-US" sz="1600" b="1" dirty="0">
                <a:latin typeface="Georgia"/>
              </a:rPr>
              <a:t>' = </a:t>
            </a:r>
            <a:r>
              <a:rPr lang="en-US" sz="1600" b="1" dirty="0" err="1">
                <a:latin typeface="Georgia"/>
              </a:rPr>
              <a:t>ReLU</a:t>
            </a:r>
            <a:r>
              <a:rPr lang="en-US" sz="1600" b="1" dirty="0">
                <a:latin typeface="Georgia"/>
              </a:rPr>
              <a:t>(Σ_{</a:t>
            </a:r>
            <a:r>
              <a:rPr lang="en-US" sz="1600" b="1" dirty="0" err="1">
                <a:latin typeface="Georgia"/>
              </a:rPr>
              <a:t>j∈N</a:t>
            </a:r>
            <a:r>
              <a:rPr lang="en-US" sz="1600" b="1" dirty="0">
                <a:latin typeface="Georgia"/>
              </a:rPr>
              <a:t>(</a:t>
            </a:r>
            <a:r>
              <a:rPr lang="en-US" sz="1600" b="1" dirty="0" err="1">
                <a:latin typeface="Georgia"/>
              </a:rPr>
              <a:t>i</a:t>
            </a:r>
            <a:r>
              <a:rPr lang="en-US" sz="1600" b="1" dirty="0">
                <a:latin typeface="Georgia"/>
              </a:rPr>
              <a:t>)} α_</a:t>
            </a:r>
            <a:r>
              <a:rPr lang="en-US" sz="1600" b="1" dirty="0" err="1">
                <a:latin typeface="Georgia"/>
              </a:rPr>
              <a:t>ij</a:t>
            </a:r>
            <a:r>
              <a:rPr lang="en-US" sz="1600" b="1" dirty="0">
                <a:latin typeface="Georgia"/>
              </a:rPr>
              <a:t> · W · </a:t>
            </a:r>
            <a:r>
              <a:rPr lang="en-US" sz="1600" b="1" dirty="0" err="1">
                <a:latin typeface="Georgia"/>
              </a:rPr>
              <a:t>h_j</a:t>
            </a:r>
            <a:r>
              <a:rPr lang="en-US" sz="1600" b="1" dirty="0">
                <a:latin typeface="Georgia"/>
              </a:rPr>
              <a:t>)</a:t>
            </a:r>
            <a:endParaRPr lang="en-US" dirty="0"/>
          </a:p>
          <a:p>
            <a:pPr marL="971550" lvl="1" indent="-285750">
              <a:lnSpc>
                <a:spcPct val="150000"/>
              </a:lnSpc>
            </a:pPr>
            <a:r>
              <a:rPr lang="en-US" sz="1600" dirty="0">
                <a:latin typeface="Georgia"/>
              </a:rPr>
              <a:t>Output layer: </a:t>
            </a:r>
            <a:r>
              <a:rPr lang="en-US" sz="1600" b="1" dirty="0" err="1">
                <a:latin typeface="Georgia"/>
              </a:rPr>
              <a:t>risk_i</a:t>
            </a:r>
            <a:r>
              <a:rPr lang="en-US" sz="1600" b="1" dirty="0">
                <a:latin typeface="Georgia"/>
              </a:rPr>
              <a:t> = wᵀ · </a:t>
            </a:r>
            <a:r>
              <a:rPr lang="en-US" sz="1600" b="1" dirty="0" err="1">
                <a:latin typeface="Georgia"/>
              </a:rPr>
              <a:t>h_i</a:t>
            </a:r>
            <a:r>
              <a:rPr lang="en-US" sz="1600" b="1" dirty="0">
                <a:latin typeface="Georgia"/>
              </a:rPr>
              <a:t>'' + b</a:t>
            </a:r>
            <a:endParaRPr lang="en-US" dirty="0"/>
          </a:p>
          <a:p>
            <a:pPr marL="971550" lvl="1" indent="-285750">
              <a:lnSpc>
                <a:spcPct val="150000"/>
              </a:lnSpc>
            </a:pPr>
            <a:r>
              <a:rPr lang="en-US" sz="1600" dirty="0">
                <a:latin typeface="Georgia"/>
              </a:rPr>
              <a:t>Dropout p = 0.3 after each GAT layer</a:t>
            </a:r>
            <a:endParaRPr lang="en-US" dirty="0"/>
          </a:p>
          <a:p>
            <a:pPr>
              <a:lnSpc>
                <a:spcPct val="150000"/>
              </a:lnSpc>
            </a:pPr>
            <a:r>
              <a:rPr lang="en-US" sz="1600" dirty="0">
                <a:latin typeface="Georgia"/>
              </a:rPr>
              <a:t>Cox partial likelihood loss: </a:t>
            </a:r>
            <a:r>
              <a:rPr lang="en-US" sz="1600" b="1" dirty="0">
                <a:latin typeface="Georgia"/>
              </a:rPr>
              <a:t>L = −Σ_{</a:t>
            </a:r>
            <a:r>
              <a:rPr lang="en-US" sz="1600" b="1" dirty="0" err="1">
                <a:latin typeface="Georgia"/>
              </a:rPr>
              <a:t>i:δ</a:t>
            </a:r>
            <a:r>
              <a:rPr lang="en-US" sz="1600" b="1" dirty="0">
                <a:latin typeface="Georgia"/>
              </a:rPr>
              <a:t>ᵢ=1} [rᵢ − log Σ_{</a:t>
            </a:r>
            <a:r>
              <a:rPr lang="en-US" sz="1600" b="1" dirty="0" err="1">
                <a:latin typeface="Georgia"/>
              </a:rPr>
              <a:t>j:t</a:t>
            </a:r>
            <a:r>
              <a:rPr lang="en-US" sz="1600" b="1" dirty="0">
                <a:latin typeface="Georgia"/>
              </a:rPr>
              <a:t>ⱼ≥tᵢ} exp(rⱼ)]</a:t>
            </a:r>
            <a:endParaRPr lang="en-US" dirty="0"/>
          </a:p>
          <a:p>
            <a:pPr>
              <a:lnSpc>
                <a:spcPct val="150000"/>
              </a:lnSpc>
            </a:pPr>
            <a:r>
              <a:rPr lang="en-US" sz="1600" dirty="0" err="1">
                <a:latin typeface="Georgia"/>
              </a:rPr>
              <a:t>Optimiser</a:t>
            </a:r>
            <a:r>
              <a:rPr lang="en-US" sz="1600" dirty="0">
                <a:latin typeface="Georgia"/>
              </a:rPr>
              <a:t>: Adam · </a:t>
            </a:r>
            <a:r>
              <a:rPr lang="en-US" sz="1600" dirty="0" err="1">
                <a:latin typeface="Georgia"/>
              </a:rPr>
              <a:t>lr</a:t>
            </a:r>
            <a:r>
              <a:rPr lang="en-US" sz="1600" dirty="0">
                <a:latin typeface="Georgia"/>
              </a:rPr>
              <a:t> = 0.01 · weight decay = 10⁻⁴ · 500 epochs</a:t>
            </a:r>
            <a:endParaRPr lang="en-US" dirty="0"/>
          </a:p>
          <a:p>
            <a:pPr>
              <a:lnSpc>
                <a:spcPct val="150000"/>
              </a:lnSpc>
            </a:pPr>
            <a:r>
              <a:rPr lang="en-US" sz="1600" b="1" dirty="0">
                <a:latin typeface="Georgia"/>
              </a:rPr>
              <a:t>Output:</a:t>
            </a:r>
            <a:r>
              <a:rPr lang="en-US" sz="1600" dirty="0">
                <a:latin typeface="Georgia"/>
              </a:rPr>
              <a:t> Trained GAT model · predicted risk score per patient</a:t>
            </a:r>
            <a:endParaRPr lang="en-US" dirty="0"/>
          </a:p>
          <a:p>
            <a:pPr marL="0" indent="0">
              <a:lnSpc>
                <a:spcPct val="150000"/>
              </a:lnSpc>
              <a:buNone/>
            </a:pPr>
            <a:endParaRPr lang="en-US" sz="1600" b="1" dirty="0"/>
          </a:p>
          <a:p>
            <a:pPr marL="0" indent="0">
              <a:lnSpc>
                <a:spcPct val="150000"/>
              </a:lnSpc>
              <a:buNone/>
            </a:pPr>
            <a:endParaRPr lang="en-US" sz="1600" b="1" dirty="0"/>
          </a:p>
          <a:p>
            <a:pPr>
              <a:lnSpc>
                <a:spcPct val="150000"/>
              </a:lnSpc>
              <a:buNone/>
            </a:pPr>
            <a:endParaRPr lang="en-US" sz="1600" b="1" dirty="0"/>
          </a:p>
          <a:p>
            <a:pPr>
              <a:buFont typeface="Arial"/>
              <a:buChar char="•"/>
            </a:pPr>
            <a:endParaRPr lang="en-US" sz="1600" dirty="0">
              <a:latin typeface="Georgia"/>
            </a:endParaRPr>
          </a:p>
          <a:p>
            <a:pPr>
              <a:lnSpc>
                <a:spcPct val="150000"/>
              </a:lnSpc>
              <a:buNone/>
            </a:pPr>
            <a:endParaRPr lang="en-US" sz="1600" b="1" dirty="0">
              <a:latin typeface="Georgia"/>
            </a:endParaRPr>
          </a:p>
          <a:p>
            <a:pPr marL="0" indent="0">
              <a:lnSpc>
                <a:spcPct val="110000"/>
              </a:lnSpc>
              <a:buNone/>
            </a:pPr>
            <a:endParaRPr lang="en-US" sz="1600" b="1" dirty="0"/>
          </a:p>
          <a:p>
            <a:pPr>
              <a:lnSpc>
                <a:spcPct val="140000"/>
              </a:lnSpc>
            </a:pPr>
            <a:endParaRPr lang="en-US" sz="1600" dirty="0"/>
          </a:p>
          <a:p>
            <a:pPr>
              <a:lnSpc>
                <a:spcPct val="150000"/>
              </a:lnSpc>
            </a:pPr>
            <a:endParaRPr lang="en-US" sz="1600" dirty="0"/>
          </a:p>
          <a:p>
            <a:pPr>
              <a:lnSpc>
                <a:spcPct val="150000"/>
              </a:lnSpc>
            </a:pPr>
            <a:endParaRPr lang="en-US" sz="1800" dirty="0"/>
          </a:p>
          <a:p>
            <a:endParaRPr lang="en-US" sz="1400" dirty="0"/>
          </a:p>
        </p:txBody>
      </p:sp>
      <p:sp>
        <p:nvSpPr>
          <p:cNvPr id="3" name="Title 2">
            <a:extLst>
              <a:ext uri="{FF2B5EF4-FFF2-40B4-BE49-F238E27FC236}">
                <a16:creationId xmlns:a16="http://schemas.microsoft.com/office/drawing/2014/main" id="{7706B518-D83C-F8C0-5C09-1CC5117F5A7B}"/>
              </a:ext>
            </a:extLst>
          </p:cNvPr>
          <p:cNvSpPr>
            <a:spLocks noGrp="1"/>
          </p:cNvSpPr>
          <p:nvPr>
            <p:ph type="title"/>
          </p:nvPr>
        </p:nvSpPr>
        <p:spPr>
          <a:xfrm>
            <a:off x="571499" y="180574"/>
            <a:ext cx="11209376" cy="464000"/>
          </a:xfrm>
        </p:spPr>
        <p:txBody>
          <a:bodyPr/>
          <a:lstStyle/>
          <a:p>
            <a:r>
              <a:rPr lang="en-US" dirty="0">
                <a:latin typeface="Georgia"/>
              </a:rPr>
              <a:t>Methodology/Proposed Method(</a:t>
            </a:r>
            <a:r>
              <a:rPr lang="en-US" dirty="0" err="1">
                <a:latin typeface="Georgia"/>
              </a:rPr>
              <a:t>Cont</a:t>
            </a:r>
            <a:r>
              <a:rPr lang="en-US" dirty="0">
                <a:latin typeface="Georgia"/>
              </a:rPr>
              <a:t>)</a:t>
            </a:r>
            <a:endParaRPr lang="en-US" dirty="0"/>
          </a:p>
        </p:txBody>
      </p:sp>
      <p:sp>
        <p:nvSpPr>
          <p:cNvPr id="4" name="Slide Number Placeholder 3">
            <a:extLst>
              <a:ext uri="{FF2B5EF4-FFF2-40B4-BE49-F238E27FC236}">
                <a16:creationId xmlns:a16="http://schemas.microsoft.com/office/drawing/2014/main" id="{79347608-C821-660C-7172-33D37B8A938C}"/>
              </a:ext>
            </a:extLst>
          </p:cNvPr>
          <p:cNvSpPr>
            <a:spLocks noGrp="1"/>
          </p:cNvSpPr>
          <p:nvPr>
            <p:ph type="sldNum" sz="quarter" idx="12"/>
          </p:nvPr>
        </p:nvSpPr>
        <p:spPr/>
        <p:txBody>
          <a:bodyPr/>
          <a:lstStyle/>
          <a:p>
            <a:fld id="{330EA680-D336-4FF7-8B7A-9848BB0A1C32}" type="slidenum">
              <a:rPr lang="en-US" smtClean="0"/>
              <a:pPr/>
              <a:t>17</a:t>
            </a:fld>
            <a:endParaRPr lang="en-US"/>
          </a:p>
        </p:txBody>
      </p:sp>
    </p:spTree>
    <p:extLst>
      <p:ext uri="{BB962C8B-B14F-4D97-AF65-F5344CB8AC3E}">
        <p14:creationId xmlns:p14="http://schemas.microsoft.com/office/powerpoint/2010/main" val="2967024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DC9E1-4EB7-3B9B-2293-4F06865C7F0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F90CB3-8C44-2427-ED3F-81FD164739AD}"/>
              </a:ext>
            </a:extLst>
          </p:cNvPr>
          <p:cNvSpPr>
            <a:spLocks noGrp="1"/>
          </p:cNvSpPr>
          <p:nvPr>
            <p:ph idx="1"/>
          </p:nvPr>
        </p:nvSpPr>
        <p:spPr>
          <a:xfrm>
            <a:off x="493058" y="991580"/>
            <a:ext cx="11209376" cy="5109787"/>
          </a:xfrm>
        </p:spPr>
        <p:txBody>
          <a:bodyPr vert="horz" lIns="91440" tIns="45720" rIns="91440" bIns="45720" rtlCol="0" anchor="t">
            <a:normAutofit/>
          </a:bodyPr>
          <a:lstStyle/>
          <a:p>
            <a:pPr marL="0" indent="0">
              <a:lnSpc>
                <a:spcPct val="150000"/>
              </a:lnSpc>
              <a:buNone/>
            </a:pPr>
            <a:r>
              <a:rPr lang="en-US" sz="1600" b="1">
                <a:latin typeface="Georgia"/>
              </a:rPr>
              <a:t>6. Survival Analysis and Clinical Validation</a:t>
            </a:r>
            <a:endParaRPr lang="en-US"/>
          </a:p>
          <a:p>
            <a:pPr>
              <a:lnSpc>
                <a:spcPct val="150000"/>
              </a:lnSpc>
            </a:pPr>
            <a:r>
              <a:rPr lang="en-US" sz="1600" dirty="0">
                <a:latin typeface="Georgia"/>
              </a:rPr>
              <a:t>Input: Risk scores (LASSO-Cox · GAT) · survival data (</a:t>
            </a:r>
            <a:r>
              <a:rPr lang="en-US" sz="1600" dirty="0" err="1">
                <a:latin typeface="Georgia"/>
              </a:rPr>
              <a:t>OS.time</a:t>
            </a:r>
            <a:r>
              <a:rPr lang="en-US" sz="1600" dirty="0">
                <a:latin typeface="Georgia"/>
              </a:rPr>
              <a:t> · OS) · </a:t>
            </a:r>
            <a:r>
              <a:rPr lang="en-US" sz="1600" b="1" dirty="0">
                <a:latin typeface="Georgia"/>
              </a:rPr>
              <a:t>TCGA-LIHC clinical variables (stage · age · gender)</a:t>
            </a:r>
            <a:endParaRPr lang="en-US" dirty="0"/>
          </a:p>
          <a:p>
            <a:pPr>
              <a:lnSpc>
                <a:spcPct val="150000"/>
              </a:lnSpc>
            </a:pPr>
            <a:r>
              <a:rPr lang="en-US" sz="1600">
                <a:latin typeface="Georgia"/>
              </a:rPr>
              <a:t>Harrell C-index: </a:t>
            </a:r>
            <a:r>
              <a:rPr lang="en-US" sz="1600" b="1">
                <a:latin typeface="Georgia"/>
              </a:rPr>
              <a:t>C = (concordant pairs + 0.5 × tied pairs) / total comparable pairs</a:t>
            </a:r>
            <a:endParaRPr lang="en-US"/>
          </a:p>
          <a:p>
            <a:pPr>
              <a:lnSpc>
                <a:spcPct val="150000"/>
              </a:lnSpc>
            </a:pPr>
            <a:r>
              <a:rPr lang="en-US" sz="1600">
                <a:latin typeface="Georgia"/>
              </a:rPr>
              <a:t>Kaplan-Meier curves with log-rank test: High Risk vs Low Risk</a:t>
            </a:r>
            <a:endParaRPr lang="en-US"/>
          </a:p>
          <a:p>
            <a:pPr>
              <a:lnSpc>
                <a:spcPct val="150000"/>
              </a:lnSpc>
            </a:pPr>
            <a:r>
              <a:rPr lang="en-US" sz="1600" dirty="0">
                <a:latin typeface="Georgia"/>
              </a:rPr>
              <a:t>Multivariate Cox: risk score + </a:t>
            </a:r>
            <a:r>
              <a:rPr lang="en-US" sz="1600" dirty="0" err="1">
                <a:latin typeface="Georgia"/>
              </a:rPr>
              <a:t>tumour</a:t>
            </a:r>
            <a:r>
              <a:rPr lang="en-US" sz="1600" dirty="0">
                <a:latin typeface="Georgia"/>
              </a:rPr>
              <a:t> stage (III/IV = 1 · I/II = 0) + age (</a:t>
            </a:r>
            <a:r>
              <a:rPr lang="en-US" sz="1600" dirty="0" err="1">
                <a:latin typeface="Georgia"/>
              </a:rPr>
              <a:t>normalised</a:t>
            </a:r>
            <a:r>
              <a:rPr lang="en-US" sz="1600" dirty="0">
                <a:latin typeface="Georgia"/>
              </a:rPr>
              <a:t>)</a:t>
            </a:r>
            <a:endParaRPr lang="en-US" dirty="0"/>
          </a:p>
          <a:p>
            <a:pPr>
              <a:lnSpc>
                <a:spcPct val="150000"/>
              </a:lnSpc>
            </a:pPr>
            <a:r>
              <a:rPr lang="en-US" sz="1600">
                <a:latin typeface="Georgia"/>
              </a:rPr>
              <a:t>Validate across 7 subgroups: All · Stage I/II · Stage III/IV · Male · Female · Age &lt;60 · Age ≥60</a:t>
            </a:r>
            <a:endParaRPr lang="en-US"/>
          </a:p>
          <a:p>
            <a:pPr>
              <a:lnSpc>
                <a:spcPct val="150000"/>
              </a:lnSpc>
            </a:pPr>
            <a:r>
              <a:rPr lang="en-US" sz="1600" dirty="0">
                <a:latin typeface="Georgia"/>
              </a:rPr>
              <a:t>Attention weight extraction: </a:t>
            </a:r>
            <a:r>
              <a:rPr lang="en-US" sz="1600" b="1" dirty="0">
                <a:latin typeface="Georgia"/>
              </a:rPr>
              <a:t>Pearson r(α_</a:t>
            </a:r>
            <a:r>
              <a:rPr lang="en-US" sz="1600" b="1" dirty="0" err="1">
                <a:latin typeface="Georgia"/>
              </a:rPr>
              <a:t>ij</a:t>
            </a:r>
            <a:r>
              <a:rPr lang="en-US" sz="1600" b="1" dirty="0">
                <a:latin typeface="Georgia"/>
              </a:rPr>
              <a:t> · </a:t>
            </a:r>
            <a:r>
              <a:rPr lang="en-US" sz="1600" b="1" dirty="0" err="1">
                <a:latin typeface="Georgia"/>
              </a:rPr>
              <a:t>sim_g</a:t>
            </a:r>
            <a:r>
              <a:rPr lang="en-US" sz="1600" b="1" dirty="0">
                <a:latin typeface="Georgia"/>
              </a:rPr>
              <a:t>(</a:t>
            </a:r>
            <a:r>
              <a:rPr lang="en-US" sz="1600" b="1" dirty="0" err="1">
                <a:latin typeface="Georgia"/>
              </a:rPr>
              <a:t>i,j</a:t>
            </a:r>
            <a:r>
              <a:rPr lang="en-US" sz="1600" b="1" dirty="0">
                <a:latin typeface="Georgia"/>
              </a:rPr>
              <a:t>))</a:t>
            </a:r>
            <a:r>
              <a:rPr lang="en-US" sz="1600" dirty="0">
                <a:latin typeface="Georgia"/>
              </a:rPr>
              <a:t> per gene g</a:t>
            </a:r>
            <a:endParaRPr lang="en-US" dirty="0"/>
          </a:p>
          <a:p>
            <a:pPr>
              <a:lnSpc>
                <a:spcPct val="150000"/>
              </a:lnSpc>
            </a:pPr>
            <a:r>
              <a:rPr lang="en-US" sz="1600" dirty="0">
                <a:latin typeface="Georgia"/>
              </a:rPr>
              <a:t>Pathway enrichment: 56 LASSO genes → </a:t>
            </a:r>
            <a:r>
              <a:rPr lang="en-US" sz="1600" dirty="0" err="1">
                <a:latin typeface="Georgia"/>
              </a:rPr>
              <a:t>Enrichr</a:t>
            </a:r>
            <a:r>
              <a:rPr lang="en-US" sz="1600" dirty="0">
                <a:latin typeface="Georgia"/>
              </a:rPr>
              <a:t> (KEGG · </a:t>
            </a:r>
            <a:r>
              <a:rPr lang="en-US" sz="1600" dirty="0" err="1">
                <a:latin typeface="Georgia"/>
              </a:rPr>
              <a:t>MSigDB</a:t>
            </a:r>
            <a:r>
              <a:rPr lang="en-US" sz="1600" dirty="0">
                <a:latin typeface="Georgia"/>
              </a:rPr>
              <a:t> Hallmark · </a:t>
            </a:r>
            <a:r>
              <a:rPr lang="en-US" sz="1600" dirty="0" err="1">
                <a:latin typeface="Georgia"/>
              </a:rPr>
              <a:t>Reactome</a:t>
            </a:r>
            <a:r>
              <a:rPr lang="en-US" sz="1600" dirty="0">
                <a:latin typeface="Georgia"/>
              </a:rPr>
              <a:t>)</a:t>
            </a:r>
            <a:endParaRPr lang="en-US" dirty="0"/>
          </a:p>
          <a:p>
            <a:pPr>
              <a:lnSpc>
                <a:spcPct val="150000"/>
              </a:lnSpc>
            </a:pPr>
            <a:r>
              <a:rPr lang="en-US" sz="1600">
                <a:latin typeface="Georgia"/>
              </a:rPr>
              <a:t>Output: C-index · log-rank p · KM curves · HR · subgroup table · pathway enrichment table</a:t>
            </a:r>
            <a:endParaRPr lang="en-US"/>
          </a:p>
          <a:p>
            <a:pPr marL="0" indent="0">
              <a:lnSpc>
                <a:spcPct val="150000"/>
              </a:lnSpc>
              <a:buNone/>
            </a:pPr>
            <a:endParaRPr lang="en-US" sz="1600" b="1" dirty="0"/>
          </a:p>
          <a:p>
            <a:pPr marL="0" indent="0">
              <a:lnSpc>
                <a:spcPct val="150000"/>
              </a:lnSpc>
              <a:buNone/>
            </a:pPr>
            <a:endParaRPr lang="en-US" sz="1600" b="1" dirty="0"/>
          </a:p>
          <a:p>
            <a:pPr marL="0" indent="0">
              <a:lnSpc>
                <a:spcPct val="150000"/>
              </a:lnSpc>
              <a:buNone/>
            </a:pPr>
            <a:endParaRPr lang="en-US" sz="1600" b="1" dirty="0"/>
          </a:p>
          <a:p>
            <a:pPr>
              <a:lnSpc>
                <a:spcPct val="150000"/>
              </a:lnSpc>
              <a:buNone/>
            </a:pPr>
            <a:endParaRPr lang="en-US" sz="1600" b="1" dirty="0"/>
          </a:p>
          <a:p>
            <a:pPr>
              <a:buFont typeface="Arial"/>
              <a:buChar char="•"/>
            </a:pPr>
            <a:endParaRPr lang="en-US" sz="1600" dirty="0">
              <a:latin typeface="Georgia"/>
            </a:endParaRPr>
          </a:p>
          <a:p>
            <a:pPr>
              <a:lnSpc>
                <a:spcPct val="150000"/>
              </a:lnSpc>
              <a:buNone/>
            </a:pPr>
            <a:endParaRPr lang="en-US" sz="1600" b="1" dirty="0">
              <a:latin typeface="Georgia"/>
            </a:endParaRPr>
          </a:p>
          <a:p>
            <a:pPr marL="0" indent="0">
              <a:lnSpc>
                <a:spcPct val="110000"/>
              </a:lnSpc>
              <a:buNone/>
            </a:pPr>
            <a:endParaRPr lang="en-US" sz="1600" b="1" dirty="0"/>
          </a:p>
          <a:p>
            <a:pPr>
              <a:lnSpc>
                <a:spcPct val="140000"/>
              </a:lnSpc>
            </a:pPr>
            <a:endParaRPr lang="en-US" sz="1600" dirty="0"/>
          </a:p>
          <a:p>
            <a:pPr>
              <a:lnSpc>
                <a:spcPct val="150000"/>
              </a:lnSpc>
            </a:pPr>
            <a:endParaRPr lang="en-US" sz="1600" dirty="0"/>
          </a:p>
          <a:p>
            <a:pPr>
              <a:lnSpc>
                <a:spcPct val="150000"/>
              </a:lnSpc>
            </a:pPr>
            <a:endParaRPr lang="en-US" sz="1800" dirty="0"/>
          </a:p>
          <a:p>
            <a:endParaRPr lang="en-US" sz="1400" dirty="0"/>
          </a:p>
        </p:txBody>
      </p:sp>
      <p:sp>
        <p:nvSpPr>
          <p:cNvPr id="3" name="Title 2">
            <a:extLst>
              <a:ext uri="{FF2B5EF4-FFF2-40B4-BE49-F238E27FC236}">
                <a16:creationId xmlns:a16="http://schemas.microsoft.com/office/drawing/2014/main" id="{A6EA9C2C-4715-FD32-5C78-69BFF458D09B}"/>
              </a:ext>
            </a:extLst>
          </p:cNvPr>
          <p:cNvSpPr>
            <a:spLocks noGrp="1"/>
          </p:cNvSpPr>
          <p:nvPr>
            <p:ph type="title"/>
          </p:nvPr>
        </p:nvSpPr>
        <p:spPr>
          <a:xfrm>
            <a:off x="571499" y="180574"/>
            <a:ext cx="11209376" cy="464000"/>
          </a:xfrm>
        </p:spPr>
        <p:txBody>
          <a:bodyPr/>
          <a:lstStyle/>
          <a:p>
            <a:r>
              <a:rPr lang="en-US" dirty="0">
                <a:latin typeface="Georgia"/>
              </a:rPr>
              <a:t>Methodology/Proposed Method(</a:t>
            </a:r>
            <a:r>
              <a:rPr lang="en-US" dirty="0" err="1">
                <a:latin typeface="Georgia"/>
              </a:rPr>
              <a:t>Cont</a:t>
            </a:r>
            <a:r>
              <a:rPr lang="en-US" dirty="0">
                <a:latin typeface="Georgia"/>
              </a:rPr>
              <a:t>)</a:t>
            </a:r>
            <a:endParaRPr lang="en-US" dirty="0"/>
          </a:p>
        </p:txBody>
      </p:sp>
      <p:sp>
        <p:nvSpPr>
          <p:cNvPr id="4" name="Slide Number Placeholder 3">
            <a:extLst>
              <a:ext uri="{FF2B5EF4-FFF2-40B4-BE49-F238E27FC236}">
                <a16:creationId xmlns:a16="http://schemas.microsoft.com/office/drawing/2014/main" id="{0CC45C21-56F9-6140-6239-00AE041A66CA}"/>
              </a:ext>
            </a:extLst>
          </p:cNvPr>
          <p:cNvSpPr>
            <a:spLocks noGrp="1"/>
          </p:cNvSpPr>
          <p:nvPr>
            <p:ph type="sldNum" sz="quarter" idx="12"/>
          </p:nvPr>
        </p:nvSpPr>
        <p:spPr/>
        <p:txBody>
          <a:bodyPr/>
          <a:lstStyle/>
          <a:p>
            <a:fld id="{330EA680-D336-4FF7-8B7A-9848BB0A1C32}" type="slidenum">
              <a:rPr lang="en-US" smtClean="0"/>
              <a:pPr/>
              <a:t>18</a:t>
            </a:fld>
            <a:endParaRPr lang="en-US"/>
          </a:p>
        </p:txBody>
      </p:sp>
    </p:spTree>
    <p:extLst>
      <p:ext uri="{BB962C8B-B14F-4D97-AF65-F5344CB8AC3E}">
        <p14:creationId xmlns:p14="http://schemas.microsoft.com/office/powerpoint/2010/main" val="3339458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3B097B-A081-C68D-21DC-FD8051BEE12B}"/>
              </a:ext>
            </a:extLst>
          </p:cNvPr>
          <p:cNvSpPr>
            <a:spLocks noGrp="1"/>
          </p:cNvSpPr>
          <p:nvPr>
            <p:ph idx="1"/>
          </p:nvPr>
        </p:nvSpPr>
        <p:spPr/>
        <p:txBody>
          <a:bodyPr vert="horz" lIns="91440" tIns="45720" rIns="91440" bIns="45720" rtlCol="0" anchor="t">
            <a:normAutofit/>
          </a:bodyPr>
          <a:lstStyle/>
          <a:p>
            <a:pPr>
              <a:lnSpc>
                <a:spcPct val="150000"/>
              </a:lnSpc>
              <a:buFont typeface="Arial"/>
              <a:buChar char="•"/>
            </a:pPr>
            <a:r>
              <a:rPr lang="en-US" sz="1600" b="1">
                <a:latin typeface="Georgia"/>
              </a:rPr>
              <a:t>Harrell C-index</a:t>
            </a:r>
            <a:r>
              <a:rPr lang="en-US" sz="1600">
                <a:latin typeface="Georgia"/>
              </a:rPr>
              <a:t> — measures how well the model ranks patients by predicted survival risk (range 0.5–1.0; this work: 0.7478)</a:t>
            </a:r>
            <a:endParaRPr lang="en-US"/>
          </a:p>
          <a:p>
            <a:pPr>
              <a:lnSpc>
                <a:spcPct val="150000"/>
              </a:lnSpc>
              <a:buFont typeface="Arial"/>
            </a:pPr>
            <a:r>
              <a:rPr lang="en-US" sz="1600" b="1" dirty="0">
                <a:latin typeface="Georgia"/>
              </a:rPr>
              <a:t>Kaplan-Meier Survival Curves</a:t>
            </a:r>
            <a:r>
              <a:rPr lang="en-US" sz="1600" dirty="0">
                <a:latin typeface="Georgia"/>
              </a:rPr>
              <a:t> — </a:t>
            </a:r>
            <a:r>
              <a:rPr lang="en-US" sz="1600" dirty="0" err="1">
                <a:latin typeface="Georgia"/>
              </a:rPr>
              <a:t>visualises</a:t>
            </a:r>
            <a:r>
              <a:rPr lang="en-US" sz="1600" dirty="0">
                <a:latin typeface="Georgia"/>
              </a:rPr>
              <a:t> survival probability over time for High Risk vs Low Risk groups with log-rank test significance (p = 4.34×10⁻¹⁶)</a:t>
            </a:r>
            <a:endParaRPr lang="en-US" dirty="0"/>
          </a:p>
          <a:p>
            <a:pPr>
              <a:lnSpc>
                <a:spcPct val="150000"/>
              </a:lnSpc>
              <a:buFont typeface="Arial"/>
            </a:pPr>
            <a:r>
              <a:rPr lang="en-US" sz="1600" b="1" dirty="0">
                <a:latin typeface="Georgia"/>
              </a:rPr>
              <a:t>Multivariate Cox Regression</a:t>
            </a:r>
            <a:r>
              <a:rPr lang="en-US" sz="1600" dirty="0">
                <a:latin typeface="Georgia"/>
              </a:rPr>
              <a:t> — confirms the risk score as an independent prognostic factor after adjusting for </a:t>
            </a:r>
            <a:r>
              <a:rPr lang="en-US" sz="1600" dirty="0" err="1">
                <a:latin typeface="Georgia"/>
              </a:rPr>
              <a:t>tumour</a:t>
            </a:r>
            <a:r>
              <a:rPr lang="en-US" sz="1600" dirty="0">
                <a:latin typeface="Georgia"/>
              </a:rPr>
              <a:t> stage and age (HR = 1.273, p = 0.004)</a:t>
            </a:r>
            <a:endParaRPr lang="en-US" dirty="0"/>
          </a:p>
          <a:p>
            <a:pPr>
              <a:lnSpc>
                <a:spcPct val="150000"/>
              </a:lnSpc>
              <a:buFont typeface="Arial"/>
              <a:buChar char="•"/>
            </a:pPr>
            <a:r>
              <a:rPr lang="en-US" sz="1600" b="1">
                <a:latin typeface="Georgia"/>
              </a:rPr>
              <a:t>Clinical Subgroup Validation</a:t>
            </a:r>
            <a:r>
              <a:rPr lang="en-US" sz="1600">
                <a:latin typeface="Georgia"/>
              </a:rPr>
              <a:t> — evaluates model robustness across 7 subgroups (Stage I/II, Stage III/IV, Male, Female, Age &lt;60, Age ≥60, All patients)</a:t>
            </a:r>
            <a:endParaRPr lang="en-US"/>
          </a:p>
          <a:p>
            <a:pPr marL="0" indent="0">
              <a:buNone/>
            </a:pPr>
            <a:endParaRPr lang="en-US" sz="1600" b="1" dirty="0">
              <a:latin typeface="Georgia"/>
            </a:endParaRPr>
          </a:p>
          <a:p>
            <a:endParaRPr lang="en-US" b="1" dirty="0"/>
          </a:p>
          <a:p>
            <a:endParaRPr lang="en-US"/>
          </a:p>
          <a:p>
            <a:endParaRPr lang="en-US"/>
          </a:p>
          <a:p>
            <a:endParaRPr lang="en-US" dirty="0"/>
          </a:p>
        </p:txBody>
      </p:sp>
      <p:sp>
        <p:nvSpPr>
          <p:cNvPr id="3" name="Title 2">
            <a:extLst>
              <a:ext uri="{FF2B5EF4-FFF2-40B4-BE49-F238E27FC236}">
                <a16:creationId xmlns:a16="http://schemas.microsoft.com/office/drawing/2014/main" id="{5F675447-CA07-896B-9F39-2A5537ABFFA1}"/>
              </a:ext>
            </a:extLst>
          </p:cNvPr>
          <p:cNvSpPr>
            <a:spLocks noGrp="1"/>
          </p:cNvSpPr>
          <p:nvPr>
            <p:ph type="title"/>
          </p:nvPr>
        </p:nvSpPr>
        <p:spPr/>
        <p:txBody>
          <a:bodyPr/>
          <a:lstStyle/>
          <a:p>
            <a:r>
              <a:rPr lang="en-US" dirty="0">
                <a:latin typeface="Georgia"/>
              </a:rPr>
              <a:t>Evaluation </a:t>
            </a:r>
            <a:r>
              <a:rPr lang="en-US">
                <a:latin typeface="Georgia"/>
              </a:rPr>
              <a:t>Metrics</a:t>
            </a:r>
            <a:endParaRPr lang="en-US"/>
          </a:p>
        </p:txBody>
      </p:sp>
      <p:sp>
        <p:nvSpPr>
          <p:cNvPr id="4" name="Slide Number Placeholder 3">
            <a:extLst>
              <a:ext uri="{FF2B5EF4-FFF2-40B4-BE49-F238E27FC236}">
                <a16:creationId xmlns:a16="http://schemas.microsoft.com/office/drawing/2014/main" id="{F9ED2B90-B19D-9209-512A-981C57D309D1}"/>
              </a:ext>
            </a:extLst>
          </p:cNvPr>
          <p:cNvSpPr>
            <a:spLocks noGrp="1"/>
          </p:cNvSpPr>
          <p:nvPr>
            <p:ph type="sldNum" sz="quarter" idx="12"/>
          </p:nvPr>
        </p:nvSpPr>
        <p:spPr/>
        <p:txBody>
          <a:bodyPr/>
          <a:lstStyle/>
          <a:p>
            <a:fld id="{330EA680-D336-4FF7-8B7A-9848BB0A1C32}" type="slidenum">
              <a:rPr lang="en-US" smtClean="0"/>
              <a:pPr/>
              <a:t>19</a:t>
            </a:fld>
            <a:endParaRPr lang="en-US"/>
          </a:p>
        </p:txBody>
      </p:sp>
    </p:spTree>
    <p:extLst>
      <p:ext uri="{BB962C8B-B14F-4D97-AF65-F5344CB8AC3E}">
        <p14:creationId xmlns:p14="http://schemas.microsoft.com/office/powerpoint/2010/main" val="40124736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6A491-A95C-7722-1C69-8DA377D3B60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E736A3-90A6-71EF-9CD4-9617590876C8}"/>
              </a:ext>
            </a:extLst>
          </p:cNvPr>
          <p:cNvSpPr>
            <a:spLocks noGrp="1"/>
          </p:cNvSpPr>
          <p:nvPr>
            <p:ph idx="1"/>
          </p:nvPr>
        </p:nvSpPr>
        <p:spPr/>
        <p:txBody>
          <a:bodyPr vert="horz" lIns="91440" tIns="45720" rIns="91440" bIns="45720" rtlCol="0" anchor="t">
            <a:normAutofit/>
          </a:bodyPr>
          <a:lstStyle/>
          <a:p>
            <a:r>
              <a:rPr lang="en-US" sz="2000" b="1" dirty="0">
                <a:latin typeface="Georgia"/>
                <a:ea typeface="Calibri"/>
                <a:cs typeface="Calibri"/>
              </a:rPr>
              <a:t>LASSO-Cox Gene Signature Performance</a:t>
            </a:r>
            <a:endParaRPr lang="en-US" dirty="0"/>
          </a:p>
          <a:p>
            <a:endParaRPr lang="en-US" sz="2000" b="1" dirty="0">
              <a:ea typeface="Calibri"/>
              <a:cs typeface="Calibri"/>
            </a:endParaRPr>
          </a:p>
          <a:p>
            <a:pPr marL="285750">
              <a:lnSpc>
                <a:spcPct val="150000"/>
              </a:lnSpc>
              <a:spcBef>
                <a:spcPts val="0"/>
              </a:spcBef>
              <a:spcAft>
                <a:spcPts val="600"/>
              </a:spcAft>
              <a:buFont typeface="Arial,Sans-Serif" panose="020B0604020202020204" pitchFamily="34" charset="0"/>
            </a:pPr>
            <a:r>
              <a:rPr lang="en-US" sz="1600" dirty="0">
                <a:latin typeface="Calisto MT"/>
                <a:ea typeface="Calibri"/>
                <a:cs typeface="Calibri"/>
              </a:rPr>
              <a:t>56 genes selected</a:t>
            </a:r>
            <a:endParaRPr lang="en-US" dirty="0"/>
          </a:p>
          <a:p>
            <a:pPr marL="285750">
              <a:lnSpc>
                <a:spcPct val="150000"/>
              </a:lnSpc>
              <a:spcBef>
                <a:spcPts val="0"/>
              </a:spcBef>
              <a:spcAft>
                <a:spcPts val="600"/>
              </a:spcAft>
              <a:buFont typeface="Arial,Sans-Serif" panose="020B0604020202020204" pitchFamily="34" charset="0"/>
            </a:pPr>
            <a:r>
              <a:rPr lang="en-US" sz="1600" dirty="0">
                <a:latin typeface="Calisto MT"/>
                <a:ea typeface="Calibri"/>
                <a:cs typeface="Calibri"/>
              </a:rPr>
              <a:t>C-index = 0.7478</a:t>
            </a:r>
            <a:endParaRPr lang="en-US" dirty="0"/>
          </a:p>
          <a:p>
            <a:pPr marL="285750">
              <a:lnSpc>
                <a:spcPct val="150000"/>
              </a:lnSpc>
              <a:spcBef>
                <a:spcPts val="0"/>
              </a:spcBef>
              <a:spcAft>
                <a:spcPts val="600"/>
              </a:spcAft>
              <a:buFont typeface="Arial,Sans-Serif" panose="020B0604020202020204" pitchFamily="34" charset="0"/>
            </a:pPr>
            <a:r>
              <a:rPr lang="en-US" sz="1600" dirty="0">
                <a:latin typeface="Calisto MT"/>
                <a:ea typeface="Calibri"/>
                <a:cs typeface="Calibri"/>
              </a:rPr>
              <a:t>Log-rank p = 4.34×10⁻¹⁶</a:t>
            </a:r>
            <a:endParaRPr lang="en-US" dirty="0"/>
          </a:p>
          <a:p>
            <a:pPr marL="285750">
              <a:lnSpc>
                <a:spcPct val="150000"/>
              </a:lnSpc>
              <a:spcBef>
                <a:spcPts val="0"/>
              </a:spcBef>
              <a:spcAft>
                <a:spcPts val="600"/>
              </a:spcAft>
              <a:buFont typeface="Arial,Sans-Serif" panose="020B0604020202020204" pitchFamily="34" charset="0"/>
            </a:pPr>
            <a:r>
              <a:rPr lang="en-US" sz="1600" dirty="0">
                <a:latin typeface="Calisto MT"/>
                <a:ea typeface="Calibri"/>
                <a:cs typeface="Calibri"/>
              </a:rPr>
              <a:t>High Risk: n=101, Median OS = 373 days, Deaths = 60.4%</a:t>
            </a:r>
            <a:endParaRPr lang="en-US" dirty="0"/>
          </a:p>
          <a:p>
            <a:pPr marL="285750">
              <a:lnSpc>
                <a:spcPct val="150000"/>
              </a:lnSpc>
              <a:spcBef>
                <a:spcPts val="0"/>
              </a:spcBef>
              <a:spcAft>
                <a:spcPts val="600"/>
              </a:spcAft>
              <a:buFont typeface="Arial,Sans-Serif" panose="020B0604020202020204" pitchFamily="34" charset="0"/>
            </a:pPr>
            <a:r>
              <a:rPr lang="en-US" sz="1600" dirty="0">
                <a:latin typeface="Calisto MT"/>
                <a:ea typeface="Calibri"/>
                <a:cs typeface="Calibri"/>
              </a:rPr>
              <a:t>Low Risk: n=264, Median OS = 672 days, Deaths = 26.5%</a:t>
            </a:r>
            <a:endParaRPr lang="en-US" dirty="0"/>
          </a:p>
          <a:p>
            <a:pPr marL="285750">
              <a:lnSpc>
                <a:spcPct val="150000"/>
              </a:lnSpc>
              <a:spcBef>
                <a:spcPts val="0"/>
              </a:spcBef>
              <a:spcAft>
                <a:spcPts val="600"/>
              </a:spcAft>
              <a:buFont typeface="Arial,Sans-Serif" panose="020B0604020202020204" pitchFamily="34" charset="0"/>
            </a:pPr>
            <a:endParaRPr lang="en-US" sz="1600" dirty="0">
              <a:latin typeface="Calisto MT"/>
              <a:ea typeface="Calibri"/>
              <a:cs typeface="Calibri"/>
            </a:endParaRPr>
          </a:p>
          <a:p>
            <a:endParaRPr lang="en-US" sz="2000" b="1" dirty="0">
              <a:latin typeface="Georgia"/>
              <a:ea typeface="Calibri"/>
              <a:cs typeface="Calibri"/>
            </a:endParaRPr>
          </a:p>
          <a:p>
            <a:endParaRPr lang="en-US" sz="2000" b="1" dirty="0">
              <a:latin typeface="Georgia"/>
              <a:ea typeface="Calibri"/>
              <a:cs typeface="Calibri"/>
            </a:endParaRPr>
          </a:p>
          <a:p>
            <a:endParaRPr lang="en-US" sz="2000" b="1" dirty="0">
              <a:latin typeface="Georgia"/>
              <a:ea typeface="Calibri"/>
              <a:cs typeface="Calibri"/>
            </a:endParaRPr>
          </a:p>
        </p:txBody>
      </p:sp>
      <p:sp>
        <p:nvSpPr>
          <p:cNvPr id="3" name="Title 2">
            <a:extLst>
              <a:ext uri="{FF2B5EF4-FFF2-40B4-BE49-F238E27FC236}">
                <a16:creationId xmlns:a16="http://schemas.microsoft.com/office/drawing/2014/main" id="{71D39374-5FE5-2EBF-5878-CF1209DED370}"/>
              </a:ext>
            </a:extLst>
          </p:cNvPr>
          <p:cNvSpPr>
            <a:spLocks noGrp="1"/>
          </p:cNvSpPr>
          <p:nvPr>
            <p:ph type="title"/>
          </p:nvPr>
        </p:nvSpPr>
        <p:spPr/>
        <p:txBody>
          <a:bodyPr/>
          <a:lstStyle/>
          <a:p>
            <a:r>
              <a:rPr lang="en-US" dirty="0">
                <a:latin typeface="Georgia"/>
              </a:rPr>
              <a:t>Result Analysis</a:t>
            </a:r>
            <a:endParaRPr lang="en-US" dirty="0"/>
          </a:p>
        </p:txBody>
      </p:sp>
      <p:sp>
        <p:nvSpPr>
          <p:cNvPr id="4" name="Slide Number Placeholder 3">
            <a:extLst>
              <a:ext uri="{FF2B5EF4-FFF2-40B4-BE49-F238E27FC236}">
                <a16:creationId xmlns:a16="http://schemas.microsoft.com/office/drawing/2014/main" id="{4889B3D4-EE92-6023-95C0-087B3A666459}"/>
              </a:ext>
            </a:extLst>
          </p:cNvPr>
          <p:cNvSpPr>
            <a:spLocks noGrp="1"/>
          </p:cNvSpPr>
          <p:nvPr>
            <p:ph type="sldNum" sz="quarter" idx="12"/>
          </p:nvPr>
        </p:nvSpPr>
        <p:spPr/>
        <p:txBody>
          <a:bodyPr/>
          <a:lstStyle/>
          <a:p>
            <a:fld id="{330EA680-D336-4FF7-8B7A-9848BB0A1C32}" type="slidenum">
              <a:rPr lang="en-US" smtClean="0"/>
              <a:pPr/>
              <a:t>20</a:t>
            </a:fld>
            <a:endParaRPr lang="en-US"/>
          </a:p>
        </p:txBody>
      </p:sp>
      <p:pic>
        <p:nvPicPr>
          <p:cNvPr id="6" name="Picture 5">
            <a:extLst>
              <a:ext uri="{FF2B5EF4-FFF2-40B4-BE49-F238E27FC236}">
                <a16:creationId xmlns:a16="http://schemas.microsoft.com/office/drawing/2014/main" id="{B150B4D7-8BC4-59C1-3F3D-D4A8524FC166}"/>
              </a:ext>
            </a:extLst>
          </p:cNvPr>
          <p:cNvPicPr>
            <a:picLocks noChangeAspect="1"/>
          </p:cNvPicPr>
          <p:nvPr/>
        </p:nvPicPr>
        <p:blipFill>
          <a:blip r:embed="rId2"/>
          <a:stretch>
            <a:fillRect/>
          </a:stretch>
        </p:blipFill>
        <p:spPr>
          <a:xfrm>
            <a:off x="6749951" y="818029"/>
            <a:ext cx="5438041" cy="4908177"/>
          </a:xfrm>
          <a:prstGeom prst="rect">
            <a:avLst/>
          </a:prstGeom>
        </p:spPr>
      </p:pic>
    </p:spTree>
    <p:extLst>
      <p:ext uri="{BB962C8B-B14F-4D97-AF65-F5344CB8AC3E}">
        <p14:creationId xmlns:p14="http://schemas.microsoft.com/office/powerpoint/2010/main" val="4610935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FA6C2-E446-6C6A-4A07-1974573D915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2BE035-9A71-58A9-222E-1F44AEDFB373}"/>
              </a:ext>
            </a:extLst>
          </p:cNvPr>
          <p:cNvSpPr>
            <a:spLocks noGrp="1"/>
          </p:cNvSpPr>
          <p:nvPr>
            <p:ph idx="1"/>
          </p:nvPr>
        </p:nvSpPr>
        <p:spPr>
          <a:xfrm>
            <a:off x="168087" y="1148462"/>
            <a:ext cx="5763318" cy="4784817"/>
          </a:xfrm>
        </p:spPr>
        <p:txBody>
          <a:bodyPr vert="horz" lIns="91440" tIns="45720" rIns="91440" bIns="45720" rtlCol="0" anchor="t">
            <a:normAutofit/>
          </a:bodyPr>
          <a:lstStyle/>
          <a:p>
            <a:r>
              <a:rPr lang="en-US" sz="2000" b="1">
                <a:latin typeface="Georgia"/>
                <a:ea typeface="Calibri"/>
                <a:cs typeface="Calibri"/>
              </a:rPr>
              <a:t>Graph Transformer Survival Stratification</a:t>
            </a:r>
            <a:endParaRPr lang="en-US">
              <a:ea typeface="Calibri"/>
              <a:cs typeface="Calibri"/>
            </a:endParaRPr>
          </a:p>
          <a:p>
            <a:pPr marL="0" indent="0">
              <a:buNone/>
            </a:pPr>
            <a:endParaRPr lang="en-US" sz="2000" b="1" dirty="0">
              <a:latin typeface="Georgia"/>
              <a:ea typeface="Calibri"/>
              <a:cs typeface="Calibri"/>
            </a:endParaRPr>
          </a:p>
          <a:p>
            <a:pPr marL="285750">
              <a:lnSpc>
                <a:spcPct val="150000"/>
              </a:lnSpc>
              <a:spcBef>
                <a:spcPts val="0"/>
              </a:spcBef>
              <a:spcAft>
                <a:spcPts val="600"/>
              </a:spcAft>
              <a:buFont typeface="Arial,Sans-Serif" panose="020B0604020202020204" pitchFamily="34" charset="0"/>
            </a:pPr>
            <a:r>
              <a:rPr lang="en-US" sz="1600">
                <a:latin typeface="Calisto MT"/>
                <a:ea typeface="Calibri"/>
                <a:cs typeface="Calibri"/>
              </a:rPr>
              <a:t>C-index = 0.7425</a:t>
            </a:r>
            <a:endParaRPr lang="en-US">
              <a:latin typeface="Georgia"/>
              <a:ea typeface="Calibri"/>
              <a:cs typeface="Calibri"/>
            </a:endParaRPr>
          </a:p>
          <a:p>
            <a:pPr marL="285750">
              <a:lnSpc>
                <a:spcPct val="150000"/>
              </a:lnSpc>
              <a:spcBef>
                <a:spcPts val="0"/>
              </a:spcBef>
              <a:spcAft>
                <a:spcPts val="600"/>
              </a:spcAft>
              <a:buFont typeface="Arial,Sans-Serif" panose="020B0604020202020204" pitchFamily="34" charset="0"/>
            </a:pPr>
            <a:r>
              <a:rPr lang="en-US" sz="1600">
                <a:latin typeface="Calisto MT"/>
                <a:ea typeface="Calibri"/>
                <a:cs typeface="Calibri"/>
              </a:rPr>
              <a:t>Log-rank p = 1.69×10⁻¹⁷</a:t>
            </a:r>
            <a:endParaRPr lang="en-US"/>
          </a:p>
          <a:p>
            <a:pPr marL="285750">
              <a:lnSpc>
                <a:spcPct val="150000"/>
              </a:lnSpc>
              <a:spcBef>
                <a:spcPts val="0"/>
              </a:spcBef>
              <a:spcAft>
                <a:spcPts val="600"/>
              </a:spcAft>
              <a:buFont typeface="Arial,Sans-Serif" panose="020B0604020202020204" pitchFamily="34" charset="0"/>
            </a:pPr>
            <a:r>
              <a:rPr lang="en-US" sz="1600">
                <a:latin typeface="Calisto MT"/>
                <a:ea typeface="Calibri"/>
                <a:cs typeface="Calibri"/>
              </a:rPr>
              <a:t>High Risk: n=209, Median OS = 476 days, Deaths = 56.9%</a:t>
            </a:r>
            <a:endParaRPr lang="en-US"/>
          </a:p>
          <a:p>
            <a:pPr marL="285750">
              <a:lnSpc>
                <a:spcPct val="150000"/>
              </a:lnSpc>
              <a:spcBef>
                <a:spcPts val="0"/>
              </a:spcBef>
              <a:spcAft>
                <a:spcPts val="600"/>
              </a:spcAft>
              <a:buFont typeface="Arial,Sans-Serif" panose="020B0604020202020204" pitchFamily="34" charset="0"/>
            </a:pPr>
            <a:r>
              <a:rPr lang="en-US" sz="1600">
                <a:latin typeface="Calisto MT"/>
                <a:ea typeface="Calibri"/>
                <a:cs typeface="Calibri"/>
              </a:rPr>
              <a:t>Low Risk: n=209, Median OS = 680 days, Deaths = 22.5%</a:t>
            </a:r>
            <a:endParaRPr lang="en-US"/>
          </a:p>
          <a:p>
            <a:pPr marL="285750">
              <a:lnSpc>
                <a:spcPct val="150000"/>
              </a:lnSpc>
              <a:spcBef>
                <a:spcPts val="0"/>
              </a:spcBef>
              <a:spcAft>
                <a:spcPts val="600"/>
              </a:spcAft>
              <a:buFont typeface="Arial,Sans-Serif" panose="020B0604020202020204" pitchFamily="34" charset="0"/>
            </a:pPr>
            <a:endParaRPr lang="en-US" sz="1600" dirty="0">
              <a:latin typeface="Calisto MT"/>
              <a:ea typeface="Calibri"/>
              <a:cs typeface="Calibri"/>
            </a:endParaRPr>
          </a:p>
          <a:p>
            <a:endParaRPr lang="en-US" sz="2000" b="1" dirty="0">
              <a:latin typeface="Georgia"/>
              <a:ea typeface="Calibri"/>
              <a:cs typeface="Calibri"/>
            </a:endParaRPr>
          </a:p>
          <a:p>
            <a:endParaRPr lang="en-US" sz="2000" b="1" dirty="0">
              <a:latin typeface="Georgia"/>
              <a:ea typeface="Calibri"/>
              <a:cs typeface="Calibri"/>
            </a:endParaRPr>
          </a:p>
          <a:p>
            <a:endParaRPr lang="en-US" sz="2000" b="1" dirty="0">
              <a:latin typeface="Georgia"/>
              <a:ea typeface="Calibri"/>
              <a:cs typeface="Calibri"/>
            </a:endParaRPr>
          </a:p>
        </p:txBody>
      </p:sp>
      <p:sp>
        <p:nvSpPr>
          <p:cNvPr id="3" name="Title 2">
            <a:extLst>
              <a:ext uri="{FF2B5EF4-FFF2-40B4-BE49-F238E27FC236}">
                <a16:creationId xmlns:a16="http://schemas.microsoft.com/office/drawing/2014/main" id="{524907A5-73D3-FE2F-9584-EABA95F22BF0}"/>
              </a:ext>
            </a:extLst>
          </p:cNvPr>
          <p:cNvSpPr>
            <a:spLocks noGrp="1"/>
          </p:cNvSpPr>
          <p:nvPr>
            <p:ph type="title"/>
          </p:nvPr>
        </p:nvSpPr>
        <p:spPr/>
        <p:txBody>
          <a:bodyPr/>
          <a:lstStyle/>
          <a:p>
            <a:r>
              <a:rPr lang="en-US" dirty="0">
                <a:latin typeface="Georgia"/>
              </a:rPr>
              <a:t>Result Analysis</a:t>
            </a:r>
            <a:endParaRPr lang="en-US" dirty="0"/>
          </a:p>
        </p:txBody>
      </p:sp>
      <p:sp>
        <p:nvSpPr>
          <p:cNvPr id="4" name="Slide Number Placeholder 3">
            <a:extLst>
              <a:ext uri="{FF2B5EF4-FFF2-40B4-BE49-F238E27FC236}">
                <a16:creationId xmlns:a16="http://schemas.microsoft.com/office/drawing/2014/main" id="{B6F203CF-AD1C-D855-18DF-51A57DC1C092}"/>
              </a:ext>
            </a:extLst>
          </p:cNvPr>
          <p:cNvSpPr>
            <a:spLocks noGrp="1"/>
          </p:cNvSpPr>
          <p:nvPr>
            <p:ph type="sldNum" sz="quarter" idx="12"/>
          </p:nvPr>
        </p:nvSpPr>
        <p:spPr/>
        <p:txBody>
          <a:bodyPr/>
          <a:lstStyle/>
          <a:p>
            <a:fld id="{330EA680-D336-4FF7-8B7A-9848BB0A1C32}" type="slidenum">
              <a:rPr lang="en-US" smtClean="0"/>
              <a:pPr/>
              <a:t>21</a:t>
            </a:fld>
            <a:endParaRPr lang="en-US"/>
          </a:p>
        </p:txBody>
      </p:sp>
      <p:pic>
        <p:nvPicPr>
          <p:cNvPr id="6" name="Picture 5">
            <a:extLst>
              <a:ext uri="{FF2B5EF4-FFF2-40B4-BE49-F238E27FC236}">
                <a16:creationId xmlns:a16="http://schemas.microsoft.com/office/drawing/2014/main" id="{4B4059E5-75BD-85F8-22EF-26DC843E76F9}"/>
              </a:ext>
            </a:extLst>
          </p:cNvPr>
          <p:cNvPicPr>
            <a:picLocks noChangeAspect="1"/>
          </p:cNvPicPr>
          <p:nvPr/>
        </p:nvPicPr>
        <p:blipFill>
          <a:blip r:embed="rId2"/>
          <a:stretch>
            <a:fillRect/>
          </a:stretch>
        </p:blipFill>
        <p:spPr>
          <a:xfrm>
            <a:off x="5730214" y="717176"/>
            <a:ext cx="6256071" cy="5109883"/>
          </a:xfrm>
          <a:prstGeom prst="rect">
            <a:avLst/>
          </a:prstGeom>
        </p:spPr>
      </p:pic>
    </p:spTree>
    <p:extLst>
      <p:ext uri="{BB962C8B-B14F-4D97-AF65-F5344CB8AC3E}">
        <p14:creationId xmlns:p14="http://schemas.microsoft.com/office/powerpoint/2010/main" val="25702787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9C733-412F-2A5B-6E1D-CD5FDBA2333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996725-E958-239A-1B84-564F93230135}"/>
              </a:ext>
            </a:extLst>
          </p:cNvPr>
          <p:cNvSpPr>
            <a:spLocks noGrp="1"/>
          </p:cNvSpPr>
          <p:nvPr>
            <p:ph idx="1"/>
          </p:nvPr>
        </p:nvSpPr>
        <p:spPr/>
        <p:txBody>
          <a:bodyPr vert="horz" lIns="91440" tIns="45720" rIns="91440" bIns="45720" rtlCol="0" anchor="t">
            <a:normAutofit/>
          </a:bodyPr>
          <a:lstStyle/>
          <a:p>
            <a:r>
              <a:rPr lang="en-US" sz="2000" b="1">
                <a:latin typeface="Georgia"/>
                <a:ea typeface="Calibri"/>
                <a:cs typeface="Calibri"/>
              </a:rPr>
              <a:t>Clinical Subgroup Validation</a:t>
            </a:r>
            <a:endParaRPr lang="en-US"/>
          </a:p>
          <a:p>
            <a:endParaRPr lang="en-US" sz="2000" b="1" dirty="0">
              <a:latin typeface="Georgia"/>
              <a:ea typeface="Calibri"/>
              <a:cs typeface="Calibri"/>
            </a:endParaRPr>
          </a:p>
          <a:p>
            <a:endParaRPr lang="en-US" sz="2000" b="1" dirty="0">
              <a:latin typeface="Georgia"/>
              <a:ea typeface="Calibri"/>
              <a:cs typeface="Calibri"/>
            </a:endParaRPr>
          </a:p>
          <a:p>
            <a:endParaRPr lang="en-US" sz="2000" b="1" dirty="0">
              <a:latin typeface="Georgia"/>
              <a:ea typeface="Calibri"/>
              <a:cs typeface="Calibri"/>
            </a:endParaRPr>
          </a:p>
        </p:txBody>
      </p:sp>
      <p:sp>
        <p:nvSpPr>
          <p:cNvPr id="3" name="Title 2">
            <a:extLst>
              <a:ext uri="{FF2B5EF4-FFF2-40B4-BE49-F238E27FC236}">
                <a16:creationId xmlns:a16="http://schemas.microsoft.com/office/drawing/2014/main" id="{6AF86876-8186-0F8D-57BE-1DB063859D79}"/>
              </a:ext>
            </a:extLst>
          </p:cNvPr>
          <p:cNvSpPr>
            <a:spLocks noGrp="1"/>
          </p:cNvSpPr>
          <p:nvPr>
            <p:ph type="title"/>
          </p:nvPr>
        </p:nvSpPr>
        <p:spPr/>
        <p:txBody>
          <a:bodyPr/>
          <a:lstStyle/>
          <a:p>
            <a:r>
              <a:rPr lang="en-US" dirty="0">
                <a:latin typeface="Georgia"/>
              </a:rPr>
              <a:t>Result Analysis</a:t>
            </a:r>
            <a:endParaRPr lang="en-US" dirty="0"/>
          </a:p>
        </p:txBody>
      </p:sp>
      <p:sp>
        <p:nvSpPr>
          <p:cNvPr id="4" name="Slide Number Placeholder 3">
            <a:extLst>
              <a:ext uri="{FF2B5EF4-FFF2-40B4-BE49-F238E27FC236}">
                <a16:creationId xmlns:a16="http://schemas.microsoft.com/office/drawing/2014/main" id="{7D9EFE83-180C-76AB-C32E-3DADD5439B30}"/>
              </a:ext>
            </a:extLst>
          </p:cNvPr>
          <p:cNvSpPr>
            <a:spLocks noGrp="1"/>
          </p:cNvSpPr>
          <p:nvPr>
            <p:ph type="sldNum" sz="quarter" idx="12"/>
          </p:nvPr>
        </p:nvSpPr>
        <p:spPr/>
        <p:txBody>
          <a:bodyPr/>
          <a:lstStyle/>
          <a:p>
            <a:fld id="{330EA680-D336-4FF7-8B7A-9848BB0A1C32}" type="slidenum">
              <a:rPr lang="en-US" smtClean="0"/>
              <a:pPr/>
              <a:t>22</a:t>
            </a:fld>
            <a:endParaRPr lang="en-US"/>
          </a:p>
        </p:txBody>
      </p:sp>
      <p:graphicFrame>
        <p:nvGraphicFramePr>
          <p:cNvPr id="6" name="Table 5">
            <a:extLst>
              <a:ext uri="{FF2B5EF4-FFF2-40B4-BE49-F238E27FC236}">
                <a16:creationId xmlns:a16="http://schemas.microsoft.com/office/drawing/2014/main" id="{2FD511DA-5A6B-52B9-4BC5-A520106CCFC9}"/>
              </a:ext>
            </a:extLst>
          </p:cNvPr>
          <p:cNvGraphicFramePr>
            <a:graphicFrameLocks noGrp="1"/>
          </p:cNvGraphicFramePr>
          <p:nvPr>
            <p:extLst>
              <p:ext uri="{D42A27DB-BD31-4B8C-83A1-F6EECF244321}">
                <p14:modId xmlns:p14="http://schemas.microsoft.com/office/powerpoint/2010/main" val="3109373177"/>
              </p:ext>
            </p:extLst>
          </p:nvPr>
        </p:nvGraphicFramePr>
        <p:xfrm>
          <a:off x="745415" y="1719700"/>
          <a:ext cx="9342324" cy="4230584"/>
        </p:xfrm>
        <a:graphic>
          <a:graphicData uri="http://schemas.openxmlformats.org/drawingml/2006/table">
            <a:tbl>
              <a:tblPr firstRow="1" bandRow="1">
                <a:tableStyleId>{5C22544A-7EE6-4342-B048-85BDC9FD1C3A}</a:tableStyleId>
              </a:tblPr>
              <a:tblGrid>
                <a:gridCol w="2335581">
                  <a:extLst>
                    <a:ext uri="{9D8B030D-6E8A-4147-A177-3AD203B41FA5}">
                      <a16:colId xmlns:a16="http://schemas.microsoft.com/office/drawing/2014/main" val="4259078609"/>
                    </a:ext>
                  </a:extLst>
                </a:gridCol>
                <a:gridCol w="2335581">
                  <a:extLst>
                    <a:ext uri="{9D8B030D-6E8A-4147-A177-3AD203B41FA5}">
                      <a16:colId xmlns:a16="http://schemas.microsoft.com/office/drawing/2014/main" val="2001896332"/>
                    </a:ext>
                  </a:extLst>
                </a:gridCol>
                <a:gridCol w="2335581">
                  <a:extLst>
                    <a:ext uri="{9D8B030D-6E8A-4147-A177-3AD203B41FA5}">
                      <a16:colId xmlns:a16="http://schemas.microsoft.com/office/drawing/2014/main" val="1003037441"/>
                    </a:ext>
                  </a:extLst>
                </a:gridCol>
                <a:gridCol w="2335581">
                  <a:extLst>
                    <a:ext uri="{9D8B030D-6E8A-4147-A177-3AD203B41FA5}">
                      <a16:colId xmlns:a16="http://schemas.microsoft.com/office/drawing/2014/main" val="3293638650"/>
                    </a:ext>
                  </a:extLst>
                </a:gridCol>
              </a:tblGrid>
              <a:tr h="528823">
                <a:tc>
                  <a:txBody>
                    <a:bodyPr/>
                    <a:lstStyle/>
                    <a:p>
                      <a:r>
                        <a:rPr lang="en-US"/>
                        <a:t>Subgroup</a:t>
                      </a:r>
                    </a:p>
                  </a:txBody>
                  <a:tcPr/>
                </a:tc>
                <a:tc>
                  <a:txBody>
                    <a:bodyPr/>
                    <a:lstStyle/>
                    <a:p>
                      <a:r>
                        <a:rPr lang="en-US"/>
                        <a:t>High n</a:t>
                      </a:r>
                    </a:p>
                  </a:txBody>
                  <a:tcPr/>
                </a:tc>
                <a:tc>
                  <a:txBody>
                    <a:bodyPr/>
                    <a:lstStyle/>
                    <a:p>
                      <a:r>
                        <a:rPr lang="en-US"/>
                        <a:t>Low n</a:t>
                      </a:r>
                    </a:p>
                  </a:txBody>
                  <a:tcPr/>
                </a:tc>
                <a:tc>
                  <a:txBody>
                    <a:bodyPr/>
                    <a:lstStyle/>
                    <a:p>
                      <a:r>
                        <a:rPr lang="en-US"/>
                        <a:t>Log-rank p</a:t>
                      </a:r>
                    </a:p>
                  </a:txBody>
                  <a:tcPr/>
                </a:tc>
                <a:extLst>
                  <a:ext uri="{0D108BD9-81ED-4DB2-BD59-A6C34878D82A}">
                    <a16:rowId xmlns:a16="http://schemas.microsoft.com/office/drawing/2014/main" val="4075874669"/>
                  </a:ext>
                </a:extLst>
              </a:tr>
              <a:tr h="528823">
                <a:tc>
                  <a:txBody>
                    <a:bodyPr/>
                    <a:lstStyle/>
                    <a:p>
                      <a:r>
                        <a:rPr lang="en-US"/>
                        <a:t>All patients</a:t>
                      </a:r>
                    </a:p>
                  </a:txBody>
                  <a:tcPr/>
                </a:tc>
                <a:tc>
                  <a:txBody>
                    <a:bodyPr/>
                    <a:lstStyle/>
                    <a:p>
                      <a:r>
                        <a:rPr lang="en-US"/>
                        <a:t>101</a:t>
                      </a:r>
                    </a:p>
                  </a:txBody>
                  <a:tcPr/>
                </a:tc>
                <a:tc>
                  <a:txBody>
                    <a:bodyPr/>
                    <a:lstStyle/>
                    <a:p>
                      <a:r>
                        <a:rPr lang="en-US"/>
                        <a:t>264</a:t>
                      </a:r>
                    </a:p>
                  </a:txBody>
                  <a:tcPr/>
                </a:tc>
                <a:tc>
                  <a:txBody>
                    <a:bodyPr/>
                    <a:lstStyle/>
                    <a:p>
                      <a:pPr lvl="0">
                        <a:buNone/>
                      </a:pPr>
                      <a:r>
                        <a:rPr lang="en-US" sz="1800" b="0" i="0" u="none" strike="noStrike" baseline="0" noProof="0">
                          <a:solidFill>
                            <a:srgbClr val="000000"/>
                          </a:solidFill>
                          <a:latin typeface="Aptos"/>
                        </a:rPr>
                        <a:t>4.34×10⁻¹⁶</a:t>
                      </a:r>
                      <a:endParaRPr lang="en-US"/>
                    </a:p>
                  </a:txBody>
                  <a:tcPr/>
                </a:tc>
                <a:extLst>
                  <a:ext uri="{0D108BD9-81ED-4DB2-BD59-A6C34878D82A}">
                    <a16:rowId xmlns:a16="http://schemas.microsoft.com/office/drawing/2014/main" val="361202783"/>
                  </a:ext>
                </a:extLst>
              </a:tr>
              <a:tr h="528823">
                <a:tc>
                  <a:txBody>
                    <a:bodyPr/>
                    <a:lstStyle/>
                    <a:p>
                      <a:pPr lvl="0">
                        <a:buNone/>
                      </a:pPr>
                      <a:r>
                        <a:rPr lang="en-US" sz="1800" b="0" i="0" u="none" strike="noStrike" baseline="0" noProof="0">
                          <a:solidFill>
                            <a:srgbClr val="000000"/>
                          </a:solidFill>
                          <a:latin typeface="Aptos"/>
                        </a:rPr>
                        <a:t>Early Stage I/II</a:t>
                      </a:r>
                      <a:endParaRPr lang="en-US"/>
                    </a:p>
                  </a:txBody>
                  <a:tcPr/>
                </a:tc>
                <a:tc>
                  <a:txBody>
                    <a:bodyPr/>
                    <a:lstStyle/>
                    <a:p>
                      <a:r>
                        <a:rPr lang="en-US"/>
                        <a:t>61</a:t>
                      </a:r>
                    </a:p>
                  </a:txBody>
                  <a:tcPr/>
                </a:tc>
                <a:tc>
                  <a:txBody>
                    <a:bodyPr/>
                    <a:lstStyle/>
                    <a:p>
                      <a:r>
                        <a:rPr lang="en-US"/>
                        <a:t>193</a:t>
                      </a:r>
                    </a:p>
                  </a:txBody>
                  <a:tcPr/>
                </a:tc>
                <a:tc>
                  <a:txBody>
                    <a:bodyPr/>
                    <a:lstStyle/>
                    <a:p>
                      <a:pPr lvl="0">
                        <a:buNone/>
                      </a:pPr>
                      <a:r>
                        <a:rPr lang="en-US" sz="1800" b="0" i="0" u="none" strike="noStrike" baseline="0" noProof="0">
                          <a:solidFill>
                            <a:srgbClr val="000000"/>
                          </a:solidFill>
                          <a:latin typeface="Aptos"/>
                        </a:rPr>
                        <a:t>1.83×10⁻⁹</a:t>
                      </a:r>
                      <a:endParaRPr lang="en-US"/>
                    </a:p>
                  </a:txBody>
                  <a:tcPr/>
                </a:tc>
                <a:extLst>
                  <a:ext uri="{0D108BD9-81ED-4DB2-BD59-A6C34878D82A}">
                    <a16:rowId xmlns:a16="http://schemas.microsoft.com/office/drawing/2014/main" val="4032229843"/>
                  </a:ext>
                </a:extLst>
              </a:tr>
              <a:tr h="528823">
                <a:tc>
                  <a:txBody>
                    <a:bodyPr/>
                    <a:lstStyle/>
                    <a:p>
                      <a:pPr lvl="0">
                        <a:buNone/>
                      </a:pPr>
                      <a:r>
                        <a:rPr lang="en-US" sz="1800" b="0" i="0" u="none" strike="noStrike" baseline="0" noProof="0">
                          <a:solidFill>
                            <a:srgbClr val="000000"/>
                          </a:solidFill>
                          <a:latin typeface="Aptos"/>
                        </a:rPr>
                        <a:t>Late Stage III/IV</a:t>
                      </a:r>
                      <a:endParaRPr lang="en-US"/>
                    </a:p>
                  </a:txBody>
                  <a:tcPr/>
                </a:tc>
                <a:tc>
                  <a:txBody>
                    <a:bodyPr/>
                    <a:lstStyle/>
                    <a:p>
                      <a:r>
                        <a:rPr lang="en-US"/>
                        <a:t>34</a:t>
                      </a:r>
                    </a:p>
                  </a:txBody>
                  <a:tcPr/>
                </a:tc>
                <a:tc>
                  <a:txBody>
                    <a:bodyPr/>
                    <a:lstStyle/>
                    <a:p>
                      <a:r>
                        <a:rPr lang="en-US"/>
                        <a:t>53</a:t>
                      </a:r>
                    </a:p>
                  </a:txBody>
                  <a:tcPr/>
                </a:tc>
                <a:tc>
                  <a:txBody>
                    <a:bodyPr/>
                    <a:lstStyle/>
                    <a:p>
                      <a:pPr lvl="0">
                        <a:buNone/>
                      </a:pPr>
                      <a:r>
                        <a:rPr lang="en-US" sz="1800" b="0" i="0" u="none" strike="noStrike" baseline="0" noProof="0">
                          <a:solidFill>
                            <a:srgbClr val="000000"/>
                          </a:solidFill>
                          <a:latin typeface="Aptos"/>
                        </a:rPr>
                        <a:t>2.50×10⁻⁵</a:t>
                      </a:r>
                      <a:endParaRPr lang="en-US"/>
                    </a:p>
                  </a:txBody>
                  <a:tcPr/>
                </a:tc>
                <a:extLst>
                  <a:ext uri="{0D108BD9-81ED-4DB2-BD59-A6C34878D82A}">
                    <a16:rowId xmlns:a16="http://schemas.microsoft.com/office/drawing/2014/main" val="518999807"/>
                  </a:ext>
                </a:extLst>
              </a:tr>
              <a:tr h="528823">
                <a:tc>
                  <a:txBody>
                    <a:bodyPr/>
                    <a:lstStyle/>
                    <a:p>
                      <a:pPr lvl="0">
                        <a:buNone/>
                      </a:pPr>
                      <a:r>
                        <a:rPr lang="en-US" sz="1800" b="0" i="0" u="none" strike="noStrike" baseline="0" noProof="0">
                          <a:solidFill>
                            <a:srgbClr val="000000"/>
                          </a:solidFill>
                          <a:latin typeface="Aptos"/>
                        </a:rPr>
                        <a:t>Male</a:t>
                      </a:r>
                      <a:endParaRPr lang="en-US"/>
                    </a:p>
                  </a:txBody>
                  <a:tcPr/>
                </a:tc>
                <a:tc>
                  <a:txBody>
                    <a:bodyPr/>
                    <a:lstStyle/>
                    <a:p>
                      <a:r>
                        <a:rPr lang="en-US"/>
                        <a:t>72</a:t>
                      </a:r>
                    </a:p>
                  </a:txBody>
                  <a:tcPr/>
                </a:tc>
                <a:tc>
                  <a:txBody>
                    <a:bodyPr/>
                    <a:lstStyle/>
                    <a:p>
                      <a:r>
                        <a:rPr lang="en-US"/>
                        <a:t>174</a:t>
                      </a:r>
                    </a:p>
                  </a:txBody>
                  <a:tcPr/>
                </a:tc>
                <a:tc>
                  <a:txBody>
                    <a:bodyPr/>
                    <a:lstStyle/>
                    <a:p>
                      <a:pPr lvl="0">
                        <a:buNone/>
                      </a:pPr>
                      <a:r>
                        <a:rPr lang="en-US" sz="1800" b="0" i="0" u="none" strike="noStrike" baseline="0" noProof="0">
                          <a:solidFill>
                            <a:srgbClr val="000000"/>
                          </a:solidFill>
                          <a:latin typeface="Aptos"/>
                        </a:rPr>
                        <a:t>2.47×10⁻¹¹</a:t>
                      </a:r>
                      <a:endParaRPr lang="en-US"/>
                    </a:p>
                  </a:txBody>
                  <a:tcPr/>
                </a:tc>
                <a:extLst>
                  <a:ext uri="{0D108BD9-81ED-4DB2-BD59-A6C34878D82A}">
                    <a16:rowId xmlns:a16="http://schemas.microsoft.com/office/drawing/2014/main" val="1405944237"/>
                  </a:ext>
                </a:extLst>
              </a:tr>
              <a:tr h="528823">
                <a:tc>
                  <a:txBody>
                    <a:bodyPr/>
                    <a:lstStyle/>
                    <a:p>
                      <a:pPr lvl="0">
                        <a:buNone/>
                      </a:pPr>
                      <a:r>
                        <a:rPr lang="en-US" sz="1800" b="0" i="0" u="none" strike="noStrike" baseline="0" noProof="0">
                          <a:solidFill>
                            <a:srgbClr val="000000"/>
                          </a:solidFill>
                          <a:latin typeface="Aptos"/>
                        </a:rPr>
                        <a:t>Female</a:t>
                      </a:r>
                      <a:endParaRPr lang="en-US"/>
                    </a:p>
                  </a:txBody>
                  <a:tcPr/>
                </a:tc>
                <a:tc>
                  <a:txBody>
                    <a:bodyPr/>
                    <a:lstStyle/>
                    <a:p>
                      <a:r>
                        <a:rPr lang="en-US"/>
                        <a:t>29</a:t>
                      </a:r>
                    </a:p>
                  </a:txBody>
                  <a:tcPr/>
                </a:tc>
                <a:tc>
                  <a:txBody>
                    <a:bodyPr/>
                    <a:lstStyle/>
                    <a:p>
                      <a:r>
                        <a:rPr lang="en-US"/>
                        <a:t>90</a:t>
                      </a:r>
                    </a:p>
                  </a:txBody>
                  <a:tcPr/>
                </a:tc>
                <a:tc>
                  <a:txBody>
                    <a:bodyPr/>
                    <a:lstStyle/>
                    <a:p>
                      <a:pPr lvl="0">
                        <a:buNone/>
                      </a:pPr>
                      <a:r>
                        <a:rPr lang="en-US" sz="1800" b="0" i="0" u="none" strike="noStrike" baseline="0" noProof="0">
                          <a:solidFill>
                            <a:srgbClr val="000000"/>
                          </a:solidFill>
                          <a:latin typeface="Aptos"/>
                        </a:rPr>
                        <a:t>2.56×10⁻⁶</a:t>
                      </a:r>
                      <a:endParaRPr lang="en-US"/>
                    </a:p>
                  </a:txBody>
                  <a:tcPr/>
                </a:tc>
                <a:extLst>
                  <a:ext uri="{0D108BD9-81ED-4DB2-BD59-A6C34878D82A}">
                    <a16:rowId xmlns:a16="http://schemas.microsoft.com/office/drawing/2014/main" val="4068621962"/>
                  </a:ext>
                </a:extLst>
              </a:tr>
              <a:tr h="528823">
                <a:tc>
                  <a:txBody>
                    <a:bodyPr/>
                    <a:lstStyle/>
                    <a:p>
                      <a:pPr lvl="0">
                        <a:buNone/>
                      </a:pPr>
                      <a:r>
                        <a:rPr lang="en-US" sz="1800" b="0" i="0" u="none" strike="noStrike" baseline="0" noProof="0">
                          <a:solidFill>
                            <a:srgbClr val="000000"/>
                          </a:solidFill>
                          <a:latin typeface="Aptos"/>
                        </a:rPr>
                        <a:t>Age &lt; 60</a:t>
                      </a:r>
                      <a:endParaRPr lang="en-US"/>
                    </a:p>
                  </a:txBody>
                  <a:tcPr/>
                </a:tc>
                <a:tc>
                  <a:txBody>
                    <a:bodyPr/>
                    <a:lstStyle/>
                    <a:p>
                      <a:r>
                        <a:rPr lang="en-US"/>
                        <a:t>51</a:t>
                      </a:r>
                    </a:p>
                  </a:txBody>
                  <a:tcPr/>
                </a:tc>
                <a:tc>
                  <a:txBody>
                    <a:bodyPr/>
                    <a:lstStyle/>
                    <a:p>
                      <a:r>
                        <a:rPr lang="en-US"/>
                        <a:t>114</a:t>
                      </a:r>
                    </a:p>
                  </a:txBody>
                  <a:tcPr/>
                </a:tc>
                <a:tc>
                  <a:txBody>
                    <a:bodyPr/>
                    <a:lstStyle/>
                    <a:p>
                      <a:pPr lvl="0">
                        <a:buNone/>
                      </a:pPr>
                      <a:r>
                        <a:rPr lang="en-US" sz="1800" b="0" i="0" u="none" strike="noStrike" baseline="0" noProof="0">
                          <a:solidFill>
                            <a:srgbClr val="000000"/>
                          </a:solidFill>
                          <a:latin typeface="Aptos"/>
                        </a:rPr>
                        <a:t>7.54×10⁻⁸</a:t>
                      </a:r>
                      <a:endParaRPr lang="en-US"/>
                    </a:p>
                  </a:txBody>
                  <a:tcPr/>
                </a:tc>
                <a:extLst>
                  <a:ext uri="{0D108BD9-81ED-4DB2-BD59-A6C34878D82A}">
                    <a16:rowId xmlns:a16="http://schemas.microsoft.com/office/drawing/2014/main" val="1889654073"/>
                  </a:ext>
                </a:extLst>
              </a:tr>
              <a:tr h="528823">
                <a:tc>
                  <a:txBody>
                    <a:bodyPr/>
                    <a:lstStyle/>
                    <a:p>
                      <a:pPr lvl="0">
                        <a:buNone/>
                      </a:pPr>
                      <a:r>
                        <a:rPr lang="en-US" sz="1800" b="0" i="0" u="none" strike="noStrike" baseline="0" noProof="0">
                          <a:solidFill>
                            <a:srgbClr val="000000"/>
                          </a:solidFill>
                          <a:latin typeface="Aptos"/>
                        </a:rPr>
                        <a:t>Age ≥ 60</a:t>
                      </a:r>
                      <a:endParaRPr lang="en-US"/>
                    </a:p>
                  </a:txBody>
                  <a:tcPr/>
                </a:tc>
                <a:tc>
                  <a:txBody>
                    <a:bodyPr/>
                    <a:lstStyle/>
                    <a:p>
                      <a:r>
                        <a:rPr lang="en-US"/>
                        <a:t>48</a:t>
                      </a:r>
                    </a:p>
                  </a:txBody>
                  <a:tcPr/>
                </a:tc>
                <a:tc>
                  <a:txBody>
                    <a:bodyPr/>
                    <a:lstStyle/>
                    <a:p>
                      <a:r>
                        <a:rPr lang="en-US"/>
                        <a:t>149</a:t>
                      </a:r>
                    </a:p>
                  </a:txBody>
                  <a:tcPr/>
                </a:tc>
                <a:tc>
                  <a:txBody>
                    <a:bodyPr/>
                    <a:lstStyle/>
                    <a:p>
                      <a:pPr lvl="0">
                        <a:buNone/>
                      </a:pPr>
                      <a:r>
                        <a:rPr lang="en-US" sz="1800" b="0" i="0" u="none" strike="noStrike" baseline="0" noProof="0">
                          <a:solidFill>
                            <a:srgbClr val="000000"/>
                          </a:solidFill>
                          <a:latin typeface="Aptos"/>
                        </a:rPr>
                        <a:t>1.18×10⁻⁸</a:t>
                      </a:r>
                      <a:endParaRPr lang="en-US"/>
                    </a:p>
                  </a:txBody>
                  <a:tcPr/>
                </a:tc>
                <a:extLst>
                  <a:ext uri="{0D108BD9-81ED-4DB2-BD59-A6C34878D82A}">
                    <a16:rowId xmlns:a16="http://schemas.microsoft.com/office/drawing/2014/main" val="4139696642"/>
                  </a:ext>
                </a:extLst>
              </a:tr>
            </a:tbl>
          </a:graphicData>
        </a:graphic>
      </p:graphicFrame>
    </p:spTree>
    <p:extLst>
      <p:ext uri="{BB962C8B-B14F-4D97-AF65-F5344CB8AC3E}">
        <p14:creationId xmlns:p14="http://schemas.microsoft.com/office/powerpoint/2010/main" val="40034369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D68E-5D38-439F-E95A-5014A9327AF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DE4DAA-982E-5FD6-9B7A-C8B664879AAB}"/>
              </a:ext>
            </a:extLst>
          </p:cNvPr>
          <p:cNvSpPr>
            <a:spLocks noGrp="1"/>
          </p:cNvSpPr>
          <p:nvPr>
            <p:ph idx="1"/>
          </p:nvPr>
        </p:nvSpPr>
        <p:spPr>
          <a:xfrm>
            <a:off x="168087" y="1148462"/>
            <a:ext cx="5763318" cy="4784817"/>
          </a:xfrm>
        </p:spPr>
        <p:txBody>
          <a:bodyPr vert="horz" lIns="91440" tIns="45720" rIns="91440" bIns="45720" rtlCol="0" anchor="t">
            <a:normAutofit/>
          </a:bodyPr>
          <a:lstStyle/>
          <a:p>
            <a:r>
              <a:rPr lang="en-US" sz="2000" b="1">
                <a:latin typeface="Georgia"/>
                <a:ea typeface="Calibri"/>
                <a:cs typeface="Calibri"/>
              </a:rPr>
              <a:t>Attention Weight Analysis</a:t>
            </a:r>
            <a:endParaRPr lang="en-US">
              <a:ea typeface="Calibri"/>
              <a:cs typeface="Calibri"/>
            </a:endParaRPr>
          </a:p>
          <a:p>
            <a:pPr marL="0" indent="0">
              <a:buNone/>
            </a:pPr>
            <a:endParaRPr lang="en-US" sz="2000" b="1" dirty="0">
              <a:latin typeface="Georgia"/>
              <a:ea typeface="Calibri"/>
              <a:cs typeface="Calibri"/>
            </a:endParaRPr>
          </a:p>
          <a:p>
            <a:pPr marL="285750">
              <a:lnSpc>
                <a:spcPct val="150000"/>
              </a:lnSpc>
              <a:spcBef>
                <a:spcPts val="0"/>
              </a:spcBef>
              <a:spcAft>
                <a:spcPts val="600"/>
              </a:spcAft>
              <a:buFont typeface="Arial,Sans-Serif" panose="020B0604020202020204" pitchFamily="34" charset="0"/>
            </a:pPr>
            <a:r>
              <a:rPr lang="en-US" sz="1600" dirty="0" err="1">
                <a:latin typeface="Calisto MT"/>
                <a:ea typeface="Calibri"/>
                <a:cs typeface="Calibri"/>
              </a:rPr>
              <a:t>High→High</a:t>
            </a:r>
            <a:r>
              <a:rPr lang="en-US" sz="1600" dirty="0">
                <a:latin typeface="Calisto MT"/>
                <a:ea typeface="Calibri"/>
                <a:cs typeface="Calibri"/>
              </a:rPr>
              <a:t> attention: 0.003324 (2.3× cross-group)</a:t>
            </a:r>
            <a:endParaRPr lang="en-US" dirty="0">
              <a:ea typeface="Calibri"/>
              <a:cs typeface="Calibri"/>
            </a:endParaRPr>
          </a:p>
          <a:p>
            <a:pPr marL="285750">
              <a:lnSpc>
                <a:spcPct val="150000"/>
              </a:lnSpc>
              <a:spcBef>
                <a:spcPts val="0"/>
              </a:spcBef>
              <a:spcAft>
                <a:spcPts val="600"/>
              </a:spcAft>
              <a:buFont typeface="Arial,Sans-Serif" panose="020B0604020202020204" pitchFamily="34" charset="0"/>
            </a:pPr>
            <a:r>
              <a:rPr lang="en-US" sz="1600" dirty="0" err="1">
                <a:latin typeface="Calisto MT"/>
                <a:ea typeface="Calibri"/>
                <a:cs typeface="Calibri"/>
              </a:rPr>
              <a:t>Low→Low</a:t>
            </a:r>
            <a:r>
              <a:rPr lang="en-US" sz="1600" dirty="0">
                <a:latin typeface="Calisto MT"/>
                <a:ea typeface="Calibri"/>
                <a:cs typeface="Calibri"/>
              </a:rPr>
              <a:t> attention: 0.003671 (3.3× cross-group)</a:t>
            </a:r>
            <a:endParaRPr lang="en-US" dirty="0"/>
          </a:p>
          <a:p>
            <a:pPr marL="285750">
              <a:lnSpc>
                <a:spcPct val="150000"/>
              </a:lnSpc>
              <a:spcBef>
                <a:spcPts val="0"/>
              </a:spcBef>
              <a:spcAft>
                <a:spcPts val="600"/>
              </a:spcAft>
              <a:buFont typeface="Arial,Sans-Serif" panose="020B0604020202020204" pitchFamily="34" charset="0"/>
            </a:pPr>
            <a:r>
              <a:rPr lang="en-US" sz="1600">
                <a:latin typeface="Calisto MT"/>
                <a:ea typeface="Calibri"/>
                <a:cs typeface="Calibri"/>
              </a:rPr>
              <a:t>Top attention-driving genes: CDK1, NCOA6, EZH2, KMT2D, KANSL1</a:t>
            </a:r>
            <a:endParaRPr lang="en-US"/>
          </a:p>
          <a:p>
            <a:pPr marL="285750">
              <a:lnSpc>
                <a:spcPct val="150000"/>
              </a:lnSpc>
              <a:spcBef>
                <a:spcPts val="0"/>
              </a:spcBef>
              <a:spcAft>
                <a:spcPts val="600"/>
              </a:spcAft>
              <a:buFont typeface="Arial,Sans-Serif" panose="020B0604020202020204" pitchFamily="34" charset="0"/>
            </a:pPr>
            <a:endParaRPr lang="en-US" sz="1600" dirty="0">
              <a:latin typeface="Calisto MT"/>
              <a:ea typeface="Calibri"/>
              <a:cs typeface="Calibri"/>
            </a:endParaRPr>
          </a:p>
          <a:p>
            <a:endParaRPr lang="en-US" sz="2000" b="1" dirty="0">
              <a:latin typeface="Georgia"/>
              <a:ea typeface="Calibri"/>
              <a:cs typeface="Calibri"/>
            </a:endParaRPr>
          </a:p>
          <a:p>
            <a:endParaRPr lang="en-US" sz="2000" b="1" dirty="0">
              <a:latin typeface="Georgia"/>
              <a:ea typeface="Calibri"/>
              <a:cs typeface="Calibri"/>
            </a:endParaRPr>
          </a:p>
          <a:p>
            <a:endParaRPr lang="en-US" sz="2000" b="1" dirty="0">
              <a:latin typeface="Georgia"/>
              <a:ea typeface="Calibri"/>
              <a:cs typeface="Calibri"/>
            </a:endParaRPr>
          </a:p>
        </p:txBody>
      </p:sp>
      <p:sp>
        <p:nvSpPr>
          <p:cNvPr id="3" name="Title 2">
            <a:extLst>
              <a:ext uri="{FF2B5EF4-FFF2-40B4-BE49-F238E27FC236}">
                <a16:creationId xmlns:a16="http://schemas.microsoft.com/office/drawing/2014/main" id="{F405A59D-996D-1FD9-24ED-DAAB0DBA9FC9}"/>
              </a:ext>
            </a:extLst>
          </p:cNvPr>
          <p:cNvSpPr>
            <a:spLocks noGrp="1"/>
          </p:cNvSpPr>
          <p:nvPr>
            <p:ph type="title"/>
          </p:nvPr>
        </p:nvSpPr>
        <p:spPr/>
        <p:txBody>
          <a:bodyPr/>
          <a:lstStyle/>
          <a:p>
            <a:r>
              <a:rPr lang="en-US" dirty="0">
                <a:latin typeface="Georgia"/>
              </a:rPr>
              <a:t>Result Analysis</a:t>
            </a:r>
            <a:endParaRPr lang="en-US" dirty="0"/>
          </a:p>
        </p:txBody>
      </p:sp>
      <p:sp>
        <p:nvSpPr>
          <p:cNvPr id="4" name="Slide Number Placeholder 3">
            <a:extLst>
              <a:ext uri="{FF2B5EF4-FFF2-40B4-BE49-F238E27FC236}">
                <a16:creationId xmlns:a16="http://schemas.microsoft.com/office/drawing/2014/main" id="{47B22761-66CA-EBB3-01AC-08D8B6D9AF90}"/>
              </a:ext>
            </a:extLst>
          </p:cNvPr>
          <p:cNvSpPr>
            <a:spLocks noGrp="1"/>
          </p:cNvSpPr>
          <p:nvPr>
            <p:ph type="sldNum" sz="quarter" idx="12"/>
          </p:nvPr>
        </p:nvSpPr>
        <p:spPr/>
        <p:txBody>
          <a:bodyPr/>
          <a:lstStyle/>
          <a:p>
            <a:fld id="{330EA680-D336-4FF7-8B7A-9848BB0A1C32}" type="slidenum">
              <a:rPr lang="en-US" smtClean="0"/>
              <a:pPr/>
              <a:t>23</a:t>
            </a:fld>
            <a:endParaRPr lang="en-US"/>
          </a:p>
        </p:txBody>
      </p:sp>
      <p:pic>
        <p:nvPicPr>
          <p:cNvPr id="5" name="Picture 4">
            <a:extLst>
              <a:ext uri="{FF2B5EF4-FFF2-40B4-BE49-F238E27FC236}">
                <a16:creationId xmlns:a16="http://schemas.microsoft.com/office/drawing/2014/main" id="{0D421B98-63C4-FB13-33AD-34AF0B1A9061}"/>
              </a:ext>
            </a:extLst>
          </p:cNvPr>
          <p:cNvPicPr>
            <a:picLocks noChangeAspect="1"/>
          </p:cNvPicPr>
          <p:nvPr/>
        </p:nvPicPr>
        <p:blipFill>
          <a:blip r:embed="rId2"/>
          <a:stretch>
            <a:fillRect/>
          </a:stretch>
        </p:blipFill>
        <p:spPr>
          <a:xfrm>
            <a:off x="5502940" y="1"/>
            <a:ext cx="6273590" cy="5939117"/>
          </a:xfrm>
          <a:prstGeom prst="rect">
            <a:avLst/>
          </a:prstGeom>
        </p:spPr>
      </p:pic>
    </p:spTree>
    <p:extLst>
      <p:ext uri="{BB962C8B-B14F-4D97-AF65-F5344CB8AC3E}">
        <p14:creationId xmlns:p14="http://schemas.microsoft.com/office/powerpoint/2010/main" val="13869756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B99238-1897-AF38-38D6-24E0F21BA0A1}"/>
              </a:ext>
            </a:extLst>
          </p:cNvPr>
          <p:cNvSpPr>
            <a:spLocks noGrp="1"/>
          </p:cNvSpPr>
          <p:nvPr>
            <p:ph idx="1"/>
          </p:nvPr>
        </p:nvSpPr>
        <p:spPr>
          <a:xfrm>
            <a:off x="291352" y="420080"/>
            <a:ext cx="11209376" cy="5064964"/>
          </a:xfrm>
        </p:spPr>
        <p:txBody>
          <a:bodyPr vert="horz" lIns="91440" tIns="45720" rIns="91440" bIns="45720" rtlCol="0" anchor="t">
            <a:normAutofit/>
          </a:bodyPr>
          <a:lstStyle/>
          <a:p>
            <a:r>
              <a:rPr lang="en-US" sz="2000" b="1">
                <a:latin typeface="Georgia"/>
              </a:rPr>
              <a:t>Pathway Enrichment</a:t>
            </a:r>
          </a:p>
          <a:p>
            <a:endParaRPr lang="en-US" dirty="0"/>
          </a:p>
        </p:txBody>
      </p:sp>
      <p:sp>
        <p:nvSpPr>
          <p:cNvPr id="4" name="Slide Number Placeholder 3">
            <a:extLst>
              <a:ext uri="{FF2B5EF4-FFF2-40B4-BE49-F238E27FC236}">
                <a16:creationId xmlns:a16="http://schemas.microsoft.com/office/drawing/2014/main" id="{478C4D85-521B-B0EA-F2A3-DC98BC437CEC}"/>
              </a:ext>
            </a:extLst>
          </p:cNvPr>
          <p:cNvSpPr>
            <a:spLocks noGrp="1"/>
          </p:cNvSpPr>
          <p:nvPr>
            <p:ph type="sldNum" sz="quarter" idx="12"/>
          </p:nvPr>
        </p:nvSpPr>
        <p:spPr/>
        <p:txBody>
          <a:bodyPr/>
          <a:lstStyle/>
          <a:p>
            <a:fld id="{330EA680-D336-4FF7-8B7A-9848BB0A1C32}" type="slidenum">
              <a:rPr lang="en-US" smtClean="0"/>
              <a:pPr/>
              <a:t>24</a:t>
            </a:fld>
            <a:endParaRPr lang="en-US"/>
          </a:p>
        </p:txBody>
      </p:sp>
      <p:graphicFrame>
        <p:nvGraphicFramePr>
          <p:cNvPr id="5" name="Table 4">
            <a:extLst>
              <a:ext uri="{FF2B5EF4-FFF2-40B4-BE49-F238E27FC236}">
                <a16:creationId xmlns:a16="http://schemas.microsoft.com/office/drawing/2014/main" id="{F88A1F3E-E474-D0F8-1220-CE925383DA5A}"/>
              </a:ext>
            </a:extLst>
          </p:cNvPr>
          <p:cNvGraphicFramePr>
            <a:graphicFrameLocks noGrp="1"/>
          </p:cNvGraphicFramePr>
          <p:nvPr>
            <p:extLst>
              <p:ext uri="{D42A27DB-BD31-4B8C-83A1-F6EECF244321}">
                <p14:modId xmlns:p14="http://schemas.microsoft.com/office/powerpoint/2010/main" val="1450925723"/>
              </p:ext>
            </p:extLst>
          </p:nvPr>
        </p:nvGraphicFramePr>
        <p:xfrm>
          <a:off x="548386" y="1186457"/>
          <a:ext cx="8570453" cy="4939452"/>
        </p:xfrm>
        <a:graphic>
          <a:graphicData uri="http://schemas.openxmlformats.org/drawingml/2006/table">
            <a:tbl>
              <a:tblPr bandRow="1">
                <a:tableStyleId>{5C22544A-7EE6-4342-B048-85BDC9FD1C3A}</a:tableStyleId>
              </a:tblPr>
              <a:tblGrid>
                <a:gridCol w="2831864">
                  <a:extLst>
                    <a:ext uri="{9D8B030D-6E8A-4147-A177-3AD203B41FA5}">
                      <a16:colId xmlns:a16="http://schemas.microsoft.com/office/drawing/2014/main" val="3217478434"/>
                    </a:ext>
                  </a:extLst>
                </a:gridCol>
                <a:gridCol w="2831864">
                  <a:extLst>
                    <a:ext uri="{9D8B030D-6E8A-4147-A177-3AD203B41FA5}">
                      <a16:colId xmlns:a16="http://schemas.microsoft.com/office/drawing/2014/main" val="4294616944"/>
                    </a:ext>
                  </a:extLst>
                </a:gridCol>
                <a:gridCol w="2906725">
                  <a:extLst>
                    <a:ext uri="{9D8B030D-6E8A-4147-A177-3AD203B41FA5}">
                      <a16:colId xmlns:a16="http://schemas.microsoft.com/office/drawing/2014/main" val="1065114695"/>
                    </a:ext>
                  </a:extLst>
                </a:gridCol>
              </a:tblGrid>
              <a:tr h="602521">
                <a:tc>
                  <a:txBody>
                    <a:bodyPr/>
                    <a:lstStyle/>
                    <a:p>
                      <a:pPr lvl="0" algn="l">
                        <a:lnSpc>
                          <a:spcPts val="1500"/>
                        </a:lnSpc>
                        <a:buNone/>
                      </a:pPr>
                      <a:r>
                        <a:rPr lang="en-US" sz="1800" b="0" i="0" u="none" strike="noStrike" baseline="0" noProof="0">
                          <a:solidFill>
                            <a:srgbClr val="000000"/>
                          </a:solidFill>
                          <a:effectLst/>
                          <a:latin typeface="Calisto MT"/>
                        </a:rPr>
                        <a:t>Pathway</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lvl="0" algn="l">
                        <a:lnSpc>
                          <a:spcPts val="1500"/>
                        </a:lnSpc>
                        <a:buNone/>
                      </a:pPr>
                      <a:r>
                        <a:rPr lang="en-US" sz="1800" b="0" i="0" u="none" strike="noStrike" baseline="0" noProof="0">
                          <a:solidFill>
                            <a:srgbClr val="000000"/>
                          </a:solidFill>
                          <a:effectLst/>
                          <a:latin typeface="Calisto MT"/>
                        </a:rPr>
                        <a:t>Overlap</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algn="l" rtl="0" fontAlgn="base">
                        <a:lnSpc>
                          <a:spcPts val="1500"/>
                        </a:lnSpc>
                        <a:buNone/>
                      </a:pPr>
                      <a:r>
                        <a:rPr lang="en-US" sz="1800" b="0" i="0">
                          <a:solidFill>
                            <a:srgbClr val="000000"/>
                          </a:solidFill>
                          <a:effectLst/>
                          <a:latin typeface="Calisto MT"/>
                        </a:rPr>
                        <a:t>Hazard Ratio (HR)</a:t>
                      </a:r>
                      <a:endParaRPr lang="en-US" b="0" i="0">
                        <a:solidFill>
                          <a:srgbClr val="000000"/>
                        </a:solidFill>
                        <a:effectLst/>
                      </a:endParaRPr>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extLst>
                  <a:ext uri="{0D108BD9-81ED-4DB2-BD59-A6C34878D82A}">
                    <a16:rowId xmlns:a16="http://schemas.microsoft.com/office/drawing/2014/main" val="45251126"/>
                  </a:ext>
                </a:extLst>
              </a:tr>
              <a:tr h="680265">
                <a:tc>
                  <a:txBody>
                    <a:bodyPr/>
                    <a:lstStyle/>
                    <a:p>
                      <a:pPr lvl="0" algn="l">
                        <a:lnSpc>
                          <a:spcPct val="100000"/>
                        </a:lnSpc>
                        <a:buNone/>
                      </a:pPr>
                      <a:r>
                        <a:rPr lang="en-US" sz="1800" b="0" i="0" u="none" strike="noStrike" baseline="0" noProof="0">
                          <a:solidFill>
                            <a:srgbClr val="000000"/>
                          </a:solidFill>
                          <a:effectLst/>
                          <a:latin typeface="Calisto MT"/>
                        </a:rPr>
                        <a:t>Chromatin Modifying Enzymes</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AFC"/>
                    </a:solidFill>
                  </a:tcPr>
                </a:tc>
                <a:tc>
                  <a:txBody>
                    <a:bodyPr/>
                    <a:lstStyle/>
                    <a:p>
                      <a:pPr lvl="0" algn="l">
                        <a:lnSpc>
                          <a:spcPts val="1500"/>
                        </a:lnSpc>
                        <a:buNone/>
                      </a:pPr>
                      <a:r>
                        <a:rPr lang="en-US" sz="1800" b="0" i="0" u="none" strike="noStrike" baseline="0" noProof="0">
                          <a:solidFill>
                            <a:srgbClr val="000000"/>
                          </a:solidFill>
                          <a:effectLst/>
                          <a:latin typeface="Calisto MT"/>
                        </a:rPr>
                        <a:t>41/238</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AFC"/>
                    </a:solidFill>
                  </a:tcPr>
                </a:tc>
                <a:tc>
                  <a:txBody>
                    <a:bodyPr/>
                    <a:lstStyle/>
                    <a:p>
                      <a:pPr lvl="0" algn="l">
                        <a:lnSpc>
                          <a:spcPts val="1500"/>
                        </a:lnSpc>
                        <a:buNone/>
                      </a:pPr>
                      <a:r>
                        <a:rPr lang="en-US" sz="1800" b="0" i="0" u="none" strike="noStrike" baseline="0" noProof="0">
                          <a:solidFill>
                            <a:srgbClr val="000000"/>
                          </a:solidFill>
                          <a:effectLst/>
                          <a:latin typeface="Calisto MT"/>
                        </a:rPr>
                        <a:t>1.67×10⁻⁶⁵</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AFC"/>
                    </a:solidFill>
                  </a:tcPr>
                </a:tc>
                <a:extLst>
                  <a:ext uri="{0D108BD9-81ED-4DB2-BD59-A6C34878D82A}">
                    <a16:rowId xmlns:a16="http://schemas.microsoft.com/office/drawing/2014/main" val="2508209987"/>
                  </a:ext>
                </a:extLst>
              </a:tr>
              <a:tr h="680265">
                <a:tc>
                  <a:txBody>
                    <a:bodyPr/>
                    <a:lstStyle/>
                    <a:p>
                      <a:pPr lvl="0" algn="l">
                        <a:lnSpc>
                          <a:spcPts val="1500"/>
                        </a:lnSpc>
                        <a:buNone/>
                      </a:pPr>
                      <a:r>
                        <a:rPr lang="en-US" sz="1800" b="0" i="0" u="none" strike="noStrike" baseline="0" noProof="0">
                          <a:solidFill>
                            <a:srgbClr val="000000"/>
                          </a:solidFill>
                          <a:effectLst/>
                          <a:latin typeface="Calisto MT"/>
                        </a:rPr>
                        <a:t>HATs Acetylate Histones</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lvl="0" algn="l">
                        <a:lnSpc>
                          <a:spcPts val="1500"/>
                        </a:lnSpc>
                        <a:buNone/>
                      </a:pPr>
                      <a:r>
                        <a:rPr lang="en-US" sz="1800" b="0" i="0" u="none" strike="noStrike" baseline="0" noProof="0">
                          <a:solidFill>
                            <a:srgbClr val="000000"/>
                          </a:solidFill>
                          <a:effectLst/>
                          <a:latin typeface="Calisto MT"/>
                        </a:rPr>
                        <a:t>20/106</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lvl="0" algn="l">
                        <a:lnSpc>
                          <a:spcPts val="1500"/>
                        </a:lnSpc>
                        <a:buNone/>
                      </a:pPr>
                      <a:r>
                        <a:rPr lang="en-US" sz="1800" b="0" i="0" u="none" strike="noStrike" baseline="0" noProof="0">
                          <a:solidFill>
                            <a:srgbClr val="000000"/>
                          </a:solidFill>
                          <a:effectLst/>
                          <a:latin typeface="Calisto MT"/>
                        </a:rPr>
                        <a:t>2.75×10⁻³⁰</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2587100699"/>
                  </a:ext>
                </a:extLst>
              </a:tr>
              <a:tr h="991244">
                <a:tc>
                  <a:txBody>
                    <a:bodyPr/>
                    <a:lstStyle/>
                    <a:p>
                      <a:pPr lvl="0" algn="l">
                        <a:lnSpc>
                          <a:spcPct val="100000"/>
                        </a:lnSpc>
                        <a:buNone/>
                      </a:pPr>
                      <a:r>
                        <a:rPr lang="en-US" sz="1800" b="0" i="0" u="none" strike="noStrike" baseline="0" noProof="0">
                          <a:solidFill>
                            <a:srgbClr val="000000"/>
                          </a:solidFill>
                          <a:effectLst/>
                          <a:latin typeface="Calisto MT"/>
                        </a:rPr>
                        <a:t>Regulation of TP53 Activity</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AFC"/>
                    </a:solidFill>
                  </a:tcPr>
                </a:tc>
                <a:tc>
                  <a:txBody>
                    <a:bodyPr/>
                    <a:lstStyle/>
                    <a:p>
                      <a:pPr lvl="0" algn="l">
                        <a:lnSpc>
                          <a:spcPts val="1500"/>
                        </a:lnSpc>
                        <a:buNone/>
                      </a:pPr>
                      <a:r>
                        <a:rPr lang="en-US" sz="1800" b="0" i="0" u="none" strike="noStrike" baseline="0" noProof="0">
                          <a:solidFill>
                            <a:srgbClr val="000000"/>
                          </a:solidFill>
                          <a:effectLst/>
                          <a:latin typeface="Calisto MT"/>
                        </a:rPr>
                        <a:t>17/157</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AFC"/>
                    </a:solidFill>
                  </a:tcPr>
                </a:tc>
                <a:tc>
                  <a:txBody>
                    <a:bodyPr/>
                    <a:lstStyle/>
                    <a:p>
                      <a:pPr lvl="0" algn="l">
                        <a:lnSpc>
                          <a:spcPts val="1500"/>
                        </a:lnSpc>
                        <a:buNone/>
                      </a:pPr>
                      <a:r>
                        <a:rPr lang="en-US" sz="1800" b="0" i="0" u="none" strike="noStrike" baseline="0" noProof="0">
                          <a:solidFill>
                            <a:srgbClr val="000000"/>
                          </a:solidFill>
                          <a:effectLst/>
                          <a:latin typeface="Calisto MT"/>
                        </a:rPr>
                        <a:t>3.01×10⁻²¹</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AFC"/>
                    </a:solidFill>
                  </a:tcPr>
                </a:tc>
                <a:extLst>
                  <a:ext uri="{0D108BD9-81ED-4DB2-BD59-A6C34878D82A}">
                    <a16:rowId xmlns:a16="http://schemas.microsoft.com/office/drawing/2014/main" val="3959461964"/>
                  </a:ext>
                </a:extLst>
              </a:tr>
              <a:tr h="993913">
                <a:tc>
                  <a:txBody>
                    <a:bodyPr/>
                    <a:lstStyle/>
                    <a:p>
                      <a:pPr lvl="0" algn="l">
                        <a:lnSpc>
                          <a:spcPct val="100000"/>
                        </a:lnSpc>
                        <a:buNone/>
                      </a:pPr>
                      <a:r>
                        <a:rPr lang="en-US" sz="1800" b="0" i="0" u="none" strike="noStrike" baseline="0" noProof="0">
                          <a:solidFill>
                            <a:srgbClr val="000000"/>
                          </a:solidFill>
                          <a:effectLst/>
                          <a:latin typeface="Calisto MT"/>
                        </a:rPr>
                        <a:t>Epigenetic Regulation of Gene Expression</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lvl="0" algn="l">
                        <a:lnSpc>
                          <a:spcPts val="1500"/>
                        </a:lnSpc>
                        <a:buNone/>
                      </a:pPr>
                      <a:r>
                        <a:rPr lang="en-US" sz="1800" b="0" i="0" u="none" strike="noStrike" baseline="0" noProof="0">
                          <a:solidFill>
                            <a:srgbClr val="000000"/>
                          </a:solidFill>
                          <a:effectLst/>
                          <a:latin typeface="Calisto MT"/>
                        </a:rPr>
                        <a:t>13/116</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lvl="0" algn="l">
                        <a:lnSpc>
                          <a:spcPts val="1500"/>
                        </a:lnSpc>
                        <a:buNone/>
                      </a:pPr>
                      <a:r>
                        <a:rPr lang="en-US" sz="1800" b="0" i="0" u="none" strike="noStrike" baseline="0" noProof="0">
                          <a:solidFill>
                            <a:srgbClr val="000000"/>
                          </a:solidFill>
                          <a:effectLst/>
                          <a:latin typeface="Calisto MT"/>
                        </a:rPr>
                        <a:t>2.56×10⁻¹⁶</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505576117"/>
                  </a:ext>
                </a:extLst>
              </a:tr>
              <a:tr h="991244">
                <a:tc>
                  <a:txBody>
                    <a:bodyPr/>
                    <a:lstStyle/>
                    <a:p>
                      <a:pPr lvl="0" algn="l">
                        <a:lnSpc>
                          <a:spcPts val="1500"/>
                        </a:lnSpc>
                        <a:buNone/>
                      </a:pPr>
                      <a:r>
                        <a:rPr lang="en-US" sz="1800" b="0" i="0" u="none" strike="noStrike" baseline="0" noProof="0">
                          <a:solidFill>
                            <a:srgbClr val="000000"/>
                          </a:solidFill>
                          <a:effectLst/>
                          <a:latin typeface="Calisto MT"/>
                        </a:rPr>
                        <a:t>Cell Cycle (KEGG)</a:t>
                      </a:r>
                      <a:endParaRPr lang="en-US"/>
                    </a:p>
                  </a:txBody>
                  <a:tcPr marL="52578" marR="52578" marT="52578" marB="52578" anchor="ctr">
                    <a:lnL w="9524">
                      <a:solidFill>
                        <a:srgbClr val="E2E8F0"/>
                      </a:solidFill>
                    </a:lnL>
                    <a:lnR w="9524">
                      <a:solidFill>
                        <a:srgbClr val="E2E8F0"/>
                      </a:solidFill>
                    </a:lnR>
                    <a:lnT w="9525" cap="flat" cmpd="sng" algn="ctr">
                      <a:solidFill>
                        <a:srgbClr val="E2E8F0"/>
                      </a:solidFill>
                      <a:prstDash val="solid"/>
                      <a:round/>
                      <a:headEnd type="none" w="med" len="med"/>
                      <a:tailEnd type="none" w="med" len="med"/>
                    </a:lnT>
                    <a:lnB w="9524">
                      <a:solidFill>
                        <a:srgbClr val="E2E8F0"/>
                      </a:solidFill>
                    </a:lnB>
                    <a:solidFill>
                      <a:srgbClr val="FFFFFF"/>
                    </a:solidFill>
                  </a:tcPr>
                </a:tc>
                <a:tc>
                  <a:txBody>
                    <a:bodyPr/>
                    <a:lstStyle/>
                    <a:p>
                      <a:pPr lvl="0" algn="l">
                        <a:lnSpc>
                          <a:spcPts val="1500"/>
                        </a:lnSpc>
                        <a:buNone/>
                      </a:pPr>
                      <a:endParaRPr lang="en-US" sz="1800" b="0" i="0" u="none" strike="noStrike" baseline="0" noProof="0" dirty="0">
                        <a:solidFill>
                          <a:srgbClr val="000000"/>
                        </a:solidFill>
                        <a:effectLst/>
                        <a:latin typeface="Calisto MT"/>
                      </a:endParaRPr>
                    </a:p>
                  </a:txBody>
                  <a:tcPr marL="52578" marR="52578" marT="52578" marB="52578" anchor="ctr">
                    <a:lnL w="9524">
                      <a:solidFill>
                        <a:srgbClr val="E2E8F0"/>
                      </a:solidFill>
                    </a:lnL>
                    <a:lnR w="9524">
                      <a:solidFill>
                        <a:srgbClr val="E2E8F0"/>
                      </a:solidFill>
                    </a:lnR>
                    <a:lnT w="9525" cap="flat" cmpd="sng" algn="ctr">
                      <a:solidFill>
                        <a:srgbClr val="E2E8F0"/>
                      </a:solidFill>
                      <a:prstDash val="solid"/>
                      <a:round/>
                      <a:headEnd type="none" w="med" len="med"/>
                      <a:tailEnd type="none" w="med" len="med"/>
                    </a:lnT>
                    <a:lnB w="9524">
                      <a:solidFill>
                        <a:srgbClr val="E2E8F0"/>
                      </a:solidFill>
                    </a:lnB>
                    <a:solidFill>
                      <a:srgbClr val="FFFFFF"/>
                    </a:solidFill>
                  </a:tcPr>
                </a:tc>
                <a:tc>
                  <a:txBody>
                    <a:bodyPr/>
                    <a:lstStyle/>
                    <a:p>
                      <a:pPr lvl="0" algn="l">
                        <a:lnSpc>
                          <a:spcPts val="1500"/>
                        </a:lnSpc>
                        <a:buNone/>
                      </a:pPr>
                      <a:r>
                        <a:rPr lang="en-US" sz="1800" b="0" i="0" u="none" strike="noStrike" baseline="0" noProof="0">
                          <a:solidFill>
                            <a:srgbClr val="000000"/>
                          </a:solidFill>
                          <a:effectLst/>
                          <a:latin typeface="Calisto MT"/>
                        </a:rPr>
                        <a:t>6.62×10⁻⁷</a:t>
                      </a:r>
                      <a:endParaRPr lang="en-US"/>
                    </a:p>
                  </a:txBody>
                  <a:tcPr marL="52578" marR="52578" marT="52578" marB="52578" anchor="ctr">
                    <a:lnL w="9524">
                      <a:solidFill>
                        <a:srgbClr val="E2E8F0"/>
                      </a:solidFill>
                    </a:lnL>
                    <a:lnR w="9524">
                      <a:solidFill>
                        <a:srgbClr val="E2E8F0"/>
                      </a:solidFill>
                    </a:lnR>
                    <a:lnT w="9525" cap="flat" cmpd="sng" algn="ctr">
                      <a:solidFill>
                        <a:srgbClr val="E2E8F0"/>
                      </a:solidFill>
                      <a:prstDash val="solid"/>
                      <a:round/>
                      <a:headEnd type="none" w="med" len="med"/>
                      <a:tailEnd type="none" w="med" len="med"/>
                    </a:lnT>
                    <a:lnB w="9524">
                      <a:solidFill>
                        <a:srgbClr val="E2E8F0"/>
                      </a:solidFill>
                    </a:lnB>
                    <a:solidFill>
                      <a:srgbClr val="FFFFFF"/>
                    </a:solidFill>
                  </a:tcPr>
                </a:tc>
                <a:extLst>
                  <a:ext uri="{0D108BD9-81ED-4DB2-BD59-A6C34878D82A}">
                    <a16:rowId xmlns:a16="http://schemas.microsoft.com/office/drawing/2014/main" val="3812517071"/>
                  </a:ext>
                </a:extLst>
              </a:tr>
            </a:tbl>
          </a:graphicData>
        </a:graphic>
      </p:graphicFrame>
    </p:spTree>
    <p:extLst>
      <p:ext uri="{BB962C8B-B14F-4D97-AF65-F5344CB8AC3E}">
        <p14:creationId xmlns:p14="http://schemas.microsoft.com/office/powerpoint/2010/main" val="1184719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FD6A0-3A1A-6187-3011-30D5F1C2AC7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1AC9BD-34E5-E86A-68B5-5DACBD4547E9}"/>
              </a:ext>
            </a:extLst>
          </p:cNvPr>
          <p:cNvSpPr>
            <a:spLocks noGrp="1"/>
          </p:cNvSpPr>
          <p:nvPr>
            <p:ph idx="1"/>
          </p:nvPr>
        </p:nvSpPr>
        <p:spPr>
          <a:xfrm>
            <a:off x="291352" y="420080"/>
            <a:ext cx="11209376" cy="5064964"/>
          </a:xfrm>
        </p:spPr>
        <p:txBody>
          <a:bodyPr vert="horz" lIns="91440" tIns="45720" rIns="91440" bIns="45720" rtlCol="0" anchor="t">
            <a:normAutofit/>
          </a:bodyPr>
          <a:lstStyle/>
          <a:p>
            <a:r>
              <a:rPr lang="en-US" sz="2000" b="1">
                <a:latin typeface="Georgia"/>
              </a:rPr>
              <a:t>Ablation Study</a:t>
            </a:r>
            <a:endParaRPr lang="en-US"/>
          </a:p>
          <a:p>
            <a:endParaRPr lang="en-US" dirty="0"/>
          </a:p>
        </p:txBody>
      </p:sp>
      <p:sp>
        <p:nvSpPr>
          <p:cNvPr id="4" name="Slide Number Placeholder 3">
            <a:extLst>
              <a:ext uri="{FF2B5EF4-FFF2-40B4-BE49-F238E27FC236}">
                <a16:creationId xmlns:a16="http://schemas.microsoft.com/office/drawing/2014/main" id="{CA95A7BE-68E2-6D00-82B1-475D4F2BB3A6}"/>
              </a:ext>
            </a:extLst>
          </p:cNvPr>
          <p:cNvSpPr>
            <a:spLocks noGrp="1"/>
          </p:cNvSpPr>
          <p:nvPr>
            <p:ph type="sldNum" sz="quarter" idx="12"/>
          </p:nvPr>
        </p:nvSpPr>
        <p:spPr/>
        <p:txBody>
          <a:bodyPr/>
          <a:lstStyle/>
          <a:p>
            <a:fld id="{330EA680-D336-4FF7-8B7A-9848BB0A1C32}" type="slidenum">
              <a:rPr lang="en-US" smtClean="0"/>
              <a:pPr/>
              <a:t>25</a:t>
            </a:fld>
            <a:endParaRPr lang="en-US"/>
          </a:p>
        </p:txBody>
      </p:sp>
      <p:graphicFrame>
        <p:nvGraphicFramePr>
          <p:cNvPr id="5" name="Table 4">
            <a:extLst>
              <a:ext uri="{FF2B5EF4-FFF2-40B4-BE49-F238E27FC236}">
                <a16:creationId xmlns:a16="http://schemas.microsoft.com/office/drawing/2014/main" id="{5AE5F2EB-BE88-FFED-2AD1-7325CFB87B41}"/>
              </a:ext>
            </a:extLst>
          </p:cNvPr>
          <p:cNvGraphicFramePr>
            <a:graphicFrameLocks noGrp="1"/>
          </p:cNvGraphicFramePr>
          <p:nvPr>
            <p:extLst>
              <p:ext uri="{D42A27DB-BD31-4B8C-83A1-F6EECF244321}">
                <p14:modId xmlns:p14="http://schemas.microsoft.com/office/powerpoint/2010/main" val="1916577805"/>
              </p:ext>
            </p:extLst>
          </p:nvPr>
        </p:nvGraphicFramePr>
        <p:xfrm>
          <a:off x="549088" y="1143000"/>
          <a:ext cx="9053730" cy="3989440"/>
        </p:xfrm>
        <a:graphic>
          <a:graphicData uri="http://schemas.openxmlformats.org/drawingml/2006/table">
            <a:tbl>
              <a:tblPr bandRow="1">
                <a:tableStyleId>{5C22544A-7EE6-4342-B048-85BDC9FD1C3A}</a:tableStyleId>
              </a:tblPr>
              <a:tblGrid>
                <a:gridCol w="2406158">
                  <a:extLst>
                    <a:ext uri="{9D8B030D-6E8A-4147-A177-3AD203B41FA5}">
                      <a16:colId xmlns:a16="http://schemas.microsoft.com/office/drawing/2014/main" val="3217478434"/>
                    </a:ext>
                  </a:extLst>
                </a:gridCol>
                <a:gridCol w="2576041">
                  <a:extLst>
                    <a:ext uri="{9D8B030D-6E8A-4147-A177-3AD203B41FA5}">
                      <a16:colId xmlns:a16="http://schemas.microsoft.com/office/drawing/2014/main" val="4294616944"/>
                    </a:ext>
                  </a:extLst>
                </a:gridCol>
                <a:gridCol w="1918691">
                  <a:extLst>
                    <a:ext uri="{9D8B030D-6E8A-4147-A177-3AD203B41FA5}">
                      <a16:colId xmlns:a16="http://schemas.microsoft.com/office/drawing/2014/main" val="3847000619"/>
                    </a:ext>
                  </a:extLst>
                </a:gridCol>
                <a:gridCol w="2152840">
                  <a:extLst>
                    <a:ext uri="{9D8B030D-6E8A-4147-A177-3AD203B41FA5}">
                      <a16:colId xmlns:a16="http://schemas.microsoft.com/office/drawing/2014/main" val="1065114695"/>
                    </a:ext>
                  </a:extLst>
                </a:gridCol>
              </a:tblGrid>
              <a:tr h="613760">
                <a:tc>
                  <a:txBody>
                    <a:bodyPr/>
                    <a:lstStyle/>
                    <a:p>
                      <a:pPr lvl="0" algn="l">
                        <a:lnSpc>
                          <a:spcPts val="1500"/>
                        </a:lnSpc>
                        <a:buNone/>
                      </a:pPr>
                      <a:r>
                        <a:rPr lang="en-US" sz="1800" b="1" i="0" u="none" strike="noStrike" baseline="0" noProof="0">
                          <a:solidFill>
                            <a:srgbClr val="000000"/>
                          </a:solidFill>
                          <a:effectLst/>
                          <a:latin typeface="Calisto MT"/>
                        </a:rPr>
                        <a:t>Model</a:t>
                      </a:r>
                      <a:endParaRPr lang="en-US" b="1"/>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lvl="0" algn="l">
                        <a:lnSpc>
                          <a:spcPts val="1500"/>
                        </a:lnSpc>
                        <a:buNone/>
                      </a:pPr>
                      <a:r>
                        <a:rPr lang="en-US" sz="1800" b="1" i="0" u="none" strike="noStrike" baseline="0" noProof="0">
                          <a:solidFill>
                            <a:srgbClr val="000000"/>
                          </a:solidFill>
                          <a:effectLst/>
                          <a:latin typeface="Calisto MT"/>
                        </a:rPr>
                        <a:t>Architecture Source</a:t>
                      </a:r>
                      <a:endParaRPr lang="en-US" b="1"/>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tc>
                  <a:txBody>
                    <a:bodyPr/>
                    <a:lstStyle/>
                    <a:p>
                      <a:pPr lvl="0" algn="l">
                        <a:lnSpc>
                          <a:spcPts val="1500"/>
                        </a:lnSpc>
                        <a:buNone/>
                      </a:pPr>
                      <a:r>
                        <a:rPr lang="en-US" sz="1800" b="1" i="0" u="none" strike="noStrike" baseline="0" noProof="0">
                          <a:solidFill>
                            <a:srgbClr val="000000"/>
                          </a:solidFill>
                          <a:effectLst/>
                          <a:latin typeface="Calisto MT"/>
                        </a:rPr>
                        <a:t>C-index</a:t>
                      </a:r>
                      <a:endParaRPr lang="en-US"/>
                    </a:p>
                  </a:txBody>
                  <a:tcPr marL="52578" marR="52578" marT="52578" marB="52578" anchor="ctr">
                    <a:lnL w="9525" cap="flat" cmpd="sng" algn="ctr">
                      <a:solidFill>
                        <a:srgbClr val="E2E8F0"/>
                      </a:solidFill>
                      <a:prstDash val="solid"/>
                      <a:round/>
                      <a:headEnd type="none" w="med" len="med"/>
                      <a:tailEnd type="none" w="med" len="med"/>
                    </a:lnL>
                    <a:lnR w="9524">
                      <a:solidFill>
                        <a:srgbClr val="E2E8F0"/>
                      </a:solidFill>
                    </a:lnR>
                    <a:lnT w="9524">
                      <a:solidFill>
                        <a:srgbClr val="E2E8F0"/>
                      </a:solidFill>
                    </a:lnT>
                    <a:lnB w="9524">
                      <a:solidFill>
                        <a:srgbClr val="E2E8F0"/>
                      </a:solidFill>
                    </a:lnB>
                    <a:noFill/>
                  </a:tcPr>
                </a:tc>
                <a:tc>
                  <a:txBody>
                    <a:bodyPr/>
                    <a:lstStyle/>
                    <a:p>
                      <a:pPr lvl="0" algn="l">
                        <a:lnSpc>
                          <a:spcPts val="1500"/>
                        </a:lnSpc>
                        <a:buNone/>
                      </a:pPr>
                      <a:r>
                        <a:rPr lang="en-US" sz="1800" b="1" i="0" u="none" strike="noStrike" baseline="0" noProof="0">
                          <a:solidFill>
                            <a:srgbClr val="000000"/>
                          </a:solidFill>
                          <a:effectLst/>
                          <a:latin typeface="Calisto MT"/>
                        </a:rPr>
                        <a:t>Log-rank p</a:t>
                      </a:r>
                      <a:endParaRPr lang="en-US"/>
                    </a:p>
                  </a:txBody>
                  <a:tcPr marL="52578" marR="52578" marT="52578" marB="52578" anchor="ctr">
                    <a:lnL w="9524"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noFill/>
                  </a:tcPr>
                </a:tc>
                <a:extLst>
                  <a:ext uri="{0D108BD9-81ED-4DB2-BD59-A6C34878D82A}">
                    <a16:rowId xmlns:a16="http://schemas.microsoft.com/office/drawing/2014/main" val="45251126"/>
                  </a:ext>
                </a:extLst>
              </a:tr>
              <a:tr h="683505">
                <a:tc>
                  <a:txBody>
                    <a:bodyPr/>
                    <a:lstStyle/>
                    <a:p>
                      <a:pPr lvl="0" algn="l">
                        <a:lnSpc>
                          <a:spcPct val="100000"/>
                        </a:lnSpc>
                        <a:buNone/>
                      </a:pPr>
                      <a:r>
                        <a:rPr lang="en-US" sz="1800" b="0" i="0" u="none" strike="noStrike" baseline="0" noProof="0">
                          <a:solidFill>
                            <a:srgbClr val="000000"/>
                          </a:solidFill>
                          <a:effectLst/>
                          <a:latin typeface="Calisto MT"/>
                        </a:rPr>
                        <a:t>LASSO-Cox (Li et al. 2022)</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AFC"/>
                    </a:solidFill>
                  </a:tcPr>
                </a:tc>
                <a:tc>
                  <a:txBody>
                    <a:bodyPr/>
                    <a:lstStyle/>
                    <a:p>
                      <a:pPr lvl="0" algn="l">
                        <a:lnSpc>
                          <a:spcPts val="1500"/>
                        </a:lnSpc>
                        <a:buNone/>
                      </a:pPr>
                      <a:r>
                        <a:rPr lang="en-US" sz="1800" b="0" i="0" u="none" strike="noStrike" baseline="0" noProof="0">
                          <a:solidFill>
                            <a:srgbClr val="000000"/>
                          </a:solidFill>
                          <a:effectLst/>
                          <a:latin typeface="Calisto MT"/>
                        </a:rPr>
                        <a:t>Linear survival baseline</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AFC"/>
                    </a:solidFill>
                  </a:tcPr>
                </a:tc>
                <a:tc>
                  <a:txBody>
                    <a:bodyPr/>
                    <a:lstStyle/>
                    <a:p>
                      <a:pPr lvl="0" algn="l">
                        <a:lnSpc>
                          <a:spcPts val="1500"/>
                        </a:lnSpc>
                        <a:buNone/>
                      </a:pPr>
                      <a:r>
                        <a:rPr lang="en-US" sz="1800" b="0" i="0" u="none" strike="noStrike" baseline="0" noProof="0">
                          <a:solidFill>
                            <a:srgbClr val="000000"/>
                          </a:solidFill>
                          <a:effectLst/>
                          <a:latin typeface="Calisto MT"/>
                        </a:rPr>
                        <a:t>0.7289</a:t>
                      </a:r>
                      <a:endParaRPr lang="en-US"/>
                    </a:p>
                  </a:txBody>
                  <a:tcPr marL="52578" marR="52578" marT="52578" marB="52578" anchor="ctr">
                    <a:lnL w="9525" cap="flat" cmpd="sng" algn="ctr">
                      <a:solidFill>
                        <a:srgbClr val="E2E8F0"/>
                      </a:solidFill>
                      <a:prstDash val="solid"/>
                      <a:round/>
                      <a:headEnd type="none" w="med" len="med"/>
                      <a:tailEnd type="none" w="med" len="med"/>
                    </a:lnL>
                    <a:lnR w="9524">
                      <a:solidFill>
                        <a:srgbClr val="E2E8F0"/>
                      </a:solidFill>
                    </a:lnR>
                    <a:lnT w="9524">
                      <a:solidFill>
                        <a:srgbClr val="E2E8F0"/>
                      </a:solidFill>
                    </a:lnT>
                    <a:lnB w="9524">
                      <a:solidFill>
                        <a:srgbClr val="E2E8F0"/>
                      </a:solidFill>
                    </a:lnB>
                    <a:solidFill>
                      <a:srgbClr val="F7FAFC"/>
                    </a:solidFill>
                  </a:tcPr>
                </a:tc>
                <a:tc>
                  <a:txBody>
                    <a:bodyPr/>
                    <a:lstStyle/>
                    <a:p>
                      <a:pPr lvl="0" algn="l">
                        <a:lnSpc>
                          <a:spcPts val="1500"/>
                        </a:lnSpc>
                        <a:buNone/>
                      </a:pPr>
                      <a:r>
                        <a:rPr lang="en-US" sz="1800" b="0" i="0" u="none" strike="noStrike" baseline="0" noProof="0">
                          <a:solidFill>
                            <a:srgbClr val="000000"/>
                          </a:solidFill>
                          <a:effectLst/>
                          <a:latin typeface="Calisto MT"/>
                        </a:rPr>
                        <a:t>6.44×10⁻⁷</a:t>
                      </a:r>
                      <a:endParaRPr lang="en-US"/>
                    </a:p>
                  </a:txBody>
                  <a:tcPr marL="52578" marR="52578" marT="52578" marB="52578" anchor="ctr">
                    <a:lnL w="9524"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AFC"/>
                    </a:solidFill>
                  </a:tcPr>
                </a:tc>
                <a:extLst>
                  <a:ext uri="{0D108BD9-81ED-4DB2-BD59-A6C34878D82A}">
                    <a16:rowId xmlns:a16="http://schemas.microsoft.com/office/drawing/2014/main" val="2508209987"/>
                  </a:ext>
                </a:extLst>
              </a:tr>
              <a:tr h="683505">
                <a:tc>
                  <a:txBody>
                    <a:bodyPr/>
                    <a:lstStyle/>
                    <a:p>
                      <a:pPr lvl="0" algn="l">
                        <a:lnSpc>
                          <a:spcPts val="1500"/>
                        </a:lnSpc>
                        <a:buNone/>
                      </a:pPr>
                      <a:r>
                        <a:rPr lang="en-US" sz="1800" b="0" i="0" u="none" strike="noStrike" baseline="0" noProof="0" dirty="0">
                          <a:solidFill>
                            <a:srgbClr val="000000"/>
                          </a:solidFill>
                          <a:effectLst/>
                          <a:latin typeface="Calisto MT"/>
                        </a:rPr>
                        <a:t>MLP + Cox loss (Cox-</a:t>
                      </a:r>
                      <a:r>
                        <a:rPr lang="en-US" sz="1800" b="0" i="0" u="none" strike="noStrike" baseline="0" noProof="0" dirty="0" err="1">
                          <a:solidFill>
                            <a:srgbClr val="000000"/>
                          </a:solidFill>
                          <a:effectLst/>
                          <a:latin typeface="Calisto MT"/>
                        </a:rPr>
                        <a:t>nnet</a:t>
                      </a:r>
                      <a:r>
                        <a:rPr lang="en-US" sz="1800" b="0" i="0" u="none" strike="noStrike" baseline="0" noProof="0" dirty="0">
                          <a:solidFill>
                            <a:srgbClr val="000000"/>
                          </a:solidFill>
                          <a:effectLst/>
                          <a:latin typeface="Calisto MT"/>
                        </a:rPr>
                        <a:t>, Zhan et al. 2021)</a:t>
                      </a:r>
                      <a:endParaRPr lang="en-US" dirty="0"/>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lvl="0" algn="l">
                        <a:lnSpc>
                          <a:spcPts val="1500"/>
                        </a:lnSpc>
                        <a:buNone/>
                      </a:pPr>
                      <a:r>
                        <a:rPr lang="en-US" sz="1800" b="0" i="0" u="none" strike="noStrike" baseline="0" noProof="0">
                          <a:solidFill>
                            <a:srgbClr val="000000"/>
                          </a:solidFill>
                          <a:effectLst/>
                          <a:latin typeface="Calisto MT"/>
                        </a:rPr>
                        <a:t>Deep survival, no graph</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lvl="0" algn="l">
                        <a:lnSpc>
                          <a:spcPts val="1500"/>
                        </a:lnSpc>
                        <a:buNone/>
                      </a:pPr>
                      <a:r>
                        <a:rPr lang="en-US" sz="1800" b="0" i="0" u="none" strike="noStrike" baseline="0" noProof="0">
                          <a:solidFill>
                            <a:srgbClr val="000000"/>
                          </a:solidFill>
                          <a:effectLst/>
                          <a:latin typeface="Calisto MT"/>
                        </a:rPr>
                        <a:t>0.4288</a:t>
                      </a:r>
                      <a:endParaRPr lang="en-US"/>
                    </a:p>
                  </a:txBody>
                  <a:tcPr marL="52578" marR="52578" marT="52578" marB="52578" anchor="ctr">
                    <a:lnL w="9525" cap="flat" cmpd="sng" algn="ctr">
                      <a:solidFill>
                        <a:srgbClr val="E2E8F0"/>
                      </a:solidFill>
                      <a:prstDash val="solid"/>
                      <a:round/>
                      <a:headEnd type="none" w="med" len="med"/>
                      <a:tailEnd type="none" w="med" len="med"/>
                    </a:lnL>
                    <a:lnR w="9524">
                      <a:solidFill>
                        <a:srgbClr val="E2E8F0"/>
                      </a:solidFill>
                    </a:lnR>
                    <a:lnT w="9524">
                      <a:solidFill>
                        <a:srgbClr val="E2E8F0"/>
                      </a:solidFill>
                    </a:lnT>
                    <a:lnB w="9524">
                      <a:solidFill>
                        <a:srgbClr val="E2E8F0"/>
                      </a:solidFill>
                    </a:lnB>
                    <a:solidFill>
                      <a:srgbClr val="FFFFFF"/>
                    </a:solidFill>
                  </a:tcPr>
                </a:tc>
                <a:tc>
                  <a:txBody>
                    <a:bodyPr/>
                    <a:lstStyle/>
                    <a:p>
                      <a:pPr lvl="0" algn="l">
                        <a:lnSpc>
                          <a:spcPts val="1500"/>
                        </a:lnSpc>
                        <a:buNone/>
                      </a:pPr>
                      <a:r>
                        <a:rPr lang="en-US" sz="1800" b="0" i="0" u="none" strike="noStrike" baseline="0" noProof="0">
                          <a:solidFill>
                            <a:srgbClr val="000000"/>
                          </a:solidFill>
                          <a:effectLst/>
                          <a:latin typeface="Calisto MT"/>
                        </a:rPr>
                        <a:t>1.11×10⁻³</a:t>
                      </a:r>
                      <a:endParaRPr lang="en-US"/>
                    </a:p>
                  </a:txBody>
                  <a:tcPr marL="52578" marR="52578" marT="52578" marB="52578" anchor="ctr">
                    <a:lnL w="9524"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2587100699"/>
                  </a:ext>
                </a:extLst>
              </a:tr>
              <a:tr h="1004335">
                <a:tc>
                  <a:txBody>
                    <a:bodyPr/>
                    <a:lstStyle/>
                    <a:p>
                      <a:pPr lvl="0" algn="l">
                        <a:lnSpc>
                          <a:spcPct val="100000"/>
                        </a:lnSpc>
                        <a:buNone/>
                      </a:pPr>
                      <a:r>
                        <a:rPr lang="en-US" sz="1800" b="0" i="0" u="none" strike="noStrike" baseline="0" noProof="0">
                          <a:solidFill>
                            <a:srgbClr val="000000"/>
                          </a:solidFill>
                          <a:effectLst/>
                          <a:latin typeface="Calisto MT"/>
                        </a:rPr>
                        <a:t>GCN + Cox loss (Geometric GNN, 2023)</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AFC"/>
                    </a:solidFill>
                  </a:tcPr>
                </a:tc>
                <a:tc>
                  <a:txBody>
                    <a:bodyPr/>
                    <a:lstStyle/>
                    <a:p>
                      <a:pPr lvl="0" algn="l">
                        <a:lnSpc>
                          <a:spcPts val="1500"/>
                        </a:lnSpc>
                        <a:buNone/>
                      </a:pPr>
                      <a:r>
                        <a:rPr lang="en-US" sz="1800" b="0" i="0" u="none" strike="noStrike" baseline="0" noProof="0">
                          <a:solidFill>
                            <a:srgbClr val="000000"/>
                          </a:solidFill>
                          <a:effectLst/>
                          <a:latin typeface="Calisto MT"/>
                        </a:rPr>
                        <a:t>Graph survival, no attention</a:t>
                      </a:r>
                      <a:endParaRPr lang="en-US"/>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AFC"/>
                    </a:solidFill>
                  </a:tcPr>
                </a:tc>
                <a:tc>
                  <a:txBody>
                    <a:bodyPr/>
                    <a:lstStyle/>
                    <a:p>
                      <a:pPr lvl="0" algn="l">
                        <a:lnSpc>
                          <a:spcPts val="1500"/>
                        </a:lnSpc>
                        <a:buNone/>
                      </a:pPr>
                      <a:r>
                        <a:rPr lang="en-US" sz="1800" b="0" i="0" u="none" strike="noStrike" baseline="0" noProof="0">
                          <a:solidFill>
                            <a:srgbClr val="000000"/>
                          </a:solidFill>
                          <a:effectLst/>
                          <a:latin typeface="Calisto MT"/>
                        </a:rPr>
                        <a:t>0.4098</a:t>
                      </a:r>
                      <a:endParaRPr lang="en-US"/>
                    </a:p>
                  </a:txBody>
                  <a:tcPr marL="52578" marR="52578" marT="52578" marB="52578" anchor="ctr">
                    <a:lnL w="9525" cap="flat" cmpd="sng" algn="ctr">
                      <a:solidFill>
                        <a:srgbClr val="E2E8F0"/>
                      </a:solidFill>
                      <a:prstDash val="solid"/>
                      <a:round/>
                      <a:headEnd type="none" w="med" len="med"/>
                      <a:tailEnd type="none" w="med" len="med"/>
                    </a:lnL>
                    <a:lnR w="9524">
                      <a:solidFill>
                        <a:srgbClr val="E2E8F0"/>
                      </a:solidFill>
                    </a:lnR>
                    <a:lnT w="9524">
                      <a:solidFill>
                        <a:srgbClr val="E2E8F0"/>
                      </a:solidFill>
                    </a:lnT>
                    <a:lnB w="9524">
                      <a:solidFill>
                        <a:srgbClr val="E2E8F0"/>
                      </a:solidFill>
                    </a:lnB>
                    <a:solidFill>
                      <a:srgbClr val="F7FAFC"/>
                    </a:solidFill>
                  </a:tcPr>
                </a:tc>
                <a:tc>
                  <a:txBody>
                    <a:bodyPr/>
                    <a:lstStyle/>
                    <a:p>
                      <a:pPr lvl="0" algn="l">
                        <a:lnSpc>
                          <a:spcPts val="1500"/>
                        </a:lnSpc>
                        <a:buNone/>
                      </a:pPr>
                      <a:r>
                        <a:rPr lang="en-US" sz="1800" b="0" i="0" u="none" strike="noStrike" baseline="0" noProof="0">
                          <a:solidFill>
                            <a:srgbClr val="000000"/>
                          </a:solidFill>
                          <a:effectLst/>
                          <a:latin typeface="Calisto MT"/>
                        </a:rPr>
                        <a:t>4.75×10⁻³</a:t>
                      </a:r>
                      <a:endParaRPr lang="en-US"/>
                    </a:p>
                  </a:txBody>
                  <a:tcPr marL="52578" marR="52578" marT="52578" marB="52578" anchor="ctr">
                    <a:lnL w="9524"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AFC"/>
                    </a:solidFill>
                  </a:tcPr>
                </a:tc>
                <a:extLst>
                  <a:ext uri="{0D108BD9-81ED-4DB2-BD59-A6C34878D82A}">
                    <a16:rowId xmlns:a16="http://schemas.microsoft.com/office/drawing/2014/main" val="3959461964"/>
                  </a:ext>
                </a:extLst>
              </a:tr>
              <a:tr h="1004335">
                <a:tc>
                  <a:txBody>
                    <a:bodyPr/>
                    <a:lstStyle/>
                    <a:p>
                      <a:pPr lvl="0" algn="l">
                        <a:lnSpc>
                          <a:spcPct val="100000"/>
                        </a:lnSpc>
                        <a:buNone/>
                      </a:pPr>
                      <a:r>
                        <a:rPr lang="en-US" sz="1800" b="1" i="0" u="none" strike="noStrike" baseline="0" noProof="0" dirty="0" err="1">
                          <a:solidFill>
                            <a:srgbClr val="000000"/>
                          </a:solidFill>
                          <a:effectLst/>
                          <a:latin typeface="Calisto MT"/>
                        </a:rPr>
                        <a:t>HisGT</a:t>
                      </a:r>
                      <a:r>
                        <a:rPr lang="en-US" sz="1800" b="1" i="0" u="none" strike="noStrike" baseline="0" noProof="0" dirty="0">
                          <a:solidFill>
                            <a:srgbClr val="000000"/>
                          </a:solidFill>
                          <a:effectLst/>
                          <a:latin typeface="Calisto MT"/>
                        </a:rPr>
                        <a:t>-HCC (proposed)</a:t>
                      </a:r>
                      <a:endParaRPr lang="en-US" b="1" dirty="0"/>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lvl="0" algn="l">
                        <a:lnSpc>
                          <a:spcPts val="1500"/>
                        </a:lnSpc>
                        <a:buNone/>
                      </a:pPr>
                      <a:r>
                        <a:rPr lang="en-US" sz="1800" b="0" i="0" u="none" strike="noStrike" baseline="0" noProof="0" dirty="0">
                          <a:solidFill>
                            <a:srgbClr val="000000"/>
                          </a:solidFill>
                          <a:effectLst/>
                          <a:latin typeface="Calisto MT"/>
                        </a:rPr>
                        <a:t>GAT (</a:t>
                      </a:r>
                      <a:r>
                        <a:rPr lang="en-US" sz="1800" b="0" i="0" u="none" strike="noStrike" baseline="0" noProof="0" dirty="0" err="1">
                          <a:solidFill>
                            <a:srgbClr val="000000"/>
                          </a:solidFill>
                          <a:effectLst/>
                          <a:latin typeface="Calisto MT"/>
                        </a:rPr>
                        <a:t>Veličković</a:t>
                      </a:r>
                      <a:r>
                        <a:rPr lang="en-US" sz="1800" b="0" i="0" u="none" strike="noStrike" baseline="0" noProof="0" dirty="0">
                          <a:solidFill>
                            <a:srgbClr val="000000"/>
                          </a:solidFill>
                          <a:effectLst/>
                          <a:latin typeface="Calisto MT"/>
                        </a:rPr>
                        <a:t> et al. 2018) adapted for HCC survival</a:t>
                      </a:r>
                      <a:endParaRPr lang="en-US" dirty="0"/>
                    </a:p>
                  </a:txBody>
                  <a:tcPr marL="52578" marR="52578" marT="52578" marB="5257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lvl="0" algn="l">
                        <a:lnSpc>
                          <a:spcPts val="1500"/>
                        </a:lnSpc>
                        <a:buNone/>
                      </a:pPr>
                      <a:r>
                        <a:rPr lang="en-US" sz="1800" b="1" i="0" u="none" strike="noStrike" baseline="0" noProof="0">
                          <a:solidFill>
                            <a:srgbClr val="000000"/>
                          </a:solidFill>
                          <a:effectLst/>
                          <a:latin typeface="Calisto MT"/>
                        </a:rPr>
                        <a:t>0.7425</a:t>
                      </a:r>
                      <a:endParaRPr lang="en-US" b="1"/>
                    </a:p>
                  </a:txBody>
                  <a:tcPr marL="52578" marR="52578" marT="52578" marB="52578" anchor="ctr">
                    <a:lnL w="9525" cap="flat" cmpd="sng" algn="ctr">
                      <a:solidFill>
                        <a:srgbClr val="E2E8F0"/>
                      </a:solidFill>
                      <a:prstDash val="solid"/>
                      <a:round/>
                      <a:headEnd type="none" w="med" len="med"/>
                      <a:tailEnd type="none" w="med" len="med"/>
                    </a:lnL>
                    <a:lnR w="9524">
                      <a:solidFill>
                        <a:srgbClr val="E2E8F0"/>
                      </a:solidFill>
                    </a:lnR>
                    <a:lnT w="9524">
                      <a:solidFill>
                        <a:srgbClr val="E2E8F0"/>
                      </a:solidFill>
                    </a:lnT>
                    <a:lnB w="9524">
                      <a:solidFill>
                        <a:srgbClr val="E2E8F0"/>
                      </a:solidFill>
                    </a:lnB>
                    <a:solidFill>
                      <a:srgbClr val="FFFFFF"/>
                    </a:solidFill>
                  </a:tcPr>
                </a:tc>
                <a:tc>
                  <a:txBody>
                    <a:bodyPr/>
                    <a:lstStyle/>
                    <a:p>
                      <a:pPr lvl="0" algn="l">
                        <a:lnSpc>
                          <a:spcPts val="1500"/>
                        </a:lnSpc>
                        <a:buNone/>
                      </a:pPr>
                      <a:r>
                        <a:rPr lang="en-US" sz="1800" b="0" i="0" u="none" strike="noStrike" baseline="0" noProof="0">
                          <a:solidFill>
                            <a:srgbClr val="000000"/>
                          </a:solidFill>
                          <a:effectLst/>
                          <a:latin typeface="Calisto MT"/>
                        </a:rPr>
                        <a:t>1.69×10⁻¹⁷</a:t>
                      </a:r>
                      <a:endParaRPr lang="en-US"/>
                    </a:p>
                  </a:txBody>
                  <a:tcPr marL="52578" marR="52578" marT="52578" marB="52578" anchor="ctr">
                    <a:lnL w="9524"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505576117"/>
                  </a:ext>
                </a:extLst>
              </a:tr>
            </a:tbl>
          </a:graphicData>
        </a:graphic>
      </p:graphicFrame>
    </p:spTree>
    <p:extLst>
      <p:ext uri="{BB962C8B-B14F-4D97-AF65-F5344CB8AC3E}">
        <p14:creationId xmlns:p14="http://schemas.microsoft.com/office/powerpoint/2010/main" val="1278513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F1FB02-58BE-D9FD-985D-9ECB8588838F}"/>
              </a:ext>
            </a:extLst>
          </p:cNvPr>
          <p:cNvSpPr>
            <a:spLocks noGrp="1"/>
          </p:cNvSpPr>
          <p:nvPr>
            <p:ph idx="1"/>
          </p:nvPr>
        </p:nvSpPr>
        <p:spPr/>
        <p:txBody>
          <a:bodyPr vert="horz" lIns="91440" tIns="45720" rIns="91440" bIns="45720" rtlCol="0" anchor="t">
            <a:normAutofit lnSpcReduction="10000"/>
          </a:bodyPr>
          <a:lstStyle/>
          <a:p>
            <a:pPr>
              <a:lnSpc>
                <a:spcPct val="150000"/>
              </a:lnSpc>
            </a:pPr>
            <a:r>
              <a:rPr lang="en-US" sz="1600" dirty="0">
                <a:latin typeface="Georgia"/>
              </a:rPr>
              <a:t>Developed </a:t>
            </a:r>
            <a:r>
              <a:rPr lang="en-US" sz="1600" b="1" dirty="0" err="1">
                <a:latin typeface="Georgia"/>
              </a:rPr>
              <a:t>HisGT</a:t>
            </a:r>
            <a:r>
              <a:rPr lang="en-US" sz="1600" b="1" dirty="0">
                <a:latin typeface="Georgia"/>
              </a:rPr>
              <a:t>-HCC</a:t>
            </a:r>
            <a:r>
              <a:rPr lang="en-US" sz="1600" dirty="0">
                <a:latin typeface="Georgia"/>
              </a:rPr>
              <a:t> — a histone-modifier Graph Transformer pipeline for HCC overall survival prediction using TCGA-LIHC RNA-seq data</a:t>
            </a:r>
            <a:endParaRPr lang="en-US" sz="1600"/>
          </a:p>
          <a:p>
            <a:pPr>
              <a:lnSpc>
                <a:spcPct val="150000"/>
              </a:lnSpc>
            </a:pPr>
            <a:r>
              <a:rPr lang="en-US" sz="1600">
                <a:latin typeface="Georgia"/>
              </a:rPr>
              <a:t>Expanded gene coverage from 4 to 10 enzyme families (HAT · HDAC · HMT · KDM · PRMT · SIRT · DNMT · TET · CBX · BRD) across 114 genes and a 313-node </a:t>
            </a:r>
            <a:r>
              <a:rPr lang="en-US" sz="1600" b="1">
                <a:latin typeface="Georgia"/>
              </a:rPr>
              <a:t>PPI graph</a:t>
            </a:r>
            <a:endParaRPr lang="en-US" b="1"/>
          </a:p>
          <a:p>
            <a:pPr>
              <a:lnSpc>
                <a:spcPct val="150000"/>
              </a:lnSpc>
            </a:pPr>
            <a:r>
              <a:rPr lang="en-US" sz="1600">
                <a:latin typeface="Georgia"/>
              </a:rPr>
              <a:t>Derived a 56-gene </a:t>
            </a:r>
            <a:r>
              <a:rPr lang="en-US" sz="1600" b="1">
                <a:latin typeface="Georgia"/>
              </a:rPr>
              <a:t>LASSO-Cox prognostic signature</a:t>
            </a:r>
            <a:r>
              <a:rPr lang="en-US" sz="1600">
                <a:latin typeface="Georgia"/>
              </a:rPr>
              <a:t> achieving C-index = 0.748 and log-rank p = 4.34×10⁻¹⁶ — confirmed as an independent prognostic factor (HR = 1.273, p = 0.004)</a:t>
            </a:r>
            <a:endParaRPr lang="en-US"/>
          </a:p>
          <a:p>
            <a:pPr>
              <a:lnSpc>
                <a:spcPct val="150000"/>
              </a:lnSpc>
            </a:pPr>
            <a:r>
              <a:rPr lang="en-US" sz="1600">
                <a:latin typeface="Georgia"/>
              </a:rPr>
              <a:t>Graph Transformer matched LASSO-Cox discrimination (C-index = 0.7425) while providing attention-based biological interpretability</a:t>
            </a:r>
            <a:endParaRPr lang="en-US"/>
          </a:p>
          <a:p>
            <a:pPr>
              <a:lnSpc>
                <a:spcPct val="150000"/>
              </a:lnSpc>
            </a:pPr>
            <a:r>
              <a:rPr lang="en-US" sz="1600" b="1">
                <a:latin typeface="Georgia"/>
              </a:rPr>
              <a:t>Risk signature</a:t>
            </a:r>
            <a:r>
              <a:rPr lang="en-US" sz="1600">
                <a:latin typeface="Georgia"/>
              </a:rPr>
              <a:t> achieved significant survival stratification across all 7 clinical subgroups including early-stage patients </a:t>
            </a:r>
            <a:r>
              <a:rPr lang="en-US" sz="1600" b="1">
                <a:latin typeface="Georgia"/>
              </a:rPr>
              <a:t>(p = 1.83×10⁻⁹) </a:t>
            </a:r>
            <a:r>
              <a:rPr lang="en-US" sz="1600">
                <a:latin typeface="Georgia"/>
              </a:rPr>
              <a:t>where conventional staging fails</a:t>
            </a:r>
            <a:endParaRPr lang="en-US"/>
          </a:p>
          <a:p>
            <a:pPr>
              <a:lnSpc>
                <a:spcPct val="150000"/>
              </a:lnSpc>
            </a:pPr>
            <a:r>
              <a:rPr lang="en-US" sz="1600">
                <a:latin typeface="Georgia"/>
              </a:rPr>
              <a:t>Three independent analyses — network hub score, attention weights, and pathway enrichment — converge on a </a:t>
            </a:r>
            <a:r>
              <a:rPr lang="en-US" sz="1600" b="1">
                <a:latin typeface="Georgia"/>
              </a:rPr>
              <a:t>TP53</a:t>
            </a:r>
            <a:r>
              <a:rPr lang="en-US" sz="1600">
                <a:latin typeface="Georgia"/>
              </a:rPr>
              <a:t>-centred chromatin regulatory axis as the core epigenetic driver of HCC prognosis</a:t>
            </a:r>
            <a:endParaRPr lang="en-US"/>
          </a:p>
          <a:p>
            <a:pPr>
              <a:lnSpc>
                <a:spcPct val="150000"/>
              </a:lnSpc>
            </a:pPr>
            <a:endParaRPr lang="en-US" sz="1600" dirty="0">
              <a:latin typeface="Georgia"/>
            </a:endParaRPr>
          </a:p>
        </p:txBody>
      </p:sp>
      <p:sp>
        <p:nvSpPr>
          <p:cNvPr id="3" name="Title 2">
            <a:extLst>
              <a:ext uri="{FF2B5EF4-FFF2-40B4-BE49-F238E27FC236}">
                <a16:creationId xmlns:a16="http://schemas.microsoft.com/office/drawing/2014/main" id="{99911F26-D41F-AE1A-8009-8ED608E2B404}"/>
              </a:ext>
            </a:extLst>
          </p:cNvPr>
          <p:cNvSpPr>
            <a:spLocks noGrp="1"/>
          </p:cNvSpPr>
          <p:nvPr>
            <p:ph type="title"/>
          </p:nvPr>
        </p:nvSpPr>
        <p:spPr/>
        <p:txBody>
          <a:bodyPr/>
          <a:lstStyle/>
          <a:p>
            <a:r>
              <a:rPr lang="en-US">
                <a:latin typeface="Georgia"/>
              </a:rPr>
              <a:t>Conclusion</a:t>
            </a:r>
            <a:endParaRPr lang="en-US"/>
          </a:p>
        </p:txBody>
      </p:sp>
      <p:sp>
        <p:nvSpPr>
          <p:cNvPr id="4" name="Slide Number Placeholder 3">
            <a:extLst>
              <a:ext uri="{FF2B5EF4-FFF2-40B4-BE49-F238E27FC236}">
                <a16:creationId xmlns:a16="http://schemas.microsoft.com/office/drawing/2014/main" id="{28D0AFB2-1A50-79CB-44B6-47D7EBA7DC07}"/>
              </a:ext>
            </a:extLst>
          </p:cNvPr>
          <p:cNvSpPr>
            <a:spLocks noGrp="1"/>
          </p:cNvSpPr>
          <p:nvPr>
            <p:ph type="sldNum" sz="quarter" idx="12"/>
          </p:nvPr>
        </p:nvSpPr>
        <p:spPr/>
        <p:txBody>
          <a:bodyPr/>
          <a:lstStyle/>
          <a:p>
            <a:fld id="{330EA680-D336-4FF7-8B7A-9848BB0A1C32}" type="slidenum">
              <a:rPr lang="en-US" smtClean="0"/>
              <a:pPr/>
              <a:t>26</a:t>
            </a:fld>
            <a:endParaRPr lang="en-US"/>
          </a:p>
        </p:txBody>
      </p:sp>
    </p:spTree>
    <p:extLst>
      <p:ext uri="{BB962C8B-B14F-4D97-AF65-F5344CB8AC3E}">
        <p14:creationId xmlns:p14="http://schemas.microsoft.com/office/powerpoint/2010/main" val="2561035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C4D758-A0C3-40D4-AFCF-08308B3C6D90}"/>
              </a:ext>
            </a:extLst>
          </p:cNvPr>
          <p:cNvSpPr>
            <a:spLocks noGrp="1"/>
          </p:cNvSpPr>
          <p:nvPr>
            <p:ph idx="1"/>
          </p:nvPr>
        </p:nvSpPr>
        <p:spPr/>
        <p:txBody>
          <a:bodyPr vert="horz" lIns="91440" tIns="45720" rIns="91440" bIns="45720" rtlCol="0" anchor="t">
            <a:normAutofit/>
          </a:bodyPr>
          <a:lstStyle/>
          <a:p>
            <a:pPr>
              <a:lnSpc>
                <a:spcPct val="150000"/>
              </a:lnSpc>
            </a:pPr>
            <a:r>
              <a:rPr lang="en-US" sz="1800">
                <a:latin typeface="Georgia"/>
              </a:rPr>
              <a:t>Validate the 56-gene signature on independent RNA-seq HCC cohorts such as ICGC LIRI-JP once data access is restored via ICGC ARGO</a:t>
            </a:r>
          </a:p>
          <a:p>
            <a:pPr>
              <a:lnSpc>
                <a:spcPct val="150000"/>
              </a:lnSpc>
            </a:pPr>
            <a:r>
              <a:rPr lang="en-US" sz="1800" dirty="0">
                <a:latin typeface="Georgia"/>
              </a:rPr>
              <a:t>Replace </a:t>
            </a:r>
            <a:r>
              <a:rPr lang="en-US" sz="1800" dirty="0" err="1">
                <a:latin typeface="Georgia"/>
              </a:rPr>
              <a:t>transductive</a:t>
            </a:r>
            <a:r>
              <a:rPr lang="en-US" sz="1800" dirty="0">
                <a:latin typeface="Georgia"/>
              </a:rPr>
              <a:t> GAT with inductive architectures (</a:t>
            </a:r>
            <a:r>
              <a:rPr lang="en-US" sz="1800" dirty="0" err="1">
                <a:latin typeface="Georgia"/>
              </a:rPr>
              <a:t>GraphSAGE</a:t>
            </a:r>
            <a:r>
              <a:rPr lang="en-US" sz="1800" dirty="0">
                <a:latin typeface="Georgia"/>
              </a:rPr>
              <a:t>, inductive GAT) to enable risk scoring of new patients without retraining</a:t>
            </a:r>
            <a:endParaRPr lang="en-US" dirty="0"/>
          </a:p>
          <a:p>
            <a:pPr>
              <a:lnSpc>
                <a:spcPct val="150000"/>
              </a:lnSpc>
            </a:pPr>
            <a:r>
              <a:rPr lang="en-US" sz="1800" dirty="0">
                <a:latin typeface="Georgia"/>
              </a:rPr>
              <a:t>Expand the gene set to include chromatin </a:t>
            </a:r>
            <a:r>
              <a:rPr lang="en-US" sz="1800" dirty="0" err="1">
                <a:latin typeface="Georgia"/>
              </a:rPr>
              <a:t>remodelling</a:t>
            </a:r>
            <a:r>
              <a:rPr lang="en-US" sz="1800" dirty="0">
                <a:latin typeface="Georgia"/>
              </a:rPr>
              <a:t> complexes (SWI/SNF, </a:t>
            </a:r>
            <a:r>
              <a:rPr lang="en-US" sz="1800" dirty="0" err="1">
                <a:latin typeface="Georgia"/>
              </a:rPr>
              <a:t>NuRD</a:t>
            </a:r>
            <a:r>
              <a:rPr lang="en-US" sz="1800" dirty="0">
                <a:latin typeface="Georgia"/>
              </a:rPr>
              <a:t>) and histone reader proteins (bromodomain, chromodomain families)</a:t>
            </a:r>
            <a:endParaRPr lang="en-US" dirty="0"/>
          </a:p>
          <a:p>
            <a:pPr>
              <a:lnSpc>
                <a:spcPct val="150000"/>
              </a:lnSpc>
            </a:pPr>
            <a:r>
              <a:rPr lang="en-US" sz="1800" dirty="0">
                <a:latin typeface="Georgia"/>
              </a:rPr>
              <a:t>Experimentally validate top prognostic genes (EZH2, KANSL1, KMT2D) and the TP53-chromatin axis findings through in vitro HCC cell line studies</a:t>
            </a:r>
          </a:p>
          <a:p>
            <a:pPr>
              <a:lnSpc>
                <a:spcPct val="150000"/>
              </a:lnSpc>
            </a:pPr>
            <a:r>
              <a:rPr lang="en-US" sz="1800">
                <a:latin typeface="Georgia"/>
              </a:rPr>
              <a:t>Explore clinical translation — develop epigenetic biomarker panels for patient stratification in HDAC, EZH2, and PRMT5 inhibitor clinical trials</a:t>
            </a:r>
            <a:endParaRPr lang="en-US"/>
          </a:p>
          <a:p>
            <a:pPr>
              <a:lnSpc>
                <a:spcPct val="150000"/>
              </a:lnSpc>
            </a:pPr>
            <a:endParaRPr lang="en-US" sz="1800" dirty="0">
              <a:latin typeface="Georgia"/>
            </a:endParaRPr>
          </a:p>
          <a:p>
            <a:pPr>
              <a:buFont typeface="Wingdings,Sans-Serif"/>
              <a:buChar char="Ø"/>
            </a:pPr>
            <a:endParaRPr lang="en-US" dirty="0">
              <a:latin typeface="Georgia"/>
            </a:endParaRPr>
          </a:p>
          <a:p>
            <a:pPr marL="457200" lvl="1" indent="0">
              <a:lnSpc>
                <a:spcPct val="150000"/>
              </a:lnSpc>
              <a:buNone/>
            </a:pPr>
            <a:endParaRPr lang="en-US" sz="1600" b="1" dirty="0">
              <a:latin typeface="Georgia"/>
            </a:endParaRPr>
          </a:p>
        </p:txBody>
      </p:sp>
      <p:sp>
        <p:nvSpPr>
          <p:cNvPr id="3" name="Title 2">
            <a:extLst>
              <a:ext uri="{FF2B5EF4-FFF2-40B4-BE49-F238E27FC236}">
                <a16:creationId xmlns:a16="http://schemas.microsoft.com/office/drawing/2014/main" id="{ADD7F514-E627-972F-7622-EE4366A00943}"/>
              </a:ext>
            </a:extLst>
          </p:cNvPr>
          <p:cNvSpPr>
            <a:spLocks noGrp="1"/>
          </p:cNvSpPr>
          <p:nvPr>
            <p:ph type="title"/>
          </p:nvPr>
        </p:nvSpPr>
        <p:spPr/>
        <p:txBody>
          <a:bodyPr/>
          <a:lstStyle/>
          <a:p>
            <a:r>
              <a:rPr lang="en-US">
                <a:latin typeface="Georgia"/>
              </a:rPr>
              <a:t>Future Work</a:t>
            </a:r>
            <a:endParaRPr lang="en-US" dirty="0"/>
          </a:p>
        </p:txBody>
      </p:sp>
      <p:sp>
        <p:nvSpPr>
          <p:cNvPr id="4" name="Slide Number Placeholder 3">
            <a:extLst>
              <a:ext uri="{FF2B5EF4-FFF2-40B4-BE49-F238E27FC236}">
                <a16:creationId xmlns:a16="http://schemas.microsoft.com/office/drawing/2014/main" id="{35EF0087-ADF2-05BC-E37A-66661A25A5E6}"/>
              </a:ext>
            </a:extLst>
          </p:cNvPr>
          <p:cNvSpPr>
            <a:spLocks noGrp="1"/>
          </p:cNvSpPr>
          <p:nvPr>
            <p:ph type="sldNum" sz="quarter" idx="12"/>
          </p:nvPr>
        </p:nvSpPr>
        <p:spPr/>
        <p:txBody>
          <a:bodyPr/>
          <a:lstStyle/>
          <a:p>
            <a:fld id="{330EA680-D336-4FF7-8B7A-9848BB0A1C32}" type="slidenum">
              <a:rPr lang="en-US" smtClean="0"/>
              <a:pPr/>
              <a:t>27</a:t>
            </a:fld>
            <a:endParaRPr lang="en-US"/>
          </a:p>
        </p:txBody>
      </p:sp>
    </p:spTree>
    <p:extLst>
      <p:ext uri="{BB962C8B-B14F-4D97-AF65-F5344CB8AC3E}">
        <p14:creationId xmlns:p14="http://schemas.microsoft.com/office/powerpoint/2010/main" val="733774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FE6A09-D4AF-ABAD-4812-C69EC915AB29}"/>
              </a:ext>
            </a:extLst>
          </p:cNvPr>
          <p:cNvSpPr>
            <a:spLocks noGrp="1"/>
          </p:cNvSpPr>
          <p:nvPr>
            <p:ph idx="1"/>
          </p:nvPr>
        </p:nvSpPr>
        <p:spPr>
          <a:xfrm>
            <a:off x="493058" y="700226"/>
            <a:ext cx="11209376" cy="4908082"/>
          </a:xfrm>
        </p:spPr>
        <p:txBody>
          <a:bodyPr vert="horz" lIns="91440" tIns="45720" rIns="91440" bIns="45720" rtlCol="0" anchor="t">
            <a:noAutofit/>
          </a:bodyPr>
          <a:lstStyle/>
          <a:p>
            <a:pPr>
              <a:lnSpc>
                <a:spcPct val="150000"/>
              </a:lnSpc>
            </a:pPr>
            <a:r>
              <a:rPr lang="en-US" sz="1600">
                <a:latin typeface="Georgia"/>
              </a:rPr>
              <a:t>D. Lee, Y. Kim, C. Park, et al., "Learning the histone codes with large genomic windows and three-dimensional chromatin interactions using transformer," Nature Communications, vol. 13, no. 1, Art. no. 6678, 2022.</a:t>
            </a:r>
            <a:endParaRPr lang="en-US" sz="1600"/>
          </a:p>
          <a:p>
            <a:pPr>
              <a:lnSpc>
                <a:spcPct val="150000"/>
              </a:lnSpc>
            </a:pPr>
            <a:r>
              <a:rPr lang="en-US" sz="1600">
                <a:latin typeface="Georgia"/>
              </a:rPr>
              <a:t>J. Zhang, S. Liu, et al., "Differential gene expression prediction by ensemble deep networks on histone modification data," IEEE/ACM Transactions on Computational Biology and Bioinformatics, vol. 20, no. 1, pp. 340–352, 2023.</a:t>
            </a:r>
            <a:endParaRPr lang="en-US"/>
          </a:p>
          <a:p>
            <a:pPr>
              <a:lnSpc>
                <a:spcPct val="150000"/>
              </a:lnSpc>
            </a:pPr>
            <a:r>
              <a:rPr lang="en-US" sz="1600">
                <a:latin typeface="Georgia"/>
              </a:rPr>
              <a:t>X. Chen, Y. Li, et al., "KAS-former: A transformer-based model for predicting histone modifications using KAS-seq," in Proc. IEEE Int. Conf. Bioinformatics and Biomedicine (BIBM), 2024, pp. 623–630.</a:t>
            </a:r>
            <a:endParaRPr lang="en-US"/>
          </a:p>
          <a:p>
            <a:pPr>
              <a:lnSpc>
                <a:spcPct val="150000"/>
              </a:lnSpc>
            </a:pPr>
            <a:r>
              <a:rPr lang="en-US" sz="1600">
                <a:latin typeface="Georgia"/>
              </a:rPr>
              <a:t>A. E. Murphy, A. Askarova, B. Lenhard, N. G. Skene, and S. J. Marzi, "Predicting gene expression from histone marks using chromatin deep learning models depends on histone mark function, regulatory distance and cellular states," Nucleic Acids Research, vol. 53, no. 4, 2025.</a:t>
            </a:r>
            <a:endParaRPr lang="en-US"/>
          </a:p>
          <a:p>
            <a:pPr>
              <a:lnSpc>
                <a:spcPct val="150000"/>
              </a:lnSpc>
            </a:pPr>
            <a:r>
              <a:rPr lang="en-US" sz="1600" dirty="0" err="1">
                <a:latin typeface="Georgia"/>
              </a:rPr>
              <a:t>Castelló</a:t>
            </a:r>
            <a:r>
              <a:rPr lang="en-US" sz="1600" dirty="0">
                <a:latin typeface="Georgia"/>
              </a:rPr>
              <a:t>-Uribe et al., "</a:t>
            </a:r>
            <a:r>
              <a:rPr lang="en-US" sz="1600" dirty="0" err="1">
                <a:latin typeface="Georgia"/>
              </a:rPr>
              <a:t>AttentionGRN</a:t>
            </a:r>
            <a:r>
              <a:rPr lang="en-US" sz="1600" dirty="0">
                <a:latin typeface="Georgia"/>
              </a:rPr>
              <a:t>: A functional and directed graph transformer for gene regulatory network reconstruction," Bioinformatics, 2025.</a:t>
            </a:r>
            <a:endParaRPr lang="en-US" dirty="0"/>
          </a:p>
          <a:p>
            <a:pPr>
              <a:lnSpc>
                <a:spcPct val="150000"/>
              </a:lnSpc>
            </a:pPr>
            <a:r>
              <a:rPr lang="en-US" sz="1600">
                <a:latin typeface="Georgia"/>
              </a:rPr>
              <a:t>L. Tang, S. Diao, C. Li, et al., "Global contextual representation via graph-transformer fusion for hepatocellular carcinoma prognosis in whole-slide images," Computers in Medical Imaging and Graphics, vol. 115, Art. no. 102378, 2024.</a:t>
            </a:r>
            <a:endParaRPr lang="en-US"/>
          </a:p>
          <a:p>
            <a:pPr>
              <a:lnSpc>
                <a:spcPct val="70000"/>
              </a:lnSpc>
            </a:pPr>
            <a:endParaRPr lang="en-US" sz="1600" dirty="0"/>
          </a:p>
          <a:p>
            <a:endParaRPr lang="en-US" sz="1700" dirty="0">
              <a:latin typeface="Georgia"/>
            </a:endParaRPr>
          </a:p>
        </p:txBody>
      </p:sp>
      <p:sp>
        <p:nvSpPr>
          <p:cNvPr id="3" name="Title 2">
            <a:extLst>
              <a:ext uri="{FF2B5EF4-FFF2-40B4-BE49-F238E27FC236}">
                <a16:creationId xmlns:a16="http://schemas.microsoft.com/office/drawing/2014/main" id="{22F2E86D-EFBF-54D5-ECF0-86DF7DAC4DD7}"/>
              </a:ext>
            </a:extLst>
          </p:cNvPr>
          <p:cNvSpPr>
            <a:spLocks noGrp="1"/>
          </p:cNvSpPr>
          <p:nvPr>
            <p:ph type="title"/>
          </p:nvPr>
        </p:nvSpPr>
        <p:spPr>
          <a:xfrm>
            <a:off x="571499" y="225397"/>
            <a:ext cx="11209376" cy="464000"/>
          </a:xfrm>
        </p:spPr>
        <p:txBody>
          <a:bodyPr/>
          <a:lstStyle/>
          <a:p>
            <a:r>
              <a:rPr lang="en-US" dirty="0">
                <a:latin typeface="Georgia"/>
              </a:rPr>
              <a:t>Reference</a:t>
            </a:r>
            <a:endParaRPr lang="en-US" dirty="0"/>
          </a:p>
        </p:txBody>
      </p:sp>
      <p:sp>
        <p:nvSpPr>
          <p:cNvPr id="4" name="Slide Number Placeholder 3">
            <a:extLst>
              <a:ext uri="{FF2B5EF4-FFF2-40B4-BE49-F238E27FC236}">
                <a16:creationId xmlns:a16="http://schemas.microsoft.com/office/drawing/2014/main" id="{6E3584B3-130B-F449-6105-D277414A2DBD}"/>
              </a:ext>
            </a:extLst>
          </p:cNvPr>
          <p:cNvSpPr>
            <a:spLocks noGrp="1"/>
          </p:cNvSpPr>
          <p:nvPr>
            <p:ph type="sldNum" sz="quarter" idx="12"/>
          </p:nvPr>
        </p:nvSpPr>
        <p:spPr/>
        <p:txBody>
          <a:bodyPr/>
          <a:lstStyle/>
          <a:p>
            <a:fld id="{330EA680-D336-4FF7-8B7A-9848BB0A1C32}" type="slidenum">
              <a:rPr lang="en-US" smtClean="0"/>
              <a:pPr/>
              <a:t>28</a:t>
            </a:fld>
            <a:endParaRPr lang="en-US"/>
          </a:p>
        </p:txBody>
      </p:sp>
    </p:spTree>
    <p:extLst>
      <p:ext uri="{BB962C8B-B14F-4D97-AF65-F5344CB8AC3E}">
        <p14:creationId xmlns:p14="http://schemas.microsoft.com/office/powerpoint/2010/main" val="22207194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044D4922-FB9F-EC95-50E0-2317F3B7F6BA}"/>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kern="1200">
                <a:solidFill>
                  <a:schemeClr val="tx2"/>
                </a:solidFill>
                <a:latin typeface="+mj-lt"/>
                <a:ea typeface="+mj-ea"/>
                <a:cs typeface="+mj-cs"/>
              </a:rPr>
              <a:t>Thank You</a:t>
            </a:r>
          </a:p>
        </p:txBody>
      </p:sp>
      <p:pic>
        <p:nvPicPr>
          <p:cNvPr id="8" name="Graphic 7" descr="Smiling Face with No Fill">
            <a:extLst>
              <a:ext uri="{FF2B5EF4-FFF2-40B4-BE49-F238E27FC236}">
                <a16:creationId xmlns:a16="http://schemas.microsoft.com/office/drawing/2014/main" id="{3C1BE8F4-2EA3-A04E-6092-90D19741DB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5" name="Group 14">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6" name="Freeform: Shape 15">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Slide Number Placeholder 3">
            <a:extLst>
              <a:ext uri="{FF2B5EF4-FFF2-40B4-BE49-F238E27FC236}">
                <a16:creationId xmlns:a16="http://schemas.microsoft.com/office/drawing/2014/main" id="{AC003B6C-5BBA-22C8-0795-CA341AF36FB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lgn="r">
              <a:spcAft>
                <a:spcPts val="600"/>
              </a:spcAft>
            </a:pPr>
            <a:fld id="{330EA680-D336-4FF7-8B7A-9848BB0A1C32}" type="slidenum">
              <a:rPr lang="en-US" sz="1200" smtClean="0">
                <a:solidFill>
                  <a:schemeClr val="tx1">
                    <a:tint val="75000"/>
                  </a:schemeClr>
                </a:solidFill>
              </a:rPr>
              <a:pPr algn="r">
                <a:spcAft>
                  <a:spcPts val="600"/>
                </a:spcAft>
              </a:pPr>
              <a:t>29</a:t>
            </a:fld>
            <a:endParaRPr lang="en-US" sz="1200">
              <a:solidFill>
                <a:schemeClr val="tx1">
                  <a:tint val="75000"/>
                </a:schemeClr>
              </a:solidFill>
            </a:endParaRPr>
          </a:p>
        </p:txBody>
      </p:sp>
    </p:spTree>
    <p:extLst>
      <p:ext uri="{BB962C8B-B14F-4D97-AF65-F5344CB8AC3E}">
        <p14:creationId xmlns:p14="http://schemas.microsoft.com/office/powerpoint/2010/main" val="977226233"/>
      </p:ext>
    </p:extLst>
  </p:cSld>
  <p:clrMapOvr>
    <a:masterClrMapping/>
  </p:clrMapOvr>
</p:sld>
</file>

<file path=ppt/theme/theme1.xml><?xml version="1.0" encoding="utf-8"?>
<a:theme xmlns:a="http://schemas.openxmlformats.org/drawingml/2006/main" name="AlignmentVTI">
  <a:themeElements>
    <a:clrScheme name="AnalogousFromLightSeed_2SEEDS">
      <a:dk1>
        <a:srgbClr val="000000"/>
      </a:dk1>
      <a:lt1>
        <a:srgbClr val="FFFFFF"/>
      </a:lt1>
      <a:dk2>
        <a:srgbClr val="243741"/>
      </a:dk2>
      <a:lt2>
        <a:srgbClr val="E2E5E8"/>
      </a:lt2>
      <a:accent1>
        <a:srgbClr val="BB9D7E"/>
      </a:accent1>
      <a:accent2>
        <a:srgbClr val="C59791"/>
      </a:accent2>
      <a:accent3>
        <a:srgbClr val="A5A27B"/>
      </a:accent3>
      <a:accent4>
        <a:srgbClr val="74ADA7"/>
      </a:accent4>
      <a:accent5>
        <a:srgbClr val="7EA7BB"/>
      </a:accent5>
      <a:accent6>
        <a:srgbClr val="7E8DBB"/>
      </a:accent6>
      <a:hlink>
        <a:srgbClr val="6184A9"/>
      </a:hlink>
      <a:folHlink>
        <a:srgbClr val="7F7F7F"/>
      </a:folHlink>
    </a:clrScheme>
    <a:fontScheme name="Custom 1">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lignmentVTI" id="{606D7720-FAA0-4ADC-B967-3239DA8ECA1A}" vid="{10074623-6FCC-4A3C-AAA5-58644BD8FF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5437</TotalTime>
  <Words>2881</Words>
  <Application>Microsoft Office PowerPoint</Application>
  <PresentationFormat>Widescreen</PresentationFormat>
  <Paragraphs>364</Paragraphs>
  <Slides>29</Slides>
  <Notes>0</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29</vt:i4>
      </vt:variant>
    </vt:vector>
  </HeadingPairs>
  <TitlesOfParts>
    <vt:vector size="43" baseType="lpstr">
      <vt:lpstr>Batang</vt:lpstr>
      <vt:lpstr>Aptos</vt:lpstr>
      <vt:lpstr>Aptos Display</vt:lpstr>
      <vt:lpstr>Arial</vt:lpstr>
      <vt:lpstr>Arial,Sans-Serif</vt:lpstr>
      <vt:lpstr>Avenir Next LT Pro Light</vt:lpstr>
      <vt:lpstr>Calibri</vt:lpstr>
      <vt:lpstr>Calisto MT</vt:lpstr>
      <vt:lpstr>Georgia</vt:lpstr>
      <vt:lpstr>Times New Roman</vt:lpstr>
      <vt:lpstr>Wingdings</vt:lpstr>
      <vt:lpstr>Wingdings,Sans-Serif</vt:lpstr>
      <vt:lpstr>AlignmentVTI</vt:lpstr>
      <vt:lpstr>office theme</vt:lpstr>
      <vt:lpstr>PowerPoint Presentation</vt:lpstr>
      <vt:lpstr>Introduction </vt:lpstr>
      <vt:lpstr>Introduction(Contd)</vt:lpstr>
      <vt:lpstr>Problem Definition</vt:lpstr>
      <vt:lpstr>Objectives</vt:lpstr>
      <vt:lpstr>PowerPoint Presentation</vt:lpstr>
      <vt:lpstr>Research Gap</vt:lpstr>
      <vt:lpstr>Research Contributions</vt:lpstr>
      <vt:lpstr>Dataset Description</vt:lpstr>
      <vt:lpstr>Dataset Description(Contd)</vt:lpstr>
      <vt:lpstr>Dataset Description(Contd)</vt:lpstr>
      <vt:lpstr>Design/Architecture </vt:lpstr>
      <vt:lpstr>Methodology/Proposed Method</vt:lpstr>
      <vt:lpstr>Methodology/Proposed Method(Cont)</vt:lpstr>
      <vt:lpstr>Methodology/Proposed Method(Cont)</vt:lpstr>
      <vt:lpstr>Methodology/Proposed Method(Cont)</vt:lpstr>
      <vt:lpstr>Methodology/Proposed Method(Cont)</vt:lpstr>
      <vt:lpstr>Methodology/Proposed Method(Cont)</vt:lpstr>
      <vt:lpstr>Evaluation Metrics</vt:lpstr>
      <vt:lpstr>Result Analysis</vt:lpstr>
      <vt:lpstr>Result Analysis</vt:lpstr>
      <vt:lpstr>Result Analysis</vt:lpstr>
      <vt:lpstr>Result Analysis</vt:lpstr>
      <vt:lpstr>PowerPoint Presentation</vt:lpstr>
      <vt:lpstr>PowerPoint Presentation</vt:lpstr>
      <vt:lpstr>Conclusion</vt:lpstr>
      <vt:lpstr>Future Work</vt:lpstr>
      <vt:lpstr>Reference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Sunitha EV</dc:creator>
  <cp:lastModifiedBy>Surya Gayathri S</cp:lastModifiedBy>
  <cp:revision>2379</cp:revision>
  <dcterms:created xsi:type="dcterms:W3CDTF">2025-02-06T04:27:38Z</dcterms:created>
  <dcterms:modified xsi:type="dcterms:W3CDTF">2026-06-19T11:55:58Z</dcterms:modified>
</cp:coreProperties>
</file>